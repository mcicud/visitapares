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7" r:id="rId4"/>
    <p:sldId id="273" r:id="rId5"/>
    <p:sldId id="271" r:id="rId6"/>
    <p:sldId id="269" r:id="rId7"/>
    <p:sldId id="270" r:id="rId8"/>
    <p:sldId id="272" r:id="rId9"/>
    <p:sldId id="259" r:id="rId10"/>
    <p:sldId id="263" r:id="rId11"/>
    <p:sldId id="264" r:id="rId12"/>
    <p:sldId id="276" r:id="rId13"/>
    <p:sldId id="274" r:id="rId14"/>
    <p:sldId id="275" r:id="rId15"/>
    <p:sldId id="266" r:id="rId16"/>
    <p:sldId id="258" r:id="rId17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17T19:35:11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MITE DE CURRICULO Y CALIDAD POSGRADOS" userId="S::curriculoposing@udistrital.edu.co::88f03b0b-9c84-4742-8f04-55a454e9b74d" providerId="AD" clId="Web-{00000000-0000-0000-0000-000000000000}"/>
    <pc:docChg chg="addSld delSld">
      <pc:chgData name="COMITE DE CURRICULO Y CALIDAD POSGRADOS" userId="S::curriculoposing@udistrital.edu.co::88f03b0b-9c84-4742-8f04-55a454e9b74d" providerId="AD" clId="Web-{00000000-0000-0000-0000-000000000000}" dt="2026-09-17T19:35:11.959" v="1"/>
      <pc:docMkLst>
        <pc:docMk/>
      </pc:docMkLst>
      <pc:sldChg chg="new del">
        <pc:chgData name="COMITE DE CURRICULO Y CALIDAD POSGRADOS" userId="S::curriculoposing@udistrital.edu.co::88f03b0b-9c84-4742-8f04-55a454e9b74d" providerId="AD" clId="Web-{00000000-0000-0000-0000-000000000000}" dt="2026-09-17T19:35:11.959" v="1"/>
        <pc:sldMkLst>
          <pc:docMk/>
          <pc:sldMk cId="391497465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D05392-5025-4413-9732-A82E7D36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3716E-6592-4AA0-8DED-3833D1BF4866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5C3689-11DD-4934-905C-073D6134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45FAFE-CC21-4353-94CC-56D3643D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FB799-A230-4A1A-AB6F-E7750A477D34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593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6DE45-1468-4738-BC79-465E1E49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15785-88B7-46A0-BCB5-7A7D7DB83AA3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4C990-6E31-4AA1-82BA-D91FBC1F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4E51C8-BBA2-4CEA-8613-F5AB220C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02A48-41C5-423A-9F8B-16CA597ADB4C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59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0F4A75-A2CC-4ADD-B1A2-1C3903FD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DBE62-5E30-45BA-94BE-3D32B16660AF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33399-AA5F-4C5F-9083-2549487A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21C5C4-CA12-4230-955E-E6147BE3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52C6B-7276-4001-8C7C-B00A9F8C361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048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9159660E-C6F2-40BB-A3C9-600FFD22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3C252-44CA-4526-9752-D4D6C13C1CC5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D5AE7AF7-755D-41BE-AC26-7BCC07EE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ADF3315-B0B7-4083-9066-A18332BE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69902-8C17-4169-A653-85377DE92F75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340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440D7071-2C14-425C-8179-FB507041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67200-0A3C-4EC1-AC8D-2E0DAD6C3217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73E29301-C1CC-47FA-ACE3-0275972E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329AB23F-775B-42A6-ABA8-F971C8DB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93F2C-0A81-4351-B235-9A1D12314E5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795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84FFA9DD-C14F-4E60-B089-6D3853F0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153F-97A4-4740-BEE2-1532EEEAF5B9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E1A69C19-5E09-4576-BD08-365A7047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FBC664B9-C1C9-4009-9CEC-F1351B82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166B7-8829-40C7-913C-7A7041ADA25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22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34ACD335-4AA6-4CFF-978F-9014E2A1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F428E-5F23-41B9-9C40-3C9AB824CC89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DF132900-F588-435A-B3FC-1796D1E3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CB4405E8-9BBF-4112-9BF4-F9203A69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533F8-CC41-466A-9175-11205AFF1C08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94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82DC2AA2-0CA8-4358-893F-C2B2BC21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D0117-FDEB-41BA-8D63-092E3382F6AA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8B5B6F0F-10D3-45A1-838B-BC54F822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6D06576-820A-4E4A-8760-66BB5A37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73F05-7792-441A-A126-24D8676712D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50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66F33283-29EC-420C-9502-D78DCBBF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954DC-0176-4844-8F1B-E7A72C3E9BAB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1E8C19D3-287B-45B6-8B0A-BC0593CD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FF2F79E-9005-4CDB-8A1A-51C11A21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623BB-E7B7-46CF-AB4A-4C61A10471B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44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5B42E-FE36-491E-A0EE-6AD33627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7121A-A8BC-4FCF-807E-9EB8AD512315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900302-3B61-4B71-B91D-39012A8B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BC183-870A-4D8B-B961-45E9F24F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F4B78-FB30-40B9-85F3-73CA3F015808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7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4A5B5A-031B-4F93-A87C-DEC52483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402E8-199B-447B-A685-0BC3069ACDCB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3872CD-ABDE-498F-98DF-B5575830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6180C1-56CF-4A3C-BB9A-82FCF7D7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BA5B4-4C87-4044-94DE-000511C72A4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493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F297A415-09CD-49F8-BF32-AA6A38718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09D101C7-D9C0-4BBB-8012-E0453D61A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FEC85C-3DE6-4757-853D-4AA9F1F2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D95B815-4717-4C2B-A0D1-654A9ABC9B64}" type="datetimeFigureOut">
              <a:rPr lang="es-CO"/>
              <a:pPr>
                <a:defRPr/>
              </a:pPr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37C88C-2534-49C0-BDA3-5A94D215A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9249D7-D916-4B3F-B61C-F63E5B630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5D67DD-50F5-4A60-892E-30D7D5204D02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1137ED6-DC1E-4148-BA89-9A42A58EA4D9}"/>
              </a:ext>
            </a:extLst>
          </p:cNvPr>
          <p:cNvSpPr txBox="1"/>
          <p:nvPr/>
        </p:nvSpPr>
        <p:spPr>
          <a:xfrm>
            <a:off x="6294437" y="2228671"/>
            <a:ext cx="3765550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dirty="0">
                <a:latin typeface="+mj-lt"/>
                <a:cs typeface="Times New Roman" panose="02020603050405020304" pitchFamily="18" charset="0"/>
              </a:rPr>
              <a:t>INVESTIGACIÓN, INNOVACIÓN, DESARROLLO TECNÓLOGICO Y CREACIÓN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16DA71-A7E2-48F4-BD62-63070F58323C}"/>
              </a:ext>
            </a:extLst>
          </p:cNvPr>
          <p:cNvSpPr txBox="1"/>
          <p:nvPr/>
        </p:nvSpPr>
        <p:spPr>
          <a:xfrm>
            <a:off x="6294437" y="3585369"/>
            <a:ext cx="3765550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CO" dirty="0">
                <a:latin typeface="+mj-lt"/>
                <a:cs typeface="Times New Roman" panose="02020603050405020304" pitchFamily="18" charset="0"/>
              </a:rPr>
              <a:t>Proceso de acreditación de alta calidad.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760054-117D-4371-A817-A7B8FF4A9D15}"/>
              </a:ext>
            </a:extLst>
          </p:cNvPr>
          <p:cNvSpPr txBox="1"/>
          <p:nvPr/>
        </p:nvSpPr>
        <p:spPr>
          <a:xfrm>
            <a:off x="6294437" y="4784448"/>
            <a:ext cx="3765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Instituto de Investigación e Innovación en Ingeniería  i3+</a:t>
            </a:r>
          </a:p>
        </p:txBody>
      </p:sp>
      <p:pic>
        <p:nvPicPr>
          <p:cNvPr id="5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8CFF6F7E-CDA0-47BA-B76D-C0EC4E04BC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31704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CB78-DD14-7417-7B0C-BBB4ED9C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BC052EA7-9928-4423-992D-ED75004BBA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31704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8520A5-27FC-4CF2-B70C-802BBB717DD4}"/>
              </a:ext>
            </a:extLst>
          </p:cNvPr>
          <p:cNvSpPr txBox="1"/>
          <p:nvPr/>
        </p:nvSpPr>
        <p:spPr>
          <a:xfrm>
            <a:off x="5366382" y="641630"/>
            <a:ext cx="2970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¿ QUÉ ES EL INSTITUTO I3+?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C3B939-7B1A-4427-9E08-FC02F5859C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34671" y="1465729"/>
            <a:ext cx="9130553" cy="45659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3CF0A0C-D5ED-4E5E-98A3-AFC92CFC04D9}"/>
              </a:ext>
            </a:extLst>
          </p:cNvPr>
          <p:cNvSpPr txBox="1"/>
          <p:nvPr/>
        </p:nvSpPr>
        <p:spPr>
          <a:xfrm>
            <a:off x="4518212" y="2413337"/>
            <a:ext cx="58629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El Instituto de Investigación e Innovación en Ingeniería -I3+, es una unidad académica ejecutora, adscrita al Centro de Investigaciones y Desarrollo Científico o quien haga sus veces, que involucra a los grupos de investigación y los programas de Maestría y Doctorado para realizar programas y proyectos de investigación e innovación en Ingeniería, así como transferencia de resultados de investigación.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999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619A-A837-8303-F1B2-A6E51761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E0967E1-3D91-964B-D4D8-935110D19020}"/>
              </a:ext>
            </a:extLst>
          </p:cNvPr>
          <p:cNvSpPr txBox="1"/>
          <p:nvPr/>
        </p:nvSpPr>
        <p:spPr>
          <a:xfrm>
            <a:off x="2330388" y="494982"/>
            <a:ext cx="8825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ym typeface="Open Sans"/>
              </a:rPr>
              <a:t>Somos I3+ la unidad Académica adscrita al Centro de Investigaciones y Desarrollo Científico de la UDFJC para la creación, ejecución de programas y proyectos de Investigación.</a:t>
            </a:r>
            <a:endParaRPr lang="es-ES" b="1" dirty="0"/>
          </a:p>
          <a:p>
            <a:endParaRPr lang="es-CO" b="1" dirty="0"/>
          </a:p>
        </p:txBody>
      </p:sp>
      <p:pic>
        <p:nvPicPr>
          <p:cNvPr id="6" name="Google Shape;236;p4">
            <a:extLst>
              <a:ext uri="{FF2B5EF4-FFF2-40B4-BE49-F238E27FC236}">
                <a16:creationId xmlns:a16="http://schemas.microsoft.com/office/drawing/2014/main" id="{ABE41B00-B504-8E4D-6190-A35DCB6371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69751" y="1563855"/>
            <a:ext cx="8268100" cy="45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39;p4">
            <a:extLst>
              <a:ext uri="{FF2B5EF4-FFF2-40B4-BE49-F238E27FC236}">
                <a16:creationId xmlns:a16="http://schemas.microsoft.com/office/drawing/2014/main" id="{4B678D54-092F-9B44-63CA-F94AEDD26712}"/>
              </a:ext>
            </a:extLst>
          </p:cNvPr>
          <p:cNvSpPr txBox="1"/>
          <p:nvPr/>
        </p:nvSpPr>
        <p:spPr>
          <a:xfrm>
            <a:off x="8635859" y="1543332"/>
            <a:ext cx="1901992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s-CO" sz="3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Visión</a:t>
            </a:r>
            <a:endParaRPr sz="3200" dirty="0"/>
          </a:p>
        </p:txBody>
      </p:sp>
      <p:sp>
        <p:nvSpPr>
          <p:cNvPr id="10" name="Google Shape;237;p4">
            <a:extLst>
              <a:ext uri="{FF2B5EF4-FFF2-40B4-BE49-F238E27FC236}">
                <a16:creationId xmlns:a16="http://schemas.microsoft.com/office/drawing/2014/main" id="{F7628370-D3F2-A59E-60B3-C65AA2A87FB1}"/>
              </a:ext>
            </a:extLst>
          </p:cNvPr>
          <p:cNvSpPr txBox="1"/>
          <p:nvPr/>
        </p:nvSpPr>
        <p:spPr>
          <a:xfrm>
            <a:off x="1993134" y="5518032"/>
            <a:ext cx="2407140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s-CO" sz="3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Misión</a:t>
            </a:r>
            <a:endParaRPr sz="3200" dirty="0"/>
          </a:p>
        </p:txBody>
      </p:sp>
      <p:pic>
        <p:nvPicPr>
          <p:cNvPr id="12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BE5B7227-F327-4017-2FB7-075CDDB159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5665567" y="3195433"/>
            <a:ext cx="1492527" cy="130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40;p4">
            <a:extLst>
              <a:ext uri="{FF2B5EF4-FFF2-40B4-BE49-F238E27FC236}">
                <a16:creationId xmlns:a16="http://schemas.microsoft.com/office/drawing/2014/main" id="{7AB6A192-BA42-20C1-5E08-DB504B7DA83C}"/>
              </a:ext>
            </a:extLst>
          </p:cNvPr>
          <p:cNvSpPr txBox="1"/>
          <p:nvPr/>
        </p:nvSpPr>
        <p:spPr>
          <a:xfrm>
            <a:off x="803887" y="2572392"/>
            <a:ext cx="4211987" cy="20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es-CO" b="1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Propender</a:t>
            </a:r>
            <a:r>
              <a:rPr lang="es-CO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 por la </a:t>
            </a:r>
            <a:r>
              <a:rPr lang="es-CO" b="1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transformación</a:t>
            </a:r>
            <a:r>
              <a:rPr lang="es-CO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 social, cultural, </a:t>
            </a:r>
            <a:r>
              <a:rPr lang="es-CO" b="1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científica</a:t>
            </a:r>
            <a:r>
              <a:rPr lang="es-CO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 y </a:t>
            </a:r>
            <a:r>
              <a:rPr lang="es-CO" b="1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tecnológica</a:t>
            </a:r>
            <a:r>
              <a:rPr lang="es-CO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 de la ciudad, región, país mediante el desarrollo de procesos de innovación e investigación orientadas al mejoramiento de la calidad de vida de la población y al fortalecimiento de la competitividad</a:t>
            </a:r>
            <a:endParaRPr dirty="0">
              <a:solidFill>
                <a:schemeClr val="tx1"/>
              </a:solidFill>
              <a:latin typeface="+mn-lt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6" name="Google Shape;241;p4">
            <a:extLst>
              <a:ext uri="{FF2B5EF4-FFF2-40B4-BE49-F238E27FC236}">
                <a16:creationId xmlns:a16="http://schemas.microsoft.com/office/drawing/2014/main" id="{14ECC07C-7065-FFDF-5530-6553AFABE711}"/>
              </a:ext>
            </a:extLst>
          </p:cNvPr>
          <p:cNvSpPr txBox="1"/>
          <p:nvPr/>
        </p:nvSpPr>
        <p:spPr>
          <a:xfrm>
            <a:off x="7791727" y="2572392"/>
            <a:ext cx="3936148" cy="317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es-CO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En el marco del plan estratégico de desarrollo de la Universidad Distrital Francisco José de Caldas 2018-2030, el Instituto de Investigación e Innovación en Ingeniería I3+, estará consolidado en su estructura administrativa, financiera y tecnológica, siendo referente en </a:t>
            </a:r>
            <a:r>
              <a:rPr lang="es-CO" b="1" dirty="0">
                <a:solidFill>
                  <a:schemeClr val="tx1"/>
                </a:solidFill>
                <a:latin typeface="+mn-lt"/>
                <a:ea typeface="Lato" panose="020B0604020202020204" charset="0"/>
                <a:cs typeface="Lato" panose="020B0604020202020204" charset="0"/>
                <a:sym typeface="Open Sans"/>
              </a:rPr>
              <a:t>procesos de transformación social, cultural, científica y tecnológica de la ciudad, región y del país</a:t>
            </a:r>
            <a:endParaRPr b="1" dirty="0">
              <a:solidFill>
                <a:schemeClr val="tx1"/>
              </a:solidFill>
              <a:latin typeface="+mn-lt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9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B5B6B062-E071-4476-BE76-696872A82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31704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5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C600-6A2E-D405-E5FC-421CF14D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75CD74-380C-719B-695A-A1526E32265E}"/>
              </a:ext>
            </a:extLst>
          </p:cNvPr>
          <p:cNvSpPr txBox="1"/>
          <p:nvPr/>
        </p:nvSpPr>
        <p:spPr>
          <a:xfrm>
            <a:off x="3725839" y="544981"/>
            <a:ext cx="574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CLASIFICACIÓN POR CATEGORÍA DE LOS PROYECTOS</a:t>
            </a:r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72EE7FD2-65F3-804D-6434-1DA631D91D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33281C-F681-B472-1B03-F8E4C19C9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85" y="1009211"/>
            <a:ext cx="8465412" cy="55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6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F52E-BE1E-12D7-DD93-DE5585A0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E204FD7-3114-9398-F3E9-0D4A63221641}"/>
              </a:ext>
            </a:extLst>
          </p:cNvPr>
          <p:cNvSpPr txBox="1"/>
          <p:nvPr/>
        </p:nvSpPr>
        <p:spPr>
          <a:xfrm>
            <a:off x="3725839" y="544981"/>
            <a:ext cx="5745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LO QUE EL ESTUDIANTE DE MAESTRÍA DEBE CUMPLIR Y PRODUCIR</a:t>
            </a:r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3C2716EA-25DF-A821-9B62-99FE43339F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40D8AD-8DEC-60CD-984D-B744B6D80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283" y="1334921"/>
            <a:ext cx="8691433" cy="497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3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B586-0DB7-327C-FF5D-7FF5266D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1833124-FD6C-7AAE-DC72-09B008154114}"/>
              </a:ext>
            </a:extLst>
          </p:cNvPr>
          <p:cNvSpPr txBox="1"/>
          <p:nvPr/>
        </p:nvSpPr>
        <p:spPr>
          <a:xfrm>
            <a:off x="3725839" y="544981"/>
            <a:ext cx="574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TALENTO HUMANO CONVOCATORIA</a:t>
            </a:r>
            <a:endParaRPr lang="es-CO" b="1" dirty="0"/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4ABA09B7-909D-438F-AD29-BD6F7D1A1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3B34AC1-B540-AC31-5B60-9E0538ED904A}"/>
              </a:ext>
            </a:extLst>
          </p:cNvPr>
          <p:cNvSpPr txBox="1"/>
          <p:nvPr/>
        </p:nvSpPr>
        <p:spPr>
          <a:xfrm>
            <a:off x="1876927" y="1049154"/>
            <a:ext cx="9586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Los términos de referencia del SGR – CTeI, fijan un equipo mínimo de talento humano por proyecto, con cupos nominados para maestría, entre otros, y financian esa vinculación con cargo al presupuesto del proyecto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5AED66A-3A60-FA44-144D-57F3B50AC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23" y="2107325"/>
            <a:ext cx="7459753" cy="430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4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6C70E41-3E58-4E82-8E9F-FC4307B3AAB9}"/>
              </a:ext>
            </a:extLst>
          </p:cNvPr>
          <p:cNvSpPr txBox="1"/>
          <p:nvPr/>
        </p:nvSpPr>
        <p:spPr>
          <a:xfrm>
            <a:off x="3725839" y="544981"/>
            <a:ext cx="574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ESTADO DE PROYECTOS</a:t>
            </a:r>
            <a:endParaRPr lang="es-CO" b="1" dirty="0"/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9617AD4D-4857-4F89-9EF6-B3DBAE836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EB7ECA-6487-7AE2-1423-DC43C54A4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018" y="1404109"/>
            <a:ext cx="9097964" cy="4515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DF65-C410-9145-0328-694AD61B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B804DA9-11CE-AC65-A5B9-7FC968B4F10E}"/>
              </a:ext>
            </a:extLst>
          </p:cNvPr>
          <p:cNvSpPr txBox="1"/>
          <p:nvPr/>
        </p:nvSpPr>
        <p:spPr>
          <a:xfrm>
            <a:off x="3725839" y="544981"/>
            <a:ext cx="574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CUPOS QUE ESTÁN EN JUEGO A HOY (MAESTRÍAS)</a:t>
            </a:r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101EDD9E-3373-009E-E0AA-DDE9C0D96A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C9EE41A-8E47-2587-550A-573CFB777169}"/>
              </a:ext>
            </a:extLst>
          </p:cNvPr>
          <p:cNvSpPr txBox="1"/>
          <p:nvPr/>
        </p:nvSpPr>
        <p:spPr>
          <a:xfrm>
            <a:off x="1876926" y="1280160"/>
            <a:ext cx="943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De los diez proyectos radicados que conservan posibilidad de aprobación, seis corresponden a convocatorias de </a:t>
            </a:r>
            <a:r>
              <a:rPr lang="es-CO" dirty="0" err="1"/>
              <a:t>MinCiencias</a:t>
            </a:r>
            <a:r>
              <a:rPr lang="es-CO" dirty="0"/>
              <a:t> con exigencia expresa de vinculación de talento humano de posgrado: dos de la Convocatoria 40, dos de la Convocatoria 47, dos de la Convocatoria 49 y uno de la Convocatoria 50. Los cuatro restantes son proyectos de restauración participativa de </a:t>
            </a:r>
            <a:r>
              <a:rPr lang="es-CO" dirty="0" err="1"/>
              <a:t>MinAmbiente</a:t>
            </a:r>
            <a:r>
              <a:rPr lang="es-CO" dirty="0"/>
              <a:t>, cuyos términos no fijan cupos de maestría. Aplicando los mínimos exigidos por los términos de referencia a esos seis proyectos:</a:t>
            </a:r>
          </a:p>
          <a:p>
            <a:pPr algn="just"/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760E66-4C9B-AB2B-D8A2-CF9612F88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785" y="3063240"/>
            <a:ext cx="9349556" cy="271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5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97C8A65-2D84-4749-B916-A34FD8612203}"/>
              </a:ext>
            </a:extLst>
          </p:cNvPr>
          <p:cNvSpPr txBox="1"/>
          <p:nvPr/>
        </p:nvSpPr>
        <p:spPr>
          <a:xfrm>
            <a:off x="3553580" y="470083"/>
            <a:ext cx="609399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DEL PORTAFOLIO INSTITUCIONAL 2024–2026-I</a:t>
            </a:r>
            <a:endParaRPr lang="es-CO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EC73D53-6073-4D8D-9282-D46AE4321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22412"/>
              </p:ext>
            </p:extLst>
          </p:nvPr>
        </p:nvGraphicFramePr>
        <p:xfrm>
          <a:off x="2749216" y="2018490"/>
          <a:ext cx="6693568" cy="3566160"/>
        </p:xfrm>
        <a:graphic>
          <a:graphicData uri="http://schemas.openxmlformats.org/drawingml/2006/table">
            <a:tbl>
              <a:tblPr/>
              <a:tblGrid>
                <a:gridCol w="3346784">
                  <a:extLst>
                    <a:ext uri="{9D8B030D-6E8A-4147-A177-3AD203B41FA5}">
                      <a16:colId xmlns:a16="http://schemas.microsoft.com/office/drawing/2014/main" val="1447273741"/>
                    </a:ext>
                  </a:extLst>
                </a:gridCol>
                <a:gridCol w="3346784">
                  <a:extLst>
                    <a:ext uri="{9D8B030D-6E8A-4147-A177-3AD203B41FA5}">
                      <a16:colId xmlns:a16="http://schemas.microsoft.com/office/drawing/2014/main" val="3515889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effectLst/>
                        </a:rPr>
                        <a:t>Indicador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b="1" dirty="0">
                          <a:effectLst/>
                        </a:rPr>
                        <a:t>Resultado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23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Proyectos formulados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025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Proyectos en ejecución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8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>
                          <a:effectLst/>
                        </a:rPr>
                        <a:t>Proyectos en evaluación o espera de resultados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33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Proyectos no aprobados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69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Total del portafolio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06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Convocatorias atendidas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11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Alianzas estratégicas activas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695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</a:rPr>
                        <a:t>Recursos potenciales gestionados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dirty="0">
                          <a:effectLst/>
                        </a:rPr>
                        <a:t>$522.826.000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42420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5407019-8372-4F50-BC4F-DC09CE31088E}"/>
              </a:ext>
            </a:extLst>
          </p:cNvPr>
          <p:cNvSpPr txBox="1"/>
          <p:nvPr/>
        </p:nvSpPr>
        <p:spPr>
          <a:xfrm>
            <a:off x="2749216" y="6080140"/>
            <a:ext cx="7050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El Instituto consolida una alta capacidad de formulación y gestión de iniciativas de gran escala.</a:t>
            </a:r>
            <a:endParaRPr lang="es-CO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068E185D-6B38-4B8E-8FBD-1363A41456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B5F0DFC-493B-4FE6-A475-8ADB918862C2}"/>
              </a:ext>
            </a:extLst>
          </p:cNvPr>
          <p:cNvSpPr txBox="1"/>
          <p:nvPr/>
        </p:nvSpPr>
        <p:spPr>
          <a:xfrm>
            <a:off x="3753134" y="177311"/>
            <a:ext cx="6523630" cy="1167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s-CO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TERRITORIAL Y PARTICIPACIÓN ACADÉMICA</a:t>
            </a:r>
            <a:endParaRPr lang="es-CO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93478-FAAE-47BC-85CA-1F9BEDCF8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295" y="1744159"/>
            <a:ext cx="908940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Presencia en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26 departamentos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y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6 regiones estratégicas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del país.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34 coberturas territoriales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en el portafolio.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Proyección de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90.088 beneficiarios directos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en iniciativas en ejecución y evaluación.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Participación 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49 profesores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69 estudiantes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20 grupos de investigación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E4F674-C337-4B40-BEA9-76C84DBDAF1D}"/>
              </a:ext>
            </a:extLst>
          </p:cNvPr>
          <p:cNvSpPr txBox="1"/>
          <p:nvPr/>
        </p:nvSpPr>
        <p:spPr>
          <a:xfrm>
            <a:off x="1715067" y="5960193"/>
            <a:ext cx="9203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La investigación se proyecta más allá del aula, con incidencia territorial y participación activa de la comunidad académica.</a:t>
            </a:r>
            <a:endParaRPr lang="es-CO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7AB01EA6-FBBD-4470-8FEB-5712E9A11A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64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B4C51F-C963-40DB-9500-D8C5B7B0E2A1}"/>
              </a:ext>
            </a:extLst>
          </p:cNvPr>
          <p:cNvSpPr txBox="1"/>
          <p:nvPr/>
        </p:nvSpPr>
        <p:spPr>
          <a:xfrm>
            <a:off x="3070746" y="460820"/>
            <a:ext cx="734249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EJEMPLOS DE INNOVACIÓN, DESARROLLO TECNOLÓGICO Y CREACIÓN</a:t>
            </a:r>
            <a:endParaRPr lang="es-CO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CFD570-B592-4B27-9536-A558CB9C814E}"/>
              </a:ext>
            </a:extLst>
          </p:cNvPr>
          <p:cNvSpPr txBox="1"/>
          <p:nvPr/>
        </p:nvSpPr>
        <p:spPr>
          <a:xfrm>
            <a:off x="1801505" y="1231507"/>
            <a:ext cx="9539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 continuación se mencionan algunos proyectos del I3+, relacionados con tecnologías e información:</a:t>
            </a:r>
            <a:endParaRPr lang="es-CO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90BFCBE-DE7E-4D9D-90E2-A8C69F6FE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266" y="2086585"/>
            <a:ext cx="10153935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Proyecto Salud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Optimización del diagnóstico y manejo de diabetes mediante modelos avanzados de datos y biomarcadores digitales.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Financiación: </a:t>
            </a:r>
            <a:r>
              <a:rPr lang="es-CO" altLang="es-CO" sz="1700" b="1" dirty="0"/>
              <a:t>$</a:t>
            </a:r>
            <a:r>
              <a:rPr kumimoji="0" lang="es-CO" altLang="es-CO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7.999.954.182 </a:t>
            </a:r>
            <a:r>
              <a:rPr lang="es-CO" altLang="es-CO" sz="17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7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Proyecto Cauca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Validación comercial de un prototipo de descarbonización con tecnologías </a:t>
            </a:r>
            <a:r>
              <a:rPr kumimoji="0" lang="es-CO" altLang="es-C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blockchain</a:t>
            </a: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para la protección de ecosistemas estratégicos del sector agropecuario.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Financiación: </a:t>
            </a:r>
            <a:r>
              <a:rPr kumimoji="0" lang="es-CO" altLang="es-CO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$6.529.993.115 </a:t>
            </a: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57F91FB1-8A6A-4605-B48E-1157DBD8F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341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B4C51F-C963-40DB-9500-D8C5B7B0E2A1}"/>
              </a:ext>
            </a:extLst>
          </p:cNvPr>
          <p:cNvSpPr txBox="1"/>
          <p:nvPr/>
        </p:nvSpPr>
        <p:spPr>
          <a:xfrm>
            <a:off x="5813947" y="477932"/>
            <a:ext cx="172985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b="1" kern="100" dirty="0">
                <a:ea typeface="Calibri" panose="020F0502020204030204" pitchFamily="34" charset="0"/>
                <a:cs typeface="Calibri" panose="020F0502020204030204" pitchFamily="34" charset="0"/>
              </a:rPr>
              <a:t>PUBLICACIONES</a:t>
            </a:r>
            <a:endParaRPr lang="es-CO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CFD570-B592-4B27-9536-A558CB9C814E}"/>
              </a:ext>
            </a:extLst>
          </p:cNvPr>
          <p:cNvSpPr txBox="1"/>
          <p:nvPr/>
        </p:nvSpPr>
        <p:spPr>
          <a:xfrm>
            <a:off x="1801505" y="1231507"/>
            <a:ext cx="9539785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" algn="just">
              <a:lnSpc>
                <a:spcPct val="115000"/>
              </a:lnSpc>
              <a:spcAft>
                <a:spcPts val="800"/>
              </a:spcAft>
            </a:pPr>
            <a:r>
              <a:rPr lang="es-CO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La producción científica comprende los artículos de investigación categoría A1 correspondientes a sus proyectos, postulados a revistas científicas indexadas:</a:t>
            </a:r>
            <a:endParaRPr lang="es-CO" dirty="0">
              <a:effectLst/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90BFCBE-DE7E-4D9D-90E2-A8C69F6FE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266" y="3917855"/>
            <a:ext cx="10153935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</a:t>
            </a:r>
            <a:endParaRPr kumimoji="0" lang="es-CO" altLang="es-C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57F91FB1-8A6A-4605-B48E-1157DBD8F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1E26454-F9D3-40B9-8C2E-1B7480E2216E}"/>
              </a:ext>
            </a:extLst>
          </p:cNvPr>
          <p:cNvSpPr txBox="1"/>
          <p:nvPr/>
        </p:nvSpPr>
        <p:spPr>
          <a:xfrm>
            <a:off x="1801505" y="5333164"/>
            <a:ext cx="9514695" cy="703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" algn="just">
              <a:lnSpc>
                <a:spcPct val="115000"/>
              </a:lnSpc>
              <a:spcAft>
                <a:spcPts val="800"/>
              </a:spcAft>
            </a:pPr>
            <a:r>
              <a:rPr lang="es-CO" sz="18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Se produjo, además, la cartilla de autocuidado que integra catorce </a:t>
            </a:r>
            <a:r>
              <a:rPr lang="es-CO" sz="18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nanocursos</a:t>
            </a:r>
            <a:r>
              <a:rPr lang="es-CO" sz="18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en versiones impresa y digital, distribuida en los municipios de Honda y Guacarí.</a:t>
            </a:r>
            <a:endParaRPr lang="es-CO" sz="1800" dirty="0">
              <a:effectLst/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421FB79-71BF-45FF-85A9-C4962FA6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433343"/>
              </p:ext>
            </p:extLst>
          </p:nvPr>
        </p:nvGraphicFramePr>
        <p:xfrm>
          <a:off x="3073812" y="2149262"/>
          <a:ext cx="6734252" cy="2911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8459">
                  <a:extLst>
                    <a:ext uri="{9D8B030D-6E8A-4147-A177-3AD203B41FA5}">
                      <a16:colId xmlns:a16="http://schemas.microsoft.com/office/drawing/2014/main" val="2252721346"/>
                    </a:ext>
                  </a:extLst>
                </a:gridCol>
                <a:gridCol w="1452282">
                  <a:extLst>
                    <a:ext uri="{9D8B030D-6E8A-4147-A177-3AD203B41FA5}">
                      <a16:colId xmlns:a16="http://schemas.microsoft.com/office/drawing/2014/main" val="1680875265"/>
                    </a:ext>
                  </a:extLst>
                </a:gridCol>
                <a:gridCol w="794698">
                  <a:extLst>
                    <a:ext uri="{9D8B030D-6E8A-4147-A177-3AD203B41FA5}">
                      <a16:colId xmlns:a16="http://schemas.microsoft.com/office/drawing/2014/main" val="706170396"/>
                    </a:ext>
                  </a:extLst>
                </a:gridCol>
                <a:gridCol w="2168813">
                  <a:extLst>
                    <a:ext uri="{9D8B030D-6E8A-4147-A177-3AD203B41FA5}">
                      <a16:colId xmlns:a16="http://schemas.microsoft.com/office/drawing/2014/main" val="1765190902"/>
                    </a:ext>
                  </a:extLst>
                </a:gridCol>
              </a:tblGrid>
              <a:tr h="1266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</a:rPr>
                        <a:t>Artículo</a:t>
                      </a:r>
                      <a:endParaRPr lang="es-CO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</a:rPr>
                        <a:t>Revista</a:t>
                      </a:r>
                      <a:endParaRPr lang="es-CO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</a:rPr>
                        <a:t>Proyecto</a:t>
                      </a:r>
                      <a:endParaRPr lang="es-CO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</a:rPr>
                        <a:t>Estado</a:t>
                      </a:r>
                      <a:endParaRPr lang="es-CO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025632"/>
                  </a:ext>
                </a:extLst>
              </a:tr>
              <a:tr h="77909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Barriers to Participation and Self-Care in Patients with Type 2 Diabetes Regarding Monitoring and Digital Health Technologies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Journal of Intelligent Decision Making and Information Science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solidFill>
                            <a:schemeClr val="tx1"/>
                          </a:solidFill>
                          <a:effectLst/>
                        </a:rPr>
                        <a:t>111628</a:t>
                      </a:r>
                      <a:endParaRPr lang="es-CO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solidFill>
                            <a:schemeClr val="tx1"/>
                          </a:solidFill>
                          <a:effectLst/>
                        </a:rPr>
                        <a:t>Aceptado para publicación</a:t>
                      </a:r>
                      <a:endParaRPr lang="es-CO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577017"/>
                  </a:ext>
                </a:extLst>
              </a:tr>
              <a:tr h="120405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Multimodal Machine Learning Prediction of Postprandial Glycemic Peaks in Adults Without Diagnosed Diabetes: A 15-Participant Feasibility Study of the </a:t>
                      </a:r>
                      <a:r>
                        <a:rPr lang="en-US" sz="11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GlucoWise</a:t>
                      </a:r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Model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Diabetes Technology and Obesity Medicine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111626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Aceptado para publicación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918232"/>
                  </a:ext>
                </a:extLst>
              </a:tr>
              <a:tr h="708268">
                <a:tc>
                  <a:txBody>
                    <a:bodyPr/>
                    <a:lstStyle/>
                    <a:p>
                      <a:pPr algn="just" rtl="0" fontAlgn="ctr"/>
                      <a:r>
                        <a:rPr lang="es-CO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Delfos: plataforma de interoperabilidad HL7-FHIR para DMT2 en zonas rurales de Colombia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Digital </a:t>
                      </a:r>
                      <a:r>
                        <a:rPr lang="es-CO" sz="11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(Sage)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111627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En proceso editorial</a:t>
                      </a:r>
                      <a:endParaRPr lang="es-CO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45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19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0243-F842-16C2-6533-144541BB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3761A96-0859-BFCF-63D7-DE59AF61EA43}"/>
              </a:ext>
            </a:extLst>
          </p:cNvPr>
          <p:cNvSpPr txBox="1"/>
          <p:nvPr/>
        </p:nvSpPr>
        <p:spPr>
          <a:xfrm>
            <a:off x="2541069" y="544983"/>
            <a:ext cx="799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ALIANZAS CON EL SECTOR PRODUCTIVO: EL CASO SCHNEIDER ELECTRIC</a:t>
            </a:r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8DCC132E-900F-0112-AB3D-92F78A25AB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C218FF5-5CFF-395D-BD6C-AB5C980F612E}"/>
              </a:ext>
            </a:extLst>
          </p:cNvPr>
          <p:cNvSpPr txBox="1"/>
          <p:nvPr/>
        </p:nvSpPr>
        <p:spPr>
          <a:xfrm>
            <a:off x="1896176" y="1002896"/>
            <a:ext cx="95867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La alianza con Schneider Electric muestra el recorrido completo de una cooperación universidad-empresa: se firma un acuerdo sin erogación presupuestal, se traduce en formación abierta y verificable con listas de asistencia, se proyecta en prácticas y programas globales de innovación para los estudiantes y comunidad universitaria en general, y termina alimentando la formulación de proyectos.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2C1311-4691-D388-4EC8-1F40D8693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38" y="2480225"/>
            <a:ext cx="9734799" cy="36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8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DCF3-676D-3CF0-E50F-6147E1ED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1E46400-2899-298D-93B6-AEF53922BE34}"/>
              </a:ext>
            </a:extLst>
          </p:cNvPr>
          <p:cNvSpPr txBox="1"/>
          <p:nvPr/>
        </p:nvSpPr>
        <p:spPr>
          <a:xfrm>
            <a:off x="2541069" y="544983"/>
            <a:ext cx="799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ALIANZAS CON EL SECTOR PRODUCTIVO: EL CASO SCHNEIDER ELECTRIC</a:t>
            </a:r>
          </a:p>
        </p:txBody>
      </p:sp>
      <p:pic>
        <p:nvPicPr>
          <p:cNvPr id="6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D583947C-720C-CA68-3E29-CBC182FC0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A837D74-9CE9-3BD3-98F1-1405C9B61070}"/>
              </a:ext>
            </a:extLst>
          </p:cNvPr>
          <p:cNvSpPr txBox="1"/>
          <p:nvPr/>
        </p:nvSpPr>
        <p:spPr>
          <a:xfrm>
            <a:off x="1896176" y="1002896"/>
            <a:ext cx="95867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Schneider Electric: </a:t>
            </a:r>
            <a:r>
              <a:rPr lang="es-CO" dirty="0"/>
              <a:t>desarrolla la cátedra de transformación digital con temáticas orientadas a la formación académica y profesional de los estudiantes; apoya con jornadas de laboratorio, conferencias magistrales y demás eventos académicos que proponga la Universidad; informar sobre sus programas de prácticas preprofesionales y profesionales; difundir sus programas globales de innovación, entre ellos </a:t>
            </a:r>
            <a:r>
              <a:rPr lang="es-CO" dirty="0" err="1"/>
              <a:t>GoGreen</a:t>
            </a:r>
            <a:r>
              <a:rPr lang="es-CO" dirty="0"/>
              <a:t>, para estudiantes de pregrado y posgrado; y otorgar descuentos en su oferta.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90B01F9-4DE3-FA99-2545-594723CD4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598" y="2757222"/>
            <a:ext cx="8303536" cy="356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94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1E135B3-436C-4163-B726-0082B53ACAAF}"/>
              </a:ext>
            </a:extLst>
          </p:cNvPr>
          <p:cNvSpPr txBox="1"/>
          <p:nvPr/>
        </p:nvSpPr>
        <p:spPr>
          <a:xfrm>
            <a:off x="4741460" y="569372"/>
            <a:ext cx="3419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Retos y compromiso institucional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56DDF-C342-4A1D-B5A5-04872925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164" y="1949523"/>
            <a:ext cx="992192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Incrementar la aprobación de proyectos en evaluación.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Consolidar un Banco Institucional de Proyectos con </a:t>
            </a: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iniciativas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estructuradas.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Implementar un tablero de indicadores y seguimiento.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Fortalecer la capacidad técnica y administrativa.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Formalizar </a:t>
            </a: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nuevos acuerdos o convenios de cooperación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F0CEED-002F-4CFC-8320-D678B3137811}"/>
              </a:ext>
            </a:extLst>
          </p:cNvPr>
          <p:cNvSpPr txBox="1"/>
          <p:nvPr/>
        </p:nvSpPr>
        <p:spPr>
          <a:xfrm>
            <a:off x="1285165" y="5545666"/>
            <a:ext cx="99219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El I3+ aporta a la Maestría, un entorno institucional de investigación, innovación y cooperación que fortalece la formación avanzada, la generación de conocimiento y la apropiación de soluciones tecnológicas orientadas a las necesidades del país.</a:t>
            </a:r>
            <a:endParaRPr lang="es-CO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1FDE6D3F-F9B6-49BC-B024-CB2E51F24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464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69C0BB0-36AC-445A-B53C-315CCF32069D}"/>
              </a:ext>
            </a:extLst>
          </p:cNvPr>
          <p:cNvSpPr txBox="1"/>
          <p:nvPr/>
        </p:nvSpPr>
        <p:spPr>
          <a:xfrm>
            <a:off x="109182" y="4590786"/>
            <a:ext cx="3343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1" dirty="0">
                <a:solidFill>
                  <a:srgbClr val="FF0000"/>
                </a:solidFill>
              </a:rPr>
              <a:t>¡GRACIAS!</a:t>
            </a:r>
            <a:endParaRPr lang="es-CO" sz="5400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https://i3.udistrital.edu.co/wp-content/uploads/2021/01/logotipo_footer.png">
            <a:extLst>
              <a:ext uri="{FF2B5EF4-FFF2-40B4-BE49-F238E27FC236}">
                <a16:creationId xmlns:a16="http://schemas.microsoft.com/office/drawing/2014/main" id="{2CD28345-56B2-454B-8D93-F1798D068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2"/>
          <a:stretch/>
        </p:blipFill>
        <p:spPr bwMode="auto">
          <a:xfrm>
            <a:off x="11316201" y="6004810"/>
            <a:ext cx="823348" cy="8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SENTACIONES  -  Modo de compatibilidad" id="{A26AC363-5CC9-42B4-9B1D-1CA3C1F394C1}" vid="{CD804E11-8059-44C7-A030-65C6AE2079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PLANTILLA_PRESENTACIONES</Template>
  <TotalTime>228</TotalTime>
  <Words>967</Words>
  <Application>Microsoft Office PowerPoint</Application>
  <PresentationFormat>Panorámica</PresentationFormat>
  <Paragraphs>103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Milena Cucunuba Correa</dc:creator>
  <cp:lastModifiedBy>Milena Cucunuba Correa</cp:lastModifiedBy>
  <cp:revision>30</cp:revision>
  <dcterms:created xsi:type="dcterms:W3CDTF">2026-08-04T15:20:50Z</dcterms:created>
  <dcterms:modified xsi:type="dcterms:W3CDTF">2026-09-17T19:35:15Z</dcterms:modified>
</cp:coreProperties>
</file>