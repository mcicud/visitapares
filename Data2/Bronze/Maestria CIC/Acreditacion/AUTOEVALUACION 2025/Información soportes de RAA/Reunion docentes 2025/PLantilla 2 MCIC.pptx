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6"/>
  </p:notesMasterIdLst>
  <p:sldIdLst>
    <p:sldId id="256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258" r:id="rId25"/>
  </p:sldIdLst>
  <p:sldSz cx="12192000" cy="6858000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C5CAE5"/>
    <a:srgbClr val="E9EBF5"/>
    <a:srgbClr val="95220F"/>
    <a:srgbClr val="69180B"/>
    <a:srgbClr val="AE2812"/>
    <a:srgbClr val="FFF9F7"/>
    <a:srgbClr val="FDE2D9"/>
    <a:srgbClr val="D1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5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8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IANO SUAREZ ALISON KATHERINE" userId="ab4766a6-4c09-4fa4-b998-783a2bed0efe" providerId="ADAL" clId="{7CB63BD8-CE50-4550-96B1-C6D4563D4419}"/>
    <pc:docChg chg="custSel addSld modSld sldOrd">
      <pc:chgData name="RUBIANO SUAREZ ALISON KATHERINE" userId="ab4766a6-4c09-4fa4-b998-783a2bed0efe" providerId="ADAL" clId="{7CB63BD8-CE50-4550-96B1-C6D4563D4419}" dt="2025-02-06T20:06:27.725" v="55" actId="1076"/>
      <pc:docMkLst>
        <pc:docMk/>
      </pc:docMkLst>
      <pc:sldChg chg="modSp">
        <pc:chgData name="RUBIANO SUAREZ ALISON KATHERINE" userId="ab4766a6-4c09-4fa4-b998-783a2bed0efe" providerId="ADAL" clId="{7CB63BD8-CE50-4550-96B1-C6D4563D4419}" dt="2025-02-06T20:06:27.725" v="55" actId="1076"/>
        <pc:sldMkLst>
          <pc:docMk/>
          <pc:sldMk cId="0" sldId="258"/>
        </pc:sldMkLst>
        <pc:spChg chg="mod">
          <ac:chgData name="RUBIANO SUAREZ ALISON KATHERINE" userId="ab4766a6-4c09-4fa4-b998-783a2bed0efe" providerId="ADAL" clId="{7CB63BD8-CE50-4550-96B1-C6D4563D4419}" dt="2025-02-06T20:06:27.725" v="55" actId="1076"/>
          <ac:spMkLst>
            <pc:docMk/>
            <pc:sldMk cId="0" sldId="258"/>
            <ac:spMk id="3" creationId="{E9AF963F-95E0-4D28-8AE5-880AC99C324E}"/>
          </ac:spMkLst>
        </pc:spChg>
      </pc:sldChg>
      <pc:sldChg chg="addSp delSp modSp">
        <pc:chgData name="RUBIANO SUAREZ ALISON KATHERINE" userId="ab4766a6-4c09-4fa4-b998-783a2bed0efe" providerId="ADAL" clId="{7CB63BD8-CE50-4550-96B1-C6D4563D4419}" dt="2025-02-06T20:02:55.501" v="4" actId="1076"/>
        <pc:sldMkLst>
          <pc:docMk/>
          <pc:sldMk cId="4253805417" sldId="289"/>
        </pc:sldMkLst>
        <pc:spChg chg="del">
          <ac:chgData name="RUBIANO SUAREZ ALISON KATHERINE" userId="ab4766a6-4c09-4fa4-b998-783a2bed0efe" providerId="ADAL" clId="{7CB63BD8-CE50-4550-96B1-C6D4563D4419}" dt="2025-02-06T20:02:34.282" v="0" actId="478"/>
          <ac:spMkLst>
            <pc:docMk/>
            <pc:sldMk cId="4253805417" sldId="289"/>
            <ac:spMk id="2" creationId="{BB065028-00C0-4F16-9AB4-1A2BB48D5C75}"/>
          </ac:spMkLst>
        </pc:spChg>
        <pc:spChg chg="del">
          <ac:chgData name="RUBIANO SUAREZ ALISON KATHERINE" userId="ab4766a6-4c09-4fa4-b998-783a2bed0efe" providerId="ADAL" clId="{7CB63BD8-CE50-4550-96B1-C6D4563D4419}" dt="2025-02-06T20:02:34.282" v="0" actId="478"/>
          <ac:spMkLst>
            <pc:docMk/>
            <pc:sldMk cId="4253805417" sldId="289"/>
            <ac:spMk id="3" creationId="{3C5AF2C0-7D72-46B6-A7C2-E8CEEE9AA96B}"/>
          </ac:spMkLst>
        </pc:spChg>
        <pc:spChg chg="add mod">
          <ac:chgData name="RUBIANO SUAREZ ALISON KATHERINE" userId="ab4766a6-4c09-4fa4-b998-783a2bed0efe" providerId="ADAL" clId="{7CB63BD8-CE50-4550-96B1-C6D4563D4419}" dt="2025-02-06T20:02:55.501" v="4" actId="1076"/>
          <ac:spMkLst>
            <pc:docMk/>
            <pc:sldMk cId="4253805417" sldId="289"/>
            <ac:spMk id="5" creationId="{C45A3B7A-7CDA-4F5E-924B-5CF4039DF8A7}"/>
          </ac:spMkLst>
        </pc:spChg>
        <pc:spChg chg="add mod">
          <ac:chgData name="RUBIANO SUAREZ ALISON KATHERINE" userId="ab4766a6-4c09-4fa4-b998-783a2bed0efe" providerId="ADAL" clId="{7CB63BD8-CE50-4550-96B1-C6D4563D4419}" dt="2025-02-06T20:02:55.501" v="4" actId="1076"/>
          <ac:spMkLst>
            <pc:docMk/>
            <pc:sldMk cId="4253805417" sldId="289"/>
            <ac:spMk id="6" creationId="{19A4E4DE-3B93-40BD-AAE5-0A1DC6174216}"/>
          </ac:spMkLst>
        </pc:spChg>
        <pc:picChg chg="add mod">
          <ac:chgData name="RUBIANO SUAREZ ALISON KATHERINE" userId="ab4766a6-4c09-4fa4-b998-783a2bed0efe" providerId="ADAL" clId="{7CB63BD8-CE50-4550-96B1-C6D4563D4419}" dt="2025-02-06T20:02:45.975" v="2" actId="1076"/>
          <ac:picMkLst>
            <pc:docMk/>
            <pc:sldMk cId="4253805417" sldId="289"/>
            <ac:picMk id="4" creationId="{0615E44A-37EF-4424-BFAC-39FA9F344344}"/>
          </ac:picMkLst>
        </pc:picChg>
      </pc:sldChg>
      <pc:sldChg chg="addSp delSp modSp">
        <pc:chgData name="RUBIANO SUAREZ ALISON KATHERINE" userId="ab4766a6-4c09-4fa4-b998-783a2bed0efe" providerId="ADAL" clId="{7CB63BD8-CE50-4550-96B1-C6D4563D4419}" dt="2025-02-06T20:06:13.782" v="51" actId="1076"/>
        <pc:sldMkLst>
          <pc:docMk/>
          <pc:sldMk cId="3472757754" sldId="290"/>
        </pc:sldMkLst>
        <pc:spChg chg="del">
          <ac:chgData name="RUBIANO SUAREZ ALISON KATHERINE" userId="ab4766a6-4c09-4fa4-b998-783a2bed0efe" providerId="ADAL" clId="{7CB63BD8-CE50-4550-96B1-C6D4563D4419}" dt="2025-02-06T20:04:51.096" v="26" actId="478"/>
          <ac:spMkLst>
            <pc:docMk/>
            <pc:sldMk cId="3472757754" sldId="290"/>
            <ac:spMk id="2" creationId="{BB065028-00C0-4F16-9AB4-1A2BB48D5C75}"/>
          </ac:spMkLst>
        </pc:spChg>
        <pc:spChg chg="del">
          <ac:chgData name="RUBIANO SUAREZ ALISON KATHERINE" userId="ab4766a6-4c09-4fa4-b998-783a2bed0efe" providerId="ADAL" clId="{7CB63BD8-CE50-4550-96B1-C6D4563D4419}" dt="2025-02-06T20:04:51.096" v="26" actId="478"/>
          <ac:spMkLst>
            <pc:docMk/>
            <pc:sldMk cId="3472757754" sldId="290"/>
            <ac:spMk id="3" creationId="{3C5AF2C0-7D72-46B6-A7C2-E8CEEE9AA96B}"/>
          </ac:spMkLst>
        </pc:spChg>
        <pc:spChg chg="add del">
          <ac:chgData name="RUBIANO SUAREZ ALISON KATHERINE" userId="ab4766a6-4c09-4fa4-b998-783a2bed0efe" providerId="ADAL" clId="{7CB63BD8-CE50-4550-96B1-C6D4563D4419}" dt="2025-02-06T20:04:48.427" v="25"/>
          <ac:spMkLst>
            <pc:docMk/>
            <pc:sldMk cId="3472757754" sldId="290"/>
            <ac:spMk id="4" creationId="{C4010987-F311-4388-9F39-252067B04778}"/>
          </ac:spMkLst>
        </pc:spChg>
        <pc:spChg chg="add del">
          <ac:chgData name="RUBIANO SUAREZ ALISON KATHERINE" userId="ab4766a6-4c09-4fa4-b998-783a2bed0efe" providerId="ADAL" clId="{7CB63BD8-CE50-4550-96B1-C6D4563D4419}" dt="2025-02-06T20:04:48.427" v="25"/>
          <ac:spMkLst>
            <pc:docMk/>
            <pc:sldMk cId="3472757754" sldId="290"/>
            <ac:spMk id="6" creationId="{8F5C4698-40C2-41D4-B8CB-3455D7E15DE2}"/>
          </ac:spMkLst>
        </pc:spChg>
        <pc:spChg chg="add del">
          <ac:chgData name="RUBIANO SUAREZ ALISON KATHERINE" userId="ab4766a6-4c09-4fa4-b998-783a2bed0efe" providerId="ADAL" clId="{7CB63BD8-CE50-4550-96B1-C6D4563D4419}" dt="2025-02-06T20:04:48.427" v="25"/>
          <ac:spMkLst>
            <pc:docMk/>
            <pc:sldMk cId="3472757754" sldId="290"/>
            <ac:spMk id="7" creationId="{DEFC725A-676C-42CA-BDF3-979E56FCF010}"/>
          </ac:spMkLst>
        </pc:spChg>
        <pc:spChg chg="add del">
          <ac:chgData name="RUBIANO SUAREZ ALISON KATHERINE" userId="ab4766a6-4c09-4fa4-b998-783a2bed0efe" providerId="ADAL" clId="{7CB63BD8-CE50-4550-96B1-C6D4563D4419}" dt="2025-02-06T20:04:48.427" v="25"/>
          <ac:spMkLst>
            <pc:docMk/>
            <pc:sldMk cId="3472757754" sldId="290"/>
            <ac:spMk id="8" creationId="{216F52B1-B924-4675-B52C-4EBDC5E919E4}"/>
          </ac:spMkLst>
        </pc:spChg>
        <pc:spChg chg="add del">
          <ac:chgData name="RUBIANO SUAREZ ALISON KATHERINE" userId="ab4766a6-4c09-4fa4-b998-783a2bed0efe" providerId="ADAL" clId="{7CB63BD8-CE50-4550-96B1-C6D4563D4419}" dt="2025-02-06T20:04:48.427" v="25"/>
          <ac:spMkLst>
            <pc:docMk/>
            <pc:sldMk cId="3472757754" sldId="290"/>
            <ac:spMk id="9" creationId="{F2F5D19A-FB2A-4FA0-AD40-509F73339F85}"/>
          </ac:spMkLst>
        </pc:spChg>
        <pc:spChg chg="add mod">
          <ac:chgData name="RUBIANO SUAREZ ALISON KATHERINE" userId="ab4766a6-4c09-4fa4-b998-783a2bed0efe" providerId="ADAL" clId="{7CB63BD8-CE50-4550-96B1-C6D4563D4419}" dt="2025-02-06T20:05:07.303" v="32" actId="14100"/>
          <ac:spMkLst>
            <pc:docMk/>
            <pc:sldMk cId="3472757754" sldId="290"/>
            <ac:spMk id="11" creationId="{31A7725F-577D-4B02-B6D3-F8A8AC0F4AEE}"/>
          </ac:spMkLst>
        </pc:spChg>
        <pc:spChg chg="add mod">
          <ac:chgData name="RUBIANO SUAREZ ALISON KATHERINE" userId="ab4766a6-4c09-4fa4-b998-783a2bed0efe" providerId="ADAL" clId="{7CB63BD8-CE50-4550-96B1-C6D4563D4419}" dt="2025-02-06T20:06:13.782" v="51" actId="1076"/>
          <ac:spMkLst>
            <pc:docMk/>
            <pc:sldMk cId="3472757754" sldId="290"/>
            <ac:spMk id="13" creationId="{B29E8245-8F61-4789-9D18-14CC2CDD23DC}"/>
          </ac:spMkLst>
        </pc:spChg>
        <pc:spChg chg="add mod">
          <ac:chgData name="RUBIANO SUAREZ ALISON KATHERINE" userId="ab4766a6-4c09-4fa4-b998-783a2bed0efe" providerId="ADAL" clId="{7CB63BD8-CE50-4550-96B1-C6D4563D4419}" dt="2025-02-06T20:06:05.159" v="49" actId="1076"/>
          <ac:spMkLst>
            <pc:docMk/>
            <pc:sldMk cId="3472757754" sldId="290"/>
            <ac:spMk id="14" creationId="{BB45CB78-1A41-4325-AA64-610E57A93860}"/>
          </ac:spMkLst>
        </pc:spChg>
        <pc:spChg chg="add mod">
          <ac:chgData name="RUBIANO SUAREZ ALISON KATHERINE" userId="ab4766a6-4c09-4fa4-b998-783a2bed0efe" providerId="ADAL" clId="{7CB63BD8-CE50-4550-96B1-C6D4563D4419}" dt="2025-02-06T20:06:11.153" v="50" actId="1076"/>
          <ac:spMkLst>
            <pc:docMk/>
            <pc:sldMk cId="3472757754" sldId="290"/>
            <ac:spMk id="15" creationId="{CBFE8952-5006-4A16-9D8B-71326B3F39A6}"/>
          </ac:spMkLst>
        </pc:spChg>
        <pc:spChg chg="add mod">
          <ac:chgData name="RUBIANO SUAREZ ALISON KATHERINE" userId="ab4766a6-4c09-4fa4-b998-783a2bed0efe" providerId="ADAL" clId="{7CB63BD8-CE50-4550-96B1-C6D4563D4419}" dt="2025-02-06T20:06:05.159" v="49" actId="1076"/>
          <ac:spMkLst>
            <pc:docMk/>
            <pc:sldMk cId="3472757754" sldId="290"/>
            <ac:spMk id="16" creationId="{87B1567F-3DE4-4A8D-92E1-74B7E0E58AF0}"/>
          </ac:spMkLst>
        </pc:spChg>
        <pc:picChg chg="add del">
          <ac:chgData name="RUBIANO SUAREZ ALISON KATHERINE" userId="ab4766a6-4c09-4fa4-b998-783a2bed0efe" providerId="ADAL" clId="{7CB63BD8-CE50-4550-96B1-C6D4563D4419}" dt="2025-02-06T20:04:48.427" v="25"/>
          <ac:picMkLst>
            <pc:docMk/>
            <pc:sldMk cId="3472757754" sldId="290"/>
            <ac:picMk id="5" creationId="{ACB75345-9BA1-4CE9-9563-662D21244F8F}"/>
          </ac:picMkLst>
        </pc:picChg>
        <pc:picChg chg="add del">
          <ac:chgData name="RUBIANO SUAREZ ALISON KATHERINE" userId="ab4766a6-4c09-4fa4-b998-783a2bed0efe" providerId="ADAL" clId="{7CB63BD8-CE50-4550-96B1-C6D4563D4419}" dt="2025-02-06T20:04:48.427" v="25"/>
          <ac:picMkLst>
            <pc:docMk/>
            <pc:sldMk cId="3472757754" sldId="290"/>
            <ac:picMk id="10" creationId="{621AFF0F-68C4-485E-8A93-20C5FE87989C}"/>
          </ac:picMkLst>
        </pc:picChg>
        <pc:picChg chg="add mod">
          <ac:chgData name="RUBIANO SUAREZ ALISON KATHERINE" userId="ab4766a6-4c09-4fa4-b998-783a2bed0efe" providerId="ADAL" clId="{7CB63BD8-CE50-4550-96B1-C6D4563D4419}" dt="2025-02-06T20:05:39.557" v="40" actId="1076"/>
          <ac:picMkLst>
            <pc:docMk/>
            <pc:sldMk cId="3472757754" sldId="290"/>
            <ac:picMk id="12" creationId="{8E65122B-B336-45A5-B10A-EF8082C32390}"/>
          </ac:picMkLst>
        </pc:picChg>
        <pc:picChg chg="add mod">
          <ac:chgData name="RUBIANO SUAREZ ALISON KATHERINE" userId="ab4766a6-4c09-4fa4-b998-783a2bed0efe" providerId="ADAL" clId="{7CB63BD8-CE50-4550-96B1-C6D4563D4419}" dt="2025-02-06T20:05:35.079" v="38" actId="14100"/>
          <ac:picMkLst>
            <pc:docMk/>
            <pc:sldMk cId="3472757754" sldId="290"/>
            <ac:picMk id="17" creationId="{DCC6CC8A-D95F-4503-B123-17220EE6B548}"/>
          </ac:picMkLst>
        </pc:picChg>
        <pc:cxnChg chg="add mod">
          <ac:chgData name="RUBIANO SUAREZ ALISON KATHERINE" userId="ab4766a6-4c09-4fa4-b998-783a2bed0efe" providerId="ADAL" clId="{7CB63BD8-CE50-4550-96B1-C6D4563D4419}" dt="2025-02-06T20:05:27.351" v="37" actId="14100"/>
          <ac:cxnSpMkLst>
            <pc:docMk/>
            <pc:sldMk cId="3472757754" sldId="290"/>
            <ac:cxnSpMk id="19" creationId="{6CBA0BC8-C1D7-4FB3-8F22-08C6BA274CE6}"/>
          </ac:cxnSpMkLst>
        </pc:cxnChg>
      </pc:sldChg>
      <pc:sldChg chg="delSp modSp add">
        <pc:chgData name="RUBIANO SUAREZ ALISON KATHERINE" userId="ab4766a6-4c09-4fa4-b998-783a2bed0efe" providerId="ADAL" clId="{7CB63BD8-CE50-4550-96B1-C6D4563D4419}" dt="2025-02-06T20:04:29.513" v="23" actId="1076"/>
        <pc:sldMkLst>
          <pc:docMk/>
          <pc:sldMk cId="545584362" sldId="303"/>
        </pc:sldMkLst>
        <pc:spChg chg="mod">
          <ac:chgData name="RUBIANO SUAREZ ALISON KATHERINE" userId="ab4766a6-4c09-4fa4-b998-783a2bed0efe" providerId="ADAL" clId="{7CB63BD8-CE50-4550-96B1-C6D4563D4419}" dt="2025-02-06T20:04:29.513" v="23" actId="1076"/>
          <ac:spMkLst>
            <pc:docMk/>
            <pc:sldMk cId="545584362" sldId="303"/>
            <ac:spMk id="2" creationId="{17C0C8B8-6577-4CE8-94C6-DD0AAB6353E9}"/>
          </ac:spMkLst>
        </pc:spChg>
        <pc:spChg chg="del">
          <ac:chgData name="RUBIANO SUAREZ ALISON KATHERINE" userId="ab4766a6-4c09-4fa4-b998-783a2bed0efe" providerId="ADAL" clId="{7CB63BD8-CE50-4550-96B1-C6D4563D4419}" dt="2025-02-06T20:04:13.233" v="18" actId="478"/>
          <ac:spMkLst>
            <pc:docMk/>
            <pc:sldMk cId="545584362" sldId="303"/>
            <ac:spMk id="3" creationId="{DFBB7D7F-CBD5-469A-A46E-3D2D615CB10F}"/>
          </ac:spMkLst>
        </pc:spChg>
        <pc:picChg chg="del">
          <ac:chgData name="RUBIANO SUAREZ ALISON KATHERINE" userId="ab4766a6-4c09-4fa4-b998-783a2bed0efe" providerId="ADAL" clId="{7CB63BD8-CE50-4550-96B1-C6D4563D4419}" dt="2025-02-06T20:04:14.072" v="19" actId="478"/>
          <ac:picMkLst>
            <pc:docMk/>
            <pc:sldMk cId="545584362" sldId="303"/>
            <ac:picMk id="5" creationId="{D17CA9C6-5916-4EC5-BEDB-BC8A95E2A444}"/>
          </ac:picMkLst>
        </pc:picChg>
        <pc:picChg chg="mod">
          <ac:chgData name="RUBIANO SUAREZ ALISON KATHERINE" userId="ab4766a6-4c09-4fa4-b998-783a2bed0efe" providerId="ADAL" clId="{7CB63BD8-CE50-4550-96B1-C6D4563D4419}" dt="2025-02-06T20:04:19.487" v="20" actId="1076"/>
          <ac:picMkLst>
            <pc:docMk/>
            <pc:sldMk cId="545584362" sldId="303"/>
            <ac:picMk id="6" creationId="{312CFC92-7E39-413A-B71B-11A28378609C}"/>
          </ac:picMkLst>
        </pc:picChg>
        <pc:picChg chg="mod">
          <ac:chgData name="RUBIANO SUAREZ ALISON KATHERINE" userId="ab4766a6-4c09-4fa4-b998-783a2bed0efe" providerId="ADAL" clId="{7CB63BD8-CE50-4550-96B1-C6D4563D4419}" dt="2025-02-06T20:04:19.487" v="20" actId="1076"/>
          <ac:picMkLst>
            <pc:docMk/>
            <pc:sldMk cId="545584362" sldId="303"/>
            <ac:picMk id="7" creationId="{E8159759-1B11-45D9-BB72-CDC6F0C810F8}"/>
          </ac:picMkLst>
        </pc:picChg>
        <pc:picChg chg="mod">
          <ac:chgData name="RUBIANO SUAREZ ALISON KATHERINE" userId="ab4766a6-4c09-4fa4-b998-783a2bed0efe" providerId="ADAL" clId="{7CB63BD8-CE50-4550-96B1-C6D4563D4419}" dt="2025-02-06T20:04:19.487" v="20" actId="1076"/>
          <ac:picMkLst>
            <pc:docMk/>
            <pc:sldMk cId="545584362" sldId="303"/>
            <ac:picMk id="9" creationId="{77D1D0D3-6E51-4B19-BC02-4DA6FFEEE523}"/>
          </ac:picMkLst>
        </pc:picChg>
        <pc:picChg chg="mod">
          <ac:chgData name="RUBIANO SUAREZ ALISON KATHERINE" userId="ab4766a6-4c09-4fa4-b998-783a2bed0efe" providerId="ADAL" clId="{7CB63BD8-CE50-4550-96B1-C6D4563D4419}" dt="2025-02-06T20:04:19.487" v="20" actId="1076"/>
          <ac:picMkLst>
            <pc:docMk/>
            <pc:sldMk cId="545584362" sldId="303"/>
            <ac:picMk id="10" creationId="{052161D2-C361-4966-B937-8AD295379318}"/>
          </ac:picMkLst>
        </pc:picChg>
        <pc:picChg chg="mod">
          <ac:chgData name="RUBIANO SUAREZ ALISON KATHERINE" userId="ab4766a6-4c09-4fa4-b998-783a2bed0efe" providerId="ADAL" clId="{7CB63BD8-CE50-4550-96B1-C6D4563D4419}" dt="2025-02-06T20:04:25.920" v="22" actId="1076"/>
          <ac:picMkLst>
            <pc:docMk/>
            <pc:sldMk cId="545584362" sldId="303"/>
            <ac:picMk id="13" creationId="{1CDE5825-A1C3-402D-84E9-05C16BA82088}"/>
          </ac:picMkLst>
        </pc:picChg>
        <pc:picChg chg="mod">
          <ac:chgData name="RUBIANO SUAREZ ALISON KATHERINE" userId="ab4766a6-4c09-4fa4-b998-783a2bed0efe" providerId="ADAL" clId="{7CB63BD8-CE50-4550-96B1-C6D4563D4419}" dt="2025-02-06T20:04:25.920" v="22" actId="1076"/>
          <ac:picMkLst>
            <pc:docMk/>
            <pc:sldMk cId="545584362" sldId="303"/>
            <ac:picMk id="14" creationId="{E3531EC8-8BA5-4B9C-9D02-A08B7DA4ED03}"/>
          </ac:picMkLst>
        </pc:picChg>
        <pc:picChg chg="mod">
          <ac:chgData name="RUBIANO SUAREZ ALISON KATHERINE" userId="ab4766a6-4c09-4fa4-b998-783a2bed0efe" providerId="ADAL" clId="{7CB63BD8-CE50-4550-96B1-C6D4563D4419}" dt="2025-02-06T20:04:25.920" v="22" actId="1076"/>
          <ac:picMkLst>
            <pc:docMk/>
            <pc:sldMk cId="545584362" sldId="303"/>
            <ac:picMk id="15" creationId="{D198D45E-ED44-42FB-8F6B-B37622ACD889}"/>
          </ac:picMkLst>
        </pc:picChg>
        <pc:cxnChg chg="mod">
          <ac:chgData name="RUBIANO SUAREZ ALISON KATHERINE" userId="ab4766a6-4c09-4fa4-b998-783a2bed0efe" providerId="ADAL" clId="{7CB63BD8-CE50-4550-96B1-C6D4563D4419}" dt="2025-02-06T20:04:19.487" v="20" actId="1076"/>
          <ac:cxnSpMkLst>
            <pc:docMk/>
            <pc:sldMk cId="545584362" sldId="303"/>
            <ac:cxnSpMk id="12" creationId="{B454ACA2-4EB7-4D4E-8690-FBF3A0A4C319}"/>
          </ac:cxnSpMkLst>
        </pc:cxnChg>
      </pc:sldChg>
      <pc:sldChg chg="delSp modSp add ord">
        <pc:chgData name="RUBIANO SUAREZ ALISON KATHERINE" userId="ab4766a6-4c09-4fa4-b998-783a2bed0efe" providerId="ADAL" clId="{7CB63BD8-CE50-4550-96B1-C6D4563D4419}" dt="2025-02-06T20:04:07.166" v="17" actId="1076"/>
        <pc:sldMkLst>
          <pc:docMk/>
          <pc:sldMk cId="1492830466" sldId="331"/>
        </pc:sldMkLst>
        <pc:spChg chg="del">
          <ac:chgData name="RUBIANO SUAREZ ALISON KATHERINE" userId="ab4766a6-4c09-4fa4-b998-783a2bed0efe" providerId="ADAL" clId="{7CB63BD8-CE50-4550-96B1-C6D4563D4419}" dt="2025-02-06T20:03:47.888" v="7" actId="478"/>
          <ac:spMkLst>
            <pc:docMk/>
            <pc:sldMk cId="1492830466" sldId="331"/>
            <ac:spMk id="3" creationId="{DFBB7D7F-CBD5-469A-A46E-3D2D615CB10F}"/>
          </ac:spMkLst>
        </pc:spChg>
        <pc:picChg chg="mod">
          <ac:chgData name="RUBIANO SUAREZ ALISON KATHERINE" userId="ab4766a6-4c09-4fa4-b998-783a2bed0efe" providerId="ADAL" clId="{7CB63BD8-CE50-4550-96B1-C6D4563D4419}" dt="2025-02-06T20:03:56.513" v="11" actId="1076"/>
          <ac:picMkLst>
            <pc:docMk/>
            <pc:sldMk cId="1492830466" sldId="331"/>
            <ac:picMk id="4" creationId="{B11EA73B-0094-45D5-9C6B-68826E54655E}"/>
          </ac:picMkLst>
        </pc:picChg>
        <pc:picChg chg="del">
          <ac:chgData name="RUBIANO SUAREZ ALISON KATHERINE" userId="ab4766a6-4c09-4fa4-b998-783a2bed0efe" providerId="ADAL" clId="{7CB63BD8-CE50-4550-96B1-C6D4563D4419}" dt="2025-02-06T20:03:47.888" v="7" actId="478"/>
          <ac:picMkLst>
            <pc:docMk/>
            <pc:sldMk cId="1492830466" sldId="331"/>
            <ac:picMk id="5" creationId="{D17CA9C6-5916-4EC5-BEDB-BC8A95E2A444}"/>
          </ac:picMkLst>
        </pc:picChg>
        <pc:picChg chg="mod">
          <ac:chgData name="RUBIANO SUAREZ ALISON KATHERINE" userId="ab4766a6-4c09-4fa4-b998-783a2bed0efe" providerId="ADAL" clId="{7CB63BD8-CE50-4550-96B1-C6D4563D4419}" dt="2025-02-06T20:04:07.166" v="17" actId="1076"/>
          <ac:picMkLst>
            <pc:docMk/>
            <pc:sldMk cId="1492830466" sldId="331"/>
            <ac:picMk id="6" creationId="{312CFC92-7E39-413A-B71B-11A28378609C}"/>
          </ac:picMkLst>
        </pc:picChg>
        <pc:picChg chg="mod">
          <ac:chgData name="RUBIANO SUAREZ ALISON KATHERINE" userId="ab4766a6-4c09-4fa4-b998-783a2bed0efe" providerId="ADAL" clId="{7CB63BD8-CE50-4550-96B1-C6D4563D4419}" dt="2025-02-06T20:04:02.402" v="14" actId="1076"/>
          <ac:picMkLst>
            <pc:docMk/>
            <pc:sldMk cId="1492830466" sldId="331"/>
            <ac:picMk id="7" creationId="{E8159759-1B11-45D9-BB72-CDC6F0C810F8}"/>
          </ac:picMkLst>
        </pc:picChg>
        <pc:picChg chg="mod">
          <ac:chgData name="RUBIANO SUAREZ ALISON KATHERINE" userId="ab4766a6-4c09-4fa4-b998-783a2bed0efe" providerId="ADAL" clId="{7CB63BD8-CE50-4550-96B1-C6D4563D4419}" dt="2025-02-06T20:04:03.823" v="15" actId="1076"/>
          <ac:picMkLst>
            <pc:docMk/>
            <pc:sldMk cId="1492830466" sldId="331"/>
            <ac:picMk id="9" creationId="{77D1D0D3-6E51-4B19-BC02-4DA6FFEEE523}"/>
          </ac:picMkLst>
        </pc:picChg>
        <pc:picChg chg="mod">
          <ac:chgData name="RUBIANO SUAREZ ALISON KATHERINE" userId="ab4766a6-4c09-4fa4-b998-783a2bed0efe" providerId="ADAL" clId="{7CB63BD8-CE50-4550-96B1-C6D4563D4419}" dt="2025-02-06T20:04:05.606" v="16" actId="1076"/>
          <ac:picMkLst>
            <pc:docMk/>
            <pc:sldMk cId="1492830466" sldId="331"/>
            <ac:picMk id="10" creationId="{052161D2-C361-4966-B937-8AD295379318}"/>
          </ac:picMkLst>
        </pc:picChg>
        <pc:picChg chg="mod">
          <ac:chgData name="RUBIANO SUAREZ ALISON KATHERINE" userId="ab4766a6-4c09-4fa4-b998-783a2bed0efe" providerId="ADAL" clId="{7CB63BD8-CE50-4550-96B1-C6D4563D4419}" dt="2025-02-06T20:03:54.965" v="10" actId="1076"/>
          <ac:picMkLst>
            <pc:docMk/>
            <pc:sldMk cId="1492830466" sldId="331"/>
            <ac:picMk id="11" creationId="{67819F6C-79BC-4320-9B9D-41FB981C5DEE}"/>
          </ac:picMkLst>
        </pc:picChg>
        <pc:picChg chg="mod">
          <ac:chgData name="RUBIANO SUAREZ ALISON KATHERINE" userId="ab4766a6-4c09-4fa4-b998-783a2bed0efe" providerId="ADAL" clId="{7CB63BD8-CE50-4550-96B1-C6D4563D4419}" dt="2025-02-06T20:03:58.533" v="12" actId="1076"/>
          <ac:picMkLst>
            <pc:docMk/>
            <pc:sldMk cId="1492830466" sldId="331"/>
            <ac:picMk id="13" creationId="{1CDE5825-A1C3-402D-84E9-05C16BA82088}"/>
          </ac:picMkLst>
        </pc:picChg>
        <pc:picChg chg="mod">
          <ac:chgData name="RUBIANO SUAREZ ALISON KATHERINE" userId="ab4766a6-4c09-4fa4-b998-783a2bed0efe" providerId="ADAL" clId="{7CB63BD8-CE50-4550-96B1-C6D4563D4419}" dt="2025-02-06T20:03:53.529" v="9" actId="1076"/>
          <ac:picMkLst>
            <pc:docMk/>
            <pc:sldMk cId="1492830466" sldId="331"/>
            <ac:picMk id="16" creationId="{DFB8FC62-501E-4A6B-BFAD-544B919ECFF0}"/>
          </ac:picMkLst>
        </pc:picChg>
        <pc:picChg chg="mod">
          <ac:chgData name="RUBIANO SUAREZ ALISON KATHERINE" userId="ab4766a6-4c09-4fa4-b998-783a2bed0efe" providerId="ADAL" clId="{7CB63BD8-CE50-4550-96B1-C6D4563D4419}" dt="2025-02-06T20:03:51.378" v="8" actId="1076"/>
          <ac:picMkLst>
            <pc:docMk/>
            <pc:sldMk cId="1492830466" sldId="331"/>
            <ac:picMk id="18" creationId="{0D8582E2-00EE-4D93-9B90-9F9770A8D475}"/>
          </ac:picMkLst>
        </pc:picChg>
        <pc:cxnChg chg="mod">
          <ac:chgData name="RUBIANO SUAREZ ALISON KATHERINE" userId="ab4766a6-4c09-4fa4-b998-783a2bed0efe" providerId="ADAL" clId="{7CB63BD8-CE50-4550-96B1-C6D4563D4419}" dt="2025-02-06T20:04:00.388" v="13" actId="1076"/>
          <ac:cxnSpMkLst>
            <pc:docMk/>
            <pc:sldMk cId="1492830466" sldId="331"/>
            <ac:cxnSpMk id="12" creationId="{B454ACA2-4EB7-4D4E-8690-FBF3A0A4C31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8FABA-975D-4247-B2D5-5CC8A7E98C79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E2783-2A21-4929-A9D2-58C3202C4B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7496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00C5B4-B1A8-4BE8-8049-F8B042DA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F6987-C66E-4675-95C3-AD6002117947}" type="datetime1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C17C3-580F-4E34-BB23-E7F7A182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DB6ABC-F54D-43C3-90A9-0B30423A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B6395-D19C-4022-BD3E-AA64F48F446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60206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882925-FFEA-4C66-8A9D-723A2F82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A3B7F-ABEB-430A-B7AB-8718C012E270}" type="datetime1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D26B39-9FED-4B4C-B4BB-4D27360A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41756-E7CA-4B58-A6CA-38788E09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D17CF488-D59D-4E4A-8A12-78226D1BE8BC}" type="slidenum">
              <a:rPr lang="es-CO" altLang="es-CO" smtClean="0"/>
              <a:pPr/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7201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458A91-D2A1-41AB-957C-F8AB5528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78AB9-82B6-41AB-9158-DAD1E9D3E2E4}" type="datetime1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3A8EAE-7E7C-4B0A-9ACC-30570E6E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D873C8-206D-4DA5-81BE-EB18A712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5A6F62-9380-4F84-BA63-57F3024D51CD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0288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968CE952-5ACC-4FA0-B5BE-076FF640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6C17C-7BC0-42F2-ABA8-6B007D546096}" type="datetime1">
              <a:rPr lang="es-CO" smtClean="0"/>
              <a:t>29/10/2025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CC89686E-740F-4C70-B3BB-4A2D1791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0C1F7AF-C3E4-401C-B7C0-31185919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D7C53-08A1-4524-B21F-963AD20A0493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130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D90AF97A-B07A-4293-BD7E-974DBC14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DEB41-7553-4CB0-9E24-42CD09616A50}" type="datetime1">
              <a:rPr lang="es-CO" smtClean="0"/>
              <a:t>29/10/2025</a:t>
            </a:fld>
            <a:endParaRPr lang="es-CO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D7268560-4BD8-4CCC-844C-D8748E7B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2759D7E5-F111-45C0-8585-4F4895F8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D5FB2-7AA8-4E50-A908-C4B1EE84616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7382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A6C63010-A7B8-4879-A0A9-5C4A9B80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85DB4-7BD8-41D5-A56D-B49D69733E63}" type="datetime1">
              <a:rPr lang="es-CO" smtClean="0"/>
              <a:t>29/10/2025</a:t>
            </a:fld>
            <a:endParaRPr lang="es-CO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26C6E7F0-72B2-47C1-8BEC-60799E1B3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338B802-CA04-4D2D-84EA-894A79B7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F3858-BBCD-436A-80BE-68E6B7B4675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46586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B4593243-3501-4B41-8568-7D3D2AE1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4C867-E44E-4F86-B3F5-D3C5378173CF}" type="datetime1">
              <a:rPr lang="es-CO" smtClean="0"/>
              <a:t>29/10/2025</a:t>
            </a:fld>
            <a:endParaRPr lang="es-CO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9E631D69-74B2-438D-8C1E-128063EE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5C7C62A1-A991-49CB-AA27-0D231598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8B1B3E-AA0A-4CBD-B258-E67DCA7143E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34081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DEA2E631-369D-41BC-9FBF-DCFD955B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4334E-A577-4002-8976-C7AE861508FC}" type="datetime1">
              <a:rPr lang="es-CO" smtClean="0"/>
              <a:t>29/10/2025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8BB98F8F-055C-494B-80F3-BE5B01D5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A9CCC9FF-0352-4449-AD4A-0D27A807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C1C1A-C872-41A3-831B-3C7BC5D7C2D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84014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CO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A4A60947-D3E1-46CC-B7E7-C2213C21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5089F-414E-4226-9EFE-AD8016767428}" type="datetime1">
              <a:rPr lang="es-CO" smtClean="0"/>
              <a:t>29/10/2025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3046BBA0-DAC4-4952-BF97-91BFFF09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D14EE3DD-5B95-4AD2-A070-A7509584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88861-2672-4D41-B7DB-CD7CC660B51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0813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0A2E33-965B-4B46-A581-23F606A4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7BC14-ACB4-44B3-8445-F246DA57FA4A}" type="datetime1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45FB6F-F964-4275-AEBE-ACA1DB14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71EA8A-1FF3-4CB6-AD73-117B637E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2955C-849F-42E9-BA8A-D6E060CF944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265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DC946F-F57F-47EE-94D9-E5567A44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B4660-D62F-4060-9A78-2114103D9374}" type="datetime1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DF6E42-8223-4D4B-AC32-4126255BC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AD0699-3D46-4C1D-8B4D-DC873C56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51C05A-FB03-4F29-9CD1-3EBDD6909F0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84394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D7D3AA2A-222A-4710-B495-23A6ED029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F305AF79-0A5F-4149-88A2-CCC417CB7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los estilos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57F8A-7CFD-423D-B197-0F73EDD2E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150A1EC-796D-4501-B182-1FD52277FA3C}" type="datetime1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112FED-9CC9-43E1-A3DF-08B7E30FE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C19093-BFC0-425C-A648-EF1BEB828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A51428AB-4690-4DDF-9EA4-3E904097901E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aeortizd@udistrital.edi.co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056A222-8698-4AE6-9665-52B7AA0D4C34}"/>
              </a:ext>
            </a:extLst>
          </p:cNvPr>
          <p:cNvSpPr txBox="1"/>
          <p:nvPr/>
        </p:nvSpPr>
        <p:spPr>
          <a:xfrm>
            <a:off x="5533285" y="3182779"/>
            <a:ext cx="46731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COMUICACIONES</a:t>
            </a:r>
            <a:endParaRPr lang="es-CO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4D0570-C4A8-4098-A3A6-DD088FF90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612" y="1768932"/>
            <a:ext cx="2042836" cy="71877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1637F7E-1ADE-4669-9E47-C75879BE956F}"/>
              </a:ext>
            </a:extLst>
          </p:cNvPr>
          <p:cNvSpPr txBox="1"/>
          <p:nvPr/>
        </p:nvSpPr>
        <p:spPr>
          <a:xfrm>
            <a:off x="9321397" y="481311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2</a:t>
            </a:fld>
            <a:endParaRPr lang="es-CO" alt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05C0B5E-B751-4F6B-B32E-AF684975F587}"/>
              </a:ext>
            </a:extLst>
          </p:cNvPr>
          <p:cNvSpPr txBox="1"/>
          <p:nvPr/>
        </p:nvSpPr>
        <p:spPr>
          <a:xfrm>
            <a:off x="4263094" y="2442613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1FBE41-A968-4662-AD33-F8E3A7D1B468}"/>
              </a:ext>
            </a:extLst>
          </p:cNvPr>
          <p:cNvSpPr txBox="1"/>
          <p:nvPr/>
        </p:nvSpPr>
        <p:spPr>
          <a:xfrm>
            <a:off x="4263096" y="3039901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7F8A1A-5D3B-40CA-AE09-A479B7C22343}"/>
              </a:ext>
            </a:extLst>
          </p:cNvPr>
          <p:cNvSpPr txBox="1"/>
          <p:nvPr/>
        </p:nvSpPr>
        <p:spPr>
          <a:xfrm>
            <a:off x="4263096" y="3641900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CB9F30-022E-41A7-8EFF-CD95B7529217}"/>
              </a:ext>
            </a:extLst>
          </p:cNvPr>
          <p:cNvSpPr txBox="1"/>
          <p:nvPr/>
        </p:nvSpPr>
        <p:spPr>
          <a:xfrm>
            <a:off x="4263096" y="4226149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2BE99B-58F3-4A4D-90A9-967620E7081C}"/>
              </a:ext>
            </a:extLst>
          </p:cNvPr>
          <p:cNvSpPr txBox="1"/>
          <p:nvPr/>
        </p:nvSpPr>
        <p:spPr>
          <a:xfrm>
            <a:off x="4263096" y="4799790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880C5B-51FB-4493-A572-FE69A26F980E}"/>
              </a:ext>
            </a:extLst>
          </p:cNvPr>
          <p:cNvSpPr txBox="1"/>
          <p:nvPr/>
        </p:nvSpPr>
        <p:spPr>
          <a:xfrm>
            <a:off x="4263094" y="5363142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1" y="1124223"/>
            <a:ext cx="3631474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b="1" i="1" dirty="0">
                <a:solidFill>
                  <a:schemeClr val="bg1"/>
                </a:solidFill>
              </a:rPr>
              <a:t>Contenido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44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3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18ABED2B-08E3-42F0-B2D0-E13AE9EC1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868814"/>
              </p:ext>
            </p:extLst>
          </p:nvPr>
        </p:nvGraphicFramePr>
        <p:xfrm>
          <a:off x="1776513" y="1993213"/>
          <a:ext cx="8772081" cy="42669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2930">
                  <a:extLst>
                    <a:ext uri="{9D8B030D-6E8A-4147-A177-3AD203B41FA5}">
                      <a16:colId xmlns:a16="http://schemas.microsoft.com/office/drawing/2014/main" val="119667485"/>
                    </a:ext>
                  </a:extLst>
                </a:gridCol>
                <a:gridCol w="2413262">
                  <a:extLst>
                    <a:ext uri="{9D8B030D-6E8A-4147-A177-3AD203B41FA5}">
                      <a16:colId xmlns:a16="http://schemas.microsoft.com/office/drawing/2014/main" val="286565700"/>
                    </a:ext>
                  </a:extLst>
                </a:gridCol>
                <a:gridCol w="1592492">
                  <a:extLst>
                    <a:ext uri="{9D8B030D-6E8A-4147-A177-3AD203B41FA5}">
                      <a16:colId xmlns:a16="http://schemas.microsoft.com/office/drawing/2014/main" val="3650209721"/>
                    </a:ext>
                  </a:extLst>
                </a:gridCol>
                <a:gridCol w="2482839">
                  <a:extLst>
                    <a:ext uri="{9D8B030D-6E8A-4147-A177-3AD203B41FA5}">
                      <a16:colId xmlns:a16="http://schemas.microsoft.com/office/drawing/2014/main" val="181034134"/>
                    </a:ext>
                  </a:extLst>
                </a:gridCol>
                <a:gridCol w="1090558">
                  <a:extLst>
                    <a:ext uri="{9D8B030D-6E8A-4147-A177-3AD203B41FA5}">
                      <a16:colId xmlns:a16="http://schemas.microsoft.com/office/drawing/2014/main" val="910254081"/>
                    </a:ext>
                  </a:extLst>
                </a:gridCol>
              </a:tblGrid>
              <a:tr h="4717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 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916466706"/>
                  </a:ext>
                </a:extLst>
              </a:tr>
              <a:tr h="471736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PROYECTO EDUCATIVO DEL PROGRAMA E IDENTIDAD INSTITUCIONAL.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12,08%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1. Proyecto educativo del Programa.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53,85%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48998642"/>
                  </a:ext>
                </a:extLst>
              </a:tr>
              <a:tr h="72361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2. Relevancia académica y pertinencia social del programa académico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46,15%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266010059"/>
                  </a:ext>
                </a:extLst>
              </a:tr>
              <a:tr h="712939"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ESTUDIANTES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12,42%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3. Participación en actividades de formación integral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33,14%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61507415"/>
                  </a:ext>
                </a:extLst>
              </a:tr>
              <a:tr h="47173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4. Orientación y seguimiento a estudiantes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18,02%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280109713"/>
                  </a:ext>
                </a:extLst>
              </a:tr>
              <a:tr h="47173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5. Capacidad de trabajo autónomo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19,19%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27417936"/>
                  </a:ext>
                </a:extLst>
              </a:tr>
              <a:tr h="47173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6. Reglamento estudiantil y política académica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13,37%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65190383"/>
                  </a:ext>
                </a:extLst>
              </a:tr>
              <a:tr h="47173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7. Estímulos y apoyos para estudiantes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16,28%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21347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121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4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F0A4DF5D-9BB1-4A31-9D69-0D0DC842C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921990"/>
              </p:ext>
            </p:extLst>
          </p:nvPr>
        </p:nvGraphicFramePr>
        <p:xfrm>
          <a:off x="1776513" y="1882378"/>
          <a:ext cx="8772081" cy="45709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6832">
                  <a:extLst>
                    <a:ext uri="{9D8B030D-6E8A-4147-A177-3AD203B41FA5}">
                      <a16:colId xmlns:a16="http://schemas.microsoft.com/office/drawing/2014/main" val="477429139"/>
                    </a:ext>
                  </a:extLst>
                </a:gridCol>
                <a:gridCol w="2419928">
                  <a:extLst>
                    <a:ext uri="{9D8B030D-6E8A-4147-A177-3AD203B41FA5}">
                      <a16:colId xmlns:a16="http://schemas.microsoft.com/office/drawing/2014/main" val="3425680655"/>
                    </a:ext>
                  </a:extLst>
                </a:gridCol>
                <a:gridCol w="1571924">
                  <a:extLst>
                    <a:ext uri="{9D8B030D-6E8A-4147-A177-3AD203B41FA5}">
                      <a16:colId xmlns:a16="http://schemas.microsoft.com/office/drawing/2014/main" val="4048688513"/>
                    </a:ext>
                  </a:extLst>
                </a:gridCol>
                <a:gridCol w="2547494">
                  <a:extLst>
                    <a:ext uri="{9D8B030D-6E8A-4147-A177-3AD203B41FA5}">
                      <a16:colId xmlns:a16="http://schemas.microsoft.com/office/drawing/2014/main" val="364253338"/>
                    </a:ext>
                  </a:extLst>
                </a:gridCol>
                <a:gridCol w="1025903">
                  <a:extLst>
                    <a:ext uri="{9D8B030D-6E8A-4147-A177-3AD203B41FA5}">
                      <a16:colId xmlns:a16="http://schemas.microsoft.com/office/drawing/2014/main" val="1826567669"/>
                    </a:ext>
                  </a:extLst>
                </a:gridCol>
              </a:tblGrid>
              <a:tr h="3655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 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253328578"/>
                  </a:ext>
                </a:extLst>
              </a:tr>
              <a:tr h="365523">
                <a:tc rowSpan="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PROFESORES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11,67%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8. Selección, vinculación y permanencia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17,13%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28730781"/>
                  </a:ext>
                </a:extLst>
              </a:tr>
              <a:tr h="19847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9. Estatuto profesoral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13,73%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63129953"/>
                  </a:ext>
                </a:extLst>
              </a:tr>
              <a:tr h="5524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10. Número, dedicación, nivel de formación y experiencia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15,74%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33220562"/>
                  </a:ext>
                </a:extLst>
              </a:tr>
              <a:tr h="19847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11. Desarrollo profesoral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15,28%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80056014"/>
                  </a:ext>
                </a:extLst>
              </a:tr>
              <a:tr h="3655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12. Estímulos a la trayectoria profesoral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10,34%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28543425"/>
                  </a:ext>
                </a:extLst>
              </a:tr>
              <a:tr h="5524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13. Producción, pertinencia, utilización e impacto del material docente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11,73%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57433493"/>
                  </a:ext>
                </a:extLst>
              </a:tr>
              <a:tr h="3655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14. Remuneración por méritos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9,41%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190979712"/>
                  </a:ext>
                </a:extLst>
              </a:tr>
              <a:tr h="3655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15. Evaluación de profesores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6,64%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838742917"/>
                  </a:ext>
                </a:extLst>
              </a:tr>
              <a:tr h="36552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EGRESADOS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10,80%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16. Seguimiento a los egresados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54,76%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433838598"/>
                  </a:ext>
                </a:extLst>
              </a:tr>
              <a:tr h="5524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17. Impacto de los egresados en el medio social y académico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45,24%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80408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01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5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3BA8748-5F2B-4285-BE7C-02B8AC386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31441"/>
              </p:ext>
            </p:extLst>
          </p:nvPr>
        </p:nvGraphicFramePr>
        <p:xfrm>
          <a:off x="1776515" y="1871843"/>
          <a:ext cx="8772079" cy="4504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7596">
                  <a:extLst>
                    <a:ext uri="{9D8B030D-6E8A-4147-A177-3AD203B41FA5}">
                      <a16:colId xmlns:a16="http://schemas.microsoft.com/office/drawing/2014/main" val="3053487183"/>
                    </a:ext>
                  </a:extLst>
                </a:gridCol>
                <a:gridCol w="1754907">
                  <a:extLst>
                    <a:ext uri="{9D8B030D-6E8A-4147-A177-3AD203B41FA5}">
                      <a16:colId xmlns:a16="http://schemas.microsoft.com/office/drawing/2014/main" val="785999983"/>
                    </a:ext>
                  </a:extLst>
                </a:gridCol>
                <a:gridCol w="1403927">
                  <a:extLst>
                    <a:ext uri="{9D8B030D-6E8A-4147-A177-3AD203B41FA5}">
                      <a16:colId xmlns:a16="http://schemas.microsoft.com/office/drawing/2014/main" val="409219047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12825251"/>
                    </a:ext>
                  </a:extLst>
                </a:gridCol>
                <a:gridCol w="1062849">
                  <a:extLst>
                    <a:ext uri="{9D8B030D-6E8A-4147-A177-3AD203B41FA5}">
                      <a16:colId xmlns:a16="http://schemas.microsoft.com/office/drawing/2014/main" val="476262855"/>
                    </a:ext>
                  </a:extLst>
                </a:gridCol>
              </a:tblGrid>
              <a:tr h="3070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Ponderación 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052546225"/>
                  </a:ext>
                </a:extLst>
              </a:tr>
              <a:tr h="307061"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5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ASPECTOS ACADÉMICOS Y RESULTADOS DE APRENDIZAJE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6,75%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18. Integralidad de los aspectos curriculares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17,16%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517768068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19. Flexibilidad de los aspectos curriculares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14,69%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1402981580"/>
                  </a:ext>
                </a:extLst>
              </a:tr>
              <a:tr h="1671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20. Interdisciplinariedad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12,84%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1120184235"/>
                  </a:ext>
                </a:extLst>
              </a:tr>
              <a:tr h="1671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21. Estrategias pedagógicas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11,36%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3437482189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22. Sistema de evaluación de estudiantes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7,53%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686702229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23. Resultados de aprendizaje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12,84%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942679504"/>
                  </a:ext>
                </a:extLst>
              </a:tr>
              <a:tr h="1671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24. Competencias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10,99%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3099106274"/>
                  </a:ext>
                </a:extLst>
              </a:tr>
              <a:tr h="46446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25. Evaluación y autorregulación del programa académico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6,79%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820440984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26. Vinculación e interacción social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5,80%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303184242"/>
                  </a:ext>
                </a:extLst>
              </a:tr>
              <a:tr h="464463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6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PERMANENCIA Y GRADUACIÓN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7,29%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27. Políticas, estrategias y estructura para la permanencia y la graduación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26,11%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094219767"/>
                  </a:ext>
                </a:extLst>
              </a:tr>
              <a:tr h="46446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28. Caracterización de estudiantes y sistema de alertas tempranas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27,78%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908873946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29. Ajustes a los aspectos curriculares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21,11%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4261579553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30. Mecanismos de selección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25,00%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1713548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45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6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0C3FB21C-2144-442E-95E5-684D11C08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85904"/>
              </p:ext>
            </p:extLst>
          </p:nvPr>
        </p:nvGraphicFramePr>
        <p:xfrm>
          <a:off x="1776516" y="1793883"/>
          <a:ext cx="8772077" cy="46991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9120">
                  <a:extLst>
                    <a:ext uri="{9D8B030D-6E8A-4147-A177-3AD203B41FA5}">
                      <a16:colId xmlns:a16="http://schemas.microsoft.com/office/drawing/2014/main" val="1806195156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2256493549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968529768"/>
                    </a:ext>
                  </a:extLst>
                </a:gridCol>
                <a:gridCol w="3334327">
                  <a:extLst>
                    <a:ext uri="{9D8B030D-6E8A-4147-A177-3AD203B41FA5}">
                      <a16:colId xmlns:a16="http://schemas.microsoft.com/office/drawing/2014/main" val="2591875798"/>
                    </a:ext>
                  </a:extLst>
                </a:gridCol>
                <a:gridCol w="1062848">
                  <a:extLst>
                    <a:ext uri="{9D8B030D-6E8A-4147-A177-3AD203B41FA5}">
                      <a16:colId xmlns:a16="http://schemas.microsoft.com/office/drawing/2014/main" val="905320554"/>
                    </a:ext>
                  </a:extLst>
                </a:gridCol>
              </a:tblGrid>
              <a:tr h="2857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 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490179481"/>
                  </a:ext>
                </a:extLst>
              </a:tr>
              <a:tr h="432251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7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INTERACCIÓN CON EL ENTORNO NACIONAL E INTERNACIONAL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10,59%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31. Inserción del programa en contextos académicos nacionales e internacionales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34,78%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915215372"/>
                  </a:ext>
                </a:extLst>
              </a:tr>
              <a:tr h="2857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32. Relaciones externas de profesores y estudiantes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40,58%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359779970"/>
                  </a:ext>
                </a:extLst>
              </a:tr>
              <a:tr h="43225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33. Habilidades comunicativas en una segunda lengua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24,64%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83580354"/>
                  </a:ext>
                </a:extLst>
              </a:tr>
              <a:tr h="57873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8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APORTES DE LA INVESTIGACIÓN, LA INNOVACIÓN, EL DESARROLLO TECNOLÓGICO Y LA CREACIÓN, ASOCIADOS AL PROGRAMA ACADÉMICO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4,79%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34. Formación para la investigación, desarrollo tecnológico, la innovación y la creación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53,33%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4238051635"/>
                  </a:ext>
                </a:extLst>
              </a:tr>
              <a:tr h="14648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35. Compromiso con la investigación, desarrollo tecnológico, la innovación y la creación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46,67%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303248255"/>
                  </a:ext>
                </a:extLst>
              </a:tr>
              <a:tr h="15556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9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BIENESTAR DE LA COMUNIDAD ACADÉMICA DEL PROGRAMA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6,41%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36. Programas y servicios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54,76%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2266095265"/>
                  </a:ext>
                </a:extLst>
              </a:tr>
              <a:tr h="71614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37. Participación y seguimiento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45,24%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1895879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32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7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EFD3C4A-BDCA-4661-959D-6F2140780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301753"/>
              </p:ext>
            </p:extLst>
          </p:nvPr>
        </p:nvGraphicFramePr>
        <p:xfrm>
          <a:off x="1776516" y="1915666"/>
          <a:ext cx="8772078" cy="37596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0648">
                  <a:extLst>
                    <a:ext uri="{9D8B030D-6E8A-4147-A177-3AD203B41FA5}">
                      <a16:colId xmlns:a16="http://schemas.microsoft.com/office/drawing/2014/main" val="1241128636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607482708"/>
                    </a:ext>
                  </a:extLst>
                </a:gridCol>
                <a:gridCol w="1440872">
                  <a:extLst>
                    <a:ext uri="{9D8B030D-6E8A-4147-A177-3AD203B41FA5}">
                      <a16:colId xmlns:a16="http://schemas.microsoft.com/office/drawing/2014/main" val="2361528509"/>
                    </a:ext>
                  </a:extLst>
                </a:gridCol>
                <a:gridCol w="3297382">
                  <a:extLst>
                    <a:ext uri="{9D8B030D-6E8A-4147-A177-3AD203B41FA5}">
                      <a16:colId xmlns:a16="http://schemas.microsoft.com/office/drawing/2014/main" val="3491585861"/>
                    </a:ext>
                  </a:extLst>
                </a:gridCol>
                <a:gridCol w="1072085">
                  <a:extLst>
                    <a:ext uri="{9D8B030D-6E8A-4147-A177-3AD203B41FA5}">
                      <a16:colId xmlns:a16="http://schemas.microsoft.com/office/drawing/2014/main" val="40561830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 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2861761"/>
                  </a:ext>
                </a:extLst>
              </a:tr>
              <a:tr h="180975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10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MEDIOS EDUCATIVOS Y AMBIENTES DE APRENDIZAJE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6,88%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38. Estrategias y recursos de apoyo a profesores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39,86%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88883706"/>
                  </a:ext>
                </a:extLst>
              </a:tr>
              <a:tr h="25527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39. Estrategias y recursos de apoyo a estudiantes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35,51%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3852490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40. Recursos bibliográficos y de información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24,64%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432406"/>
                  </a:ext>
                </a:extLst>
              </a:tr>
              <a:tr h="190500"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11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ORGANIZACIÓN, ADMINISTRACIÓN Y FINANCIACIÓN DEL PROGRAMA ACADÉMICO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6,68%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41. Organización y administración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23,02%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8582860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42. Dirección y gestión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21,16%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01377026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43. Sistemas de comunicación e información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13,23%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90623697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44. Estudiantes y capacidad institucional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11,90%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60905928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45. Financiación del programa académico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12,96%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86067716"/>
                  </a:ext>
                </a:extLst>
              </a:tr>
              <a:tr h="21399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46. Aseguramiento de la alta calidad y mejora continua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17,72%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833743653"/>
                  </a:ext>
                </a:extLst>
              </a:tr>
              <a:tr h="25336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RECURSOS FÍSICOS Y TECNOLÓGICOS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3,64%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47. Recursos de infraestructura física y tecnológica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52,38%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24494337"/>
                  </a:ext>
                </a:extLst>
              </a:tr>
              <a:tr h="25717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48. Recursos informáticos y de comunicación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47,62%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87948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64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8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1" y="1124223"/>
            <a:ext cx="3289466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Valoración de juicios de calidad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BEDDDB89-84CA-4BCC-8D61-87C84C6E5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26" y="2414446"/>
            <a:ext cx="7868748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0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9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6658430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1. Proyecto Educativo del Programa e identidad institucional.</a:t>
            </a:r>
            <a:endParaRPr lang="es-CO" b="1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1194E97-633D-4F06-B4D3-EB76851DD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655829"/>
              </p:ext>
            </p:extLst>
          </p:nvPr>
        </p:nvGraphicFramePr>
        <p:xfrm>
          <a:off x="1770434" y="1781728"/>
          <a:ext cx="8978630" cy="48677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8343">
                  <a:extLst>
                    <a:ext uri="{9D8B030D-6E8A-4147-A177-3AD203B41FA5}">
                      <a16:colId xmlns:a16="http://schemas.microsoft.com/office/drawing/2014/main" val="2717922158"/>
                    </a:ext>
                  </a:extLst>
                </a:gridCol>
                <a:gridCol w="2137338">
                  <a:extLst>
                    <a:ext uri="{9D8B030D-6E8A-4147-A177-3AD203B41FA5}">
                      <a16:colId xmlns:a16="http://schemas.microsoft.com/office/drawing/2014/main" val="605152034"/>
                    </a:ext>
                  </a:extLst>
                </a:gridCol>
                <a:gridCol w="1424558">
                  <a:extLst>
                    <a:ext uri="{9D8B030D-6E8A-4147-A177-3AD203B41FA5}">
                      <a16:colId xmlns:a16="http://schemas.microsoft.com/office/drawing/2014/main" val="2332111178"/>
                    </a:ext>
                  </a:extLst>
                </a:gridCol>
                <a:gridCol w="1425562">
                  <a:extLst>
                    <a:ext uri="{9D8B030D-6E8A-4147-A177-3AD203B41FA5}">
                      <a16:colId xmlns:a16="http://schemas.microsoft.com/office/drawing/2014/main" val="60867533"/>
                    </a:ext>
                  </a:extLst>
                </a:gridCol>
                <a:gridCol w="1852829">
                  <a:extLst>
                    <a:ext uri="{9D8B030D-6E8A-4147-A177-3AD203B41FA5}">
                      <a16:colId xmlns:a16="http://schemas.microsoft.com/office/drawing/2014/main" val="1629183112"/>
                    </a:ext>
                  </a:extLst>
                </a:gridCol>
              </a:tblGrid>
              <a:tr h="136636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dirty="0">
                          <a:effectLst/>
                        </a:rPr>
                        <a:t>Grado de cumplimiento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Calificación numérica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Ponderación del 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extLst>
                  <a:ext uri="{0D108BD9-81ED-4DB2-BD59-A6C34878D82A}">
                    <a16:rowId xmlns:a16="http://schemas.microsoft.com/office/drawing/2014/main" val="596984668"/>
                  </a:ext>
                </a:extLst>
              </a:tr>
              <a:tr h="2803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Anterior 2020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Actual 2025</a:t>
                      </a:r>
                      <a:endParaRPr lang="es-CO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Anterior 2020</a:t>
                      </a:r>
                      <a:endParaRPr lang="es-CO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Actual 2025</a:t>
                      </a:r>
                      <a:endParaRPr lang="es-CO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314804"/>
                  </a:ext>
                </a:extLst>
              </a:tr>
              <a:tr h="2803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Se cumple en alto grado</a:t>
                      </a:r>
                      <a:endParaRPr lang="es-CO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Se cumple en alto grado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4,4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4,0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12,08%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extLst>
                  <a:ext uri="{0D108BD9-81ED-4DB2-BD59-A6C34878D82A}">
                    <a16:rowId xmlns:a16="http://schemas.microsoft.com/office/drawing/2014/main" val="1492159984"/>
                  </a:ext>
                </a:extLst>
              </a:tr>
              <a:tr h="212126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dirty="0">
                          <a:effectLst/>
                        </a:rPr>
                        <a:t>Fortalezas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Oportunidades de mejora</a:t>
                      </a:r>
                      <a:endParaRPr lang="es-CO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955387"/>
                  </a:ext>
                </a:extLst>
              </a:tr>
              <a:tr h="3441890">
                <a:tc gridSpan="2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Existencia de un proyecto educativo coherente, alineado con la misión y visión institucional, que define propósitos claros de formación en los campos de Teleinformática, Ingeniería de Software, Geomática e Inteligencia Artificial.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Incorporación de un enfoque interdisciplinario que responde a las necesidades locales, regionales, nacionales e internacionales en el campo de las TIC.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Reconocimiento de la pertinencia académica y social del programa, evidenciada en encuestas a estudiantes, egresados y empleadores.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Actualización curricular que permite responder a las tendencias globales en ciencia, tecnología e innovación, y a las demandas del sector productivo.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Articulación del programa con las políticas institucionales de calidad y los lineamientos del CNA, lo que refuerza su identidad académica.</a:t>
                      </a:r>
                      <a:endParaRPr lang="es-CO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E9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600" dirty="0">
                          <a:effectLst/>
                        </a:rPr>
                        <a:t>Necesidad de fortalecer la difusión y apropiación del proyecto educativo entre todos los actores de la comunidad académica, en especial estudiantes de nuevos ingresos.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600" dirty="0">
                          <a:effectLst/>
                        </a:rPr>
                        <a:t>Persisten desafíos en la homogeneización de competencias en segunda lengua, necesarias para consolidar la identidad internacional del programa.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600" dirty="0">
                          <a:effectLst/>
                        </a:rPr>
                        <a:t>Limitada sistematización de la información que evidencie de manera cuantitativa la comparación del programa con referentes internacionales en la disciplina</a:t>
                      </a:r>
                      <a:r>
                        <a:rPr lang="es-CO" sz="1400" dirty="0">
                          <a:effectLst/>
                        </a:rPr>
                        <a:t>.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>
                    <a:solidFill>
                      <a:srgbClr val="C5CA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15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62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10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3373363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2. Estudiantes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AC71122-EC85-49D1-9CD3-18C27777E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619643"/>
              </p:ext>
            </p:extLst>
          </p:nvPr>
        </p:nvGraphicFramePr>
        <p:xfrm>
          <a:off x="2006600" y="1762589"/>
          <a:ext cx="8541993" cy="4451181"/>
        </p:xfrm>
        <a:graphic>
          <a:graphicData uri="http://schemas.openxmlformats.org/drawingml/2006/table">
            <a:tbl>
              <a:tblPr/>
              <a:tblGrid>
                <a:gridCol w="2097053">
                  <a:extLst>
                    <a:ext uri="{9D8B030D-6E8A-4147-A177-3AD203B41FA5}">
                      <a16:colId xmlns:a16="http://schemas.microsoft.com/office/drawing/2014/main" val="117699188"/>
                    </a:ext>
                  </a:extLst>
                </a:gridCol>
                <a:gridCol w="1845407">
                  <a:extLst>
                    <a:ext uri="{9D8B030D-6E8A-4147-A177-3AD203B41FA5}">
                      <a16:colId xmlns:a16="http://schemas.microsoft.com/office/drawing/2014/main" val="2578738362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1997009528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1017205907"/>
                    </a:ext>
                  </a:extLst>
                </a:gridCol>
                <a:gridCol w="1971229">
                  <a:extLst>
                    <a:ext uri="{9D8B030D-6E8A-4147-A177-3AD203B41FA5}">
                      <a16:colId xmlns:a16="http://schemas.microsoft.com/office/drawing/2014/main" val="2261316009"/>
                    </a:ext>
                  </a:extLst>
                </a:gridCol>
              </a:tblGrid>
              <a:tr h="20548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608354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088868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4,6 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12,42%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973001"/>
                  </a:ext>
                </a:extLst>
              </a:tr>
              <a:tr h="20548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84744"/>
                  </a:ext>
                </a:extLst>
              </a:tr>
              <a:tr h="3263503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Alta participación estudiantil en actividades de formación integral, investigación, movilidad académica y eventos de proyección social.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mecanismos de orientación y acompañamiento académico, a través de la Coordinación de la Maestría, tutores de trabajos de grado y programas institucionales de bienestar.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de la autonomía de los estudiantes, valorada en los resultados de encuestas y en el desempeño en investigación y producción académica.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un Reglamento de Posgrados (Acuerdo 001 de 2009) y de normativas específicas de trabajo de grado (Acuerdo 001 de 2019 y Acuerdo 004 de 2022), que brindan claridad sobre procesos y derechos estudiantiles.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estímulos y apoyos económicos como descuentos en matrícula, becas institucionales y programas de bienestar universitario, que contribuyen a la permanencia.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2522" marR="72522" marT="36261" marB="3626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los canales de comunicación para mejorar la difusión de apoyos institucionales y oportunidades académicas entre la comunidad estudiantil.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Algunos estudiantes perciben insuficiente la oferta de estrategias de orientación personalizada en temas de investigación, movilidad y segunda lengua.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Retos en la ampliación y diversificación de estímulos más allá de los descuentos en matrícula, incluyendo apoyos específicos para movilidad internacional y participación en redes académicas.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oportunidades de mejora en la implementación de alertas tempranas y seguimiento más sistemático de las trayectorias académicas</a:t>
                      </a:r>
                      <a:r>
                        <a:rPr lang="es-ES" sz="1400" b="0" i="0" dirty="0">
                          <a:effectLst/>
                          <a:latin typeface="Times New Roman" panose="02020603050405020304" pitchFamily="18" charset="0"/>
                        </a:rPr>
                        <a:t>. </a:t>
                      </a:r>
                    </a:p>
                  </a:txBody>
                  <a:tcPr marL="72522" marR="72522" marT="36261" marB="3626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074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010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11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3373363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3. Profesores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F2CB3C56-55EA-4923-B0D9-EF52C0F25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724904"/>
              </p:ext>
            </p:extLst>
          </p:nvPr>
        </p:nvGraphicFramePr>
        <p:xfrm>
          <a:off x="2006600" y="1825625"/>
          <a:ext cx="8541994" cy="4622450"/>
        </p:xfrm>
        <a:graphic>
          <a:graphicData uri="http://schemas.openxmlformats.org/drawingml/2006/table">
            <a:tbl>
              <a:tblPr/>
              <a:tblGrid>
                <a:gridCol w="2128402">
                  <a:extLst>
                    <a:ext uri="{9D8B030D-6E8A-4147-A177-3AD203B41FA5}">
                      <a16:colId xmlns:a16="http://schemas.microsoft.com/office/drawing/2014/main" val="1958598986"/>
                    </a:ext>
                  </a:extLst>
                </a:gridCol>
                <a:gridCol w="1872995">
                  <a:extLst>
                    <a:ext uri="{9D8B030D-6E8A-4147-A177-3AD203B41FA5}">
                      <a16:colId xmlns:a16="http://schemas.microsoft.com/office/drawing/2014/main" val="750435802"/>
                    </a:ext>
                  </a:extLst>
                </a:gridCol>
                <a:gridCol w="1333801">
                  <a:extLst>
                    <a:ext uri="{9D8B030D-6E8A-4147-A177-3AD203B41FA5}">
                      <a16:colId xmlns:a16="http://schemas.microsoft.com/office/drawing/2014/main" val="668470896"/>
                    </a:ext>
                  </a:extLst>
                </a:gridCol>
                <a:gridCol w="1333801">
                  <a:extLst>
                    <a:ext uri="{9D8B030D-6E8A-4147-A177-3AD203B41FA5}">
                      <a16:colId xmlns:a16="http://schemas.microsoft.com/office/drawing/2014/main" val="411058235"/>
                    </a:ext>
                  </a:extLst>
                </a:gridCol>
                <a:gridCol w="1872995">
                  <a:extLst>
                    <a:ext uri="{9D8B030D-6E8A-4147-A177-3AD203B41FA5}">
                      <a16:colId xmlns:a16="http://schemas.microsoft.com/office/drawing/2014/main" val="1558794602"/>
                    </a:ext>
                  </a:extLst>
                </a:gridCol>
              </a:tblGrid>
              <a:tr h="19364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155144"/>
                  </a:ext>
                </a:extLst>
              </a:tr>
              <a:tr h="31894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206533"/>
                  </a:ext>
                </a:extLst>
              </a:tr>
              <a:tr h="31894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4,2 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4,7 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11,67%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48351"/>
                  </a:ext>
                </a:extLst>
              </a:tr>
              <a:tr h="19364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62960"/>
                  </a:ext>
                </a:extLst>
              </a:tr>
              <a:tr h="3326154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un Estatuto Docente (Acuerdo 011 de 2002) que regula la selección, vinculación, permanencia y evaluación del profesorado, asegurando transparencia y mérito académico.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docente con alto nivel de formación, predominio de profesores con título de maestría y doctorado, y experiencia en investigación y docencia en áreas afines al programa.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Participación activa de los docentes en grupos de investigación reconocidos por Minciencias, lo que fortalece la producción científica y la pertinencia académica.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Consolidación de planes de trabajo docente que incluyen actividades de docencia, investigación, extensión y gestión académica.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estímulos institucionales para la formación avanzada, la movilidad académica y la producción investigativa, que contribuyen al desarrollo profesoral.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Evaluación docente sistemática, realizada a través de encuestas institucionales y procesos de autoevaluación que permiten retroalimentar la práctica pedagógica.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346" marR="68346" marT="34173" marB="34173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Limitación en el número de docentes de planta dedicados de forma exclusiva al programa, lo que genera alta participación de profesores de vinculación ocasional.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los estímulos a la trayectoria profesoral, especialmente en lo relacionado con la producción académica de alto impacto y la internacionalización.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retos en la remuneración diferencial por méritos, lo que podría limitar la atracción y permanencia de profesores altamente calificados.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Algunos resultados de encuestas reflejan la percepción de los estudiantes sobre la necesidad de mayor actualización pedagógica y tecnológica en ciertos docentes.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requiere ampliar la participación del profesorado en redes académicas y proyectos internacionales a fin de robustecer la visibilidad global del programa.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346" marR="68346" marT="34173" marB="34173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488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83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12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3373363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4. Egresados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6C59060F-A2BF-4D4E-923A-5730202C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37835"/>
              </p:ext>
            </p:extLst>
          </p:nvPr>
        </p:nvGraphicFramePr>
        <p:xfrm>
          <a:off x="2006601" y="1825625"/>
          <a:ext cx="8541993" cy="4518818"/>
        </p:xfrm>
        <a:graphic>
          <a:graphicData uri="http://schemas.openxmlformats.org/drawingml/2006/table">
            <a:tbl>
              <a:tblPr/>
              <a:tblGrid>
                <a:gridCol w="2000699">
                  <a:extLst>
                    <a:ext uri="{9D8B030D-6E8A-4147-A177-3AD203B41FA5}">
                      <a16:colId xmlns:a16="http://schemas.microsoft.com/office/drawing/2014/main" val="3357128495"/>
                    </a:ext>
                  </a:extLst>
                </a:gridCol>
                <a:gridCol w="1872995">
                  <a:extLst>
                    <a:ext uri="{9D8B030D-6E8A-4147-A177-3AD203B41FA5}">
                      <a16:colId xmlns:a16="http://schemas.microsoft.com/office/drawing/2014/main" val="1908872175"/>
                    </a:ext>
                  </a:extLst>
                </a:gridCol>
                <a:gridCol w="1461504">
                  <a:extLst>
                    <a:ext uri="{9D8B030D-6E8A-4147-A177-3AD203B41FA5}">
                      <a16:colId xmlns:a16="http://schemas.microsoft.com/office/drawing/2014/main" val="3092158355"/>
                    </a:ext>
                  </a:extLst>
                </a:gridCol>
                <a:gridCol w="1333800">
                  <a:extLst>
                    <a:ext uri="{9D8B030D-6E8A-4147-A177-3AD203B41FA5}">
                      <a16:colId xmlns:a16="http://schemas.microsoft.com/office/drawing/2014/main" val="2852813741"/>
                    </a:ext>
                  </a:extLst>
                </a:gridCol>
                <a:gridCol w="1872995">
                  <a:extLst>
                    <a:ext uri="{9D8B030D-6E8A-4147-A177-3AD203B41FA5}">
                      <a16:colId xmlns:a16="http://schemas.microsoft.com/office/drawing/2014/main" val="748750720"/>
                    </a:ext>
                  </a:extLst>
                </a:gridCol>
              </a:tblGrid>
              <a:tr h="218854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992483"/>
                  </a:ext>
                </a:extLst>
              </a:tr>
              <a:tr h="3604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560537"/>
                  </a:ext>
                </a:extLst>
              </a:tr>
              <a:tr h="3604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4,0 </a:t>
                      </a:r>
                      <a:endParaRPr lang="es-CO" sz="1200" b="0" i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4,8 </a:t>
                      </a:r>
                      <a:endParaRPr lang="es-CO" sz="1200" b="0" i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10,80%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599550"/>
                  </a:ext>
                </a:extLst>
              </a:tr>
              <a:tr h="218854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96253"/>
                  </a:ext>
                </a:extLst>
              </a:tr>
              <a:tr h="3192698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mecanismos de seguimiento a egresados, a través de encuestas y espacios de retroalimentación, que permiten identificar logros y necesidades de formación complementaria. </a:t>
                      </a:r>
                      <a:endParaRPr lang="es-ES" sz="12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Alta pertinencia e impacto de los egresados en el medio académico, social y productivo, evidenciada en su participación en proyectos de investigación, cargos de liderazgo y sectores estratégicos de las TIC. </a:t>
                      </a:r>
                      <a:endParaRPr lang="es-ES" sz="12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Los egresados mantienen un vínculo con el programa mediante participación en eventos académicos, conferencias, tutorías y actividades de proyección social, lo que fortalece la retroalimentación y el sentido de pertenencia. </a:t>
                      </a:r>
                      <a:endParaRPr lang="es-ES" sz="12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en las encuestas a egresados que la formación recibida les ha permitido desarrollar competencias para la solución de problemas complejos y aportar a la transformación tecnológica y social. </a:t>
                      </a:r>
                      <a:endParaRPr lang="es-ES" sz="12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43" marR="77243" marT="38621" marB="3862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consolidar un sistema institucional más robusto de seguimiento y trazabilidad de la trayectoria profesional de los egresados que permita sistematizar información de empleabilidad, impacto e inserción laboral.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el fortalecimiento de la red de egresados, con mayor frecuencia de encuentros y espacios de articulación con estudiantes y docentes activos.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identifica como oportunidad la ampliación de estrategias de internacionalización para egresados, favoreciendo su participación en redes globales y movilidad académica posterior a la graduación.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disponibilidad de información sistemática sobre los aportes específicos de los egresados al sector productivo y a la innovación tecnológica.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43" marR="77243" marT="38621" marB="3862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631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879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13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5915794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5. Aspectos Académicos y Resultados de Aprendizaje 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57CC5FFC-11A1-4266-B0CB-F010BF52B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05567"/>
              </p:ext>
            </p:extLst>
          </p:nvPr>
        </p:nvGraphicFramePr>
        <p:xfrm>
          <a:off x="2006602" y="1928654"/>
          <a:ext cx="8541991" cy="4358640"/>
        </p:xfrm>
        <a:graphic>
          <a:graphicData uri="http://schemas.openxmlformats.org/drawingml/2006/table">
            <a:tbl>
              <a:tblPr/>
              <a:tblGrid>
                <a:gridCol w="2097052">
                  <a:extLst>
                    <a:ext uri="{9D8B030D-6E8A-4147-A177-3AD203B41FA5}">
                      <a16:colId xmlns:a16="http://schemas.microsoft.com/office/drawing/2014/main" val="851550513"/>
                    </a:ext>
                  </a:extLst>
                </a:gridCol>
                <a:gridCol w="1579779">
                  <a:extLst>
                    <a:ext uri="{9D8B030D-6E8A-4147-A177-3AD203B41FA5}">
                      <a16:colId xmlns:a16="http://schemas.microsoft.com/office/drawing/2014/main" val="3531546993"/>
                    </a:ext>
                  </a:extLst>
                </a:gridCol>
                <a:gridCol w="1579779">
                  <a:extLst>
                    <a:ext uri="{9D8B030D-6E8A-4147-A177-3AD203B41FA5}">
                      <a16:colId xmlns:a16="http://schemas.microsoft.com/office/drawing/2014/main" val="142547198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3375342910"/>
                    </a:ext>
                  </a:extLst>
                </a:gridCol>
                <a:gridCol w="1971229">
                  <a:extLst>
                    <a:ext uri="{9D8B030D-6E8A-4147-A177-3AD203B41FA5}">
                      <a16:colId xmlns:a16="http://schemas.microsoft.com/office/drawing/2014/main" val="3844618973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9387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9380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4,2 </a:t>
                      </a:r>
                      <a:endParaRPr lang="es-CO" sz="1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4,3 </a:t>
                      </a:r>
                      <a:endParaRPr lang="es-CO" sz="1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6,75%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953502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71793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endParaRPr lang="es-CO" sz="1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consolidar un sistema institucional más robusto de seguimiento y trazabilidad de la trayectoria profesional de los egresados, que permita sistematizar información de empleabilidad, impacto e inserción laboral.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el fortalecimiento de la red de egresados, con mayor frecuencia de encuentros y espacios de articulación con estudiantes y docentes activos.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identifica como oportunidad la ampliación de estrategias de internacionalización para egresados, favoreciendo su participación en redes globales y movilidad académica posterior a la graduación.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disponibilidad de información sistemática sobre los aportes específicos de los egresados al sector productivo y a la innovación tecnológica.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02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897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14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367053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6. Permanencia y Graduación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2F3145D7-CE04-4E79-9EA2-0B7852F73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473414"/>
              </p:ext>
            </p:extLst>
          </p:nvPr>
        </p:nvGraphicFramePr>
        <p:xfrm>
          <a:off x="2006602" y="2263934"/>
          <a:ext cx="8541991" cy="3505200"/>
        </p:xfrm>
        <a:graphic>
          <a:graphicData uri="http://schemas.openxmlformats.org/drawingml/2006/table">
            <a:tbl>
              <a:tblPr/>
              <a:tblGrid>
                <a:gridCol w="2097052">
                  <a:extLst>
                    <a:ext uri="{9D8B030D-6E8A-4147-A177-3AD203B41FA5}">
                      <a16:colId xmlns:a16="http://schemas.microsoft.com/office/drawing/2014/main" val="629415784"/>
                    </a:ext>
                  </a:extLst>
                </a:gridCol>
                <a:gridCol w="1579779">
                  <a:extLst>
                    <a:ext uri="{9D8B030D-6E8A-4147-A177-3AD203B41FA5}">
                      <a16:colId xmlns:a16="http://schemas.microsoft.com/office/drawing/2014/main" val="3210218270"/>
                    </a:ext>
                  </a:extLst>
                </a:gridCol>
                <a:gridCol w="1579779">
                  <a:extLst>
                    <a:ext uri="{9D8B030D-6E8A-4147-A177-3AD203B41FA5}">
                      <a16:colId xmlns:a16="http://schemas.microsoft.com/office/drawing/2014/main" val="2852180448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5409679"/>
                    </a:ext>
                  </a:extLst>
                </a:gridCol>
                <a:gridCol w="1971229">
                  <a:extLst>
                    <a:ext uri="{9D8B030D-6E8A-4147-A177-3AD203B41FA5}">
                      <a16:colId xmlns:a16="http://schemas.microsoft.com/office/drawing/2014/main" val="1175057345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4111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9454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7,29%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316875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42963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endParaRPr lang="es-CO" sz="1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la consolidación de estrategias de seguimiento a estudiantes en riesgo, especialmente en lo relacionado con acompañamiento psicosocial y fortalecimiento de competencias investigativas.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diversificar los apoyos económicos y estímulos a la permanencia, más allá de los descuentos en matrícula, incluyendo becas completas o apoyos de sostenimiento.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Algunos estudiantes señalan limitaciones en la flexibilidad de tiempos y modalidades para la culminación de los trabajos de grado.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243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285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15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5933901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7. Interacción con el Entorno Nacional e Internacional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62D38E37-38EC-47A5-87EB-18CA16DD1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960069"/>
              </p:ext>
            </p:extLst>
          </p:nvPr>
        </p:nvGraphicFramePr>
        <p:xfrm>
          <a:off x="2006601" y="1825454"/>
          <a:ext cx="8541990" cy="4580232"/>
        </p:xfrm>
        <a:graphic>
          <a:graphicData uri="http://schemas.openxmlformats.org/drawingml/2006/table">
            <a:tbl>
              <a:tblPr/>
              <a:tblGrid>
                <a:gridCol w="2097053">
                  <a:extLst>
                    <a:ext uri="{9D8B030D-6E8A-4147-A177-3AD203B41FA5}">
                      <a16:colId xmlns:a16="http://schemas.microsoft.com/office/drawing/2014/main" val="3710340941"/>
                    </a:ext>
                  </a:extLst>
                </a:gridCol>
                <a:gridCol w="1845405">
                  <a:extLst>
                    <a:ext uri="{9D8B030D-6E8A-4147-A177-3AD203B41FA5}">
                      <a16:colId xmlns:a16="http://schemas.microsoft.com/office/drawing/2014/main" val="3861342667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92000796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947092662"/>
                    </a:ext>
                  </a:extLst>
                </a:gridCol>
                <a:gridCol w="1971228">
                  <a:extLst>
                    <a:ext uri="{9D8B030D-6E8A-4147-A177-3AD203B41FA5}">
                      <a16:colId xmlns:a16="http://schemas.microsoft.com/office/drawing/2014/main" val="2425426588"/>
                    </a:ext>
                  </a:extLst>
                </a:gridCol>
              </a:tblGrid>
              <a:tr h="21195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29014"/>
                  </a:ext>
                </a:extLst>
              </a:tr>
              <a:tr h="34910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01606"/>
                  </a:ext>
                </a:extLst>
              </a:tr>
              <a:tr h="34910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s-CO" sz="1200" b="0" i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4,5 </a:t>
                      </a:r>
                      <a:endParaRPr lang="es-CO" sz="1200" b="0" i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10,59%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481985"/>
                  </a:ext>
                </a:extLst>
              </a:tr>
              <a:tr h="21195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3077"/>
                  </a:ext>
                </a:extLst>
              </a:tr>
              <a:tr h="3229216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Inserción activa del programa en contextos académicos nacionales e internacionales mediante participación en congresos, redes de investigación y convenios de cooperación.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Relaciones externas sólidas de profesores y estudiantes reflejadas en proyectos conjuntos, publicaciones, pasantías y estancias académicas.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Avances en el fortalecimiento de habilidades en segunda lengua evidenciados en la exigencia institucional de certificación de competencias lingüísticas y en la lectura de bibliografía en inglés.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Disposición de docentes y estudiantes a participar en procesos de internacionalización, identificada en encuestas y ejercicios de apreciación.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 programa ha incorporado asignaturas y bibliografía en inglés, lo que contribuye al desarrollo de competencias comunicativas necesarias para la investigación y la movilidad académica.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4808" marR="74808" marT="37404" marB="37404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consolidar un sistema más estructurado de movilidad internacional que facilite la participación efectiva de un mayor número de estudiantes y docentes en experiencias en el exterior.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diferencias en el nivel de dominio de segunda lengua entre los estudiantes, lo que dificulta la homogeneización de competencias.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sistematización de resultados que evidencien el impacto de las relaciones internacionales en términos de producción académica, innovación o empleabilidad.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requiere fortalecer la visibilidad internacional del programa, mediante mayor presencia en rankings, acreditaciones internacionales y redes académicas globales.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4808" marR="74808" marT="37404" marB="37404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9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670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16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2"/>
            <a:ext cx="7871343" cy="541613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8. Aportes de la Investigación, la Innovación, el Desarrollo Tecnológico y la Creación, Asociados al Programa Académico 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CA9C87DB-FD11-4E02-9F37-8CA46C1F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406914"/>
              </p:ext>
            </p:extLst>
          </p:nvPr>
        </p:nvGraphicFramePr>
        <p:xfrm>
          <a:off x="2073245" y="1813544"/>
          <a:ext cx="8475346" cy="4798504"/>
        </p:xfrm>
        <a:graphic>
          <a:graphicData uri="http://schemas.openxmlformats.org/drawingml/2006/table">
            <a:tbl>
              <a:tblPr/>
              <a:tblGrid>
                <a:gridCol w="2566185">
                  <a:extLst>
                    <a:ext uri="{9D8B030D-6E8A-4147-A177-3AD203B41FA5}">
                      <a16:colId xmlns:a16="http://schemas.microsoft.com/office/drawing/2014/main" val="2876524056"/>
                    </a:ext>
                  </a:extLst>
                </a:gridCol>
                <a:gridCol w="2177790">
                  <a:extLst>
                    <a:ext uri="{9D8B030D-6E8A-4147-A177-3AD203B41FA5}">
                      <a16:colId xmlns:a16="http://schemas.microsoft.com/office/drawing/2014/main" val="2608051236"/>
                    </a:ext>
                  </a:extLst>
                </a:gridCol>
                <a:gridCol w="1262286">
                  <a:extLst>
                    <a:ext uri="{9D8B030D-6E8A-4147-A177-3AD203B41FA5}">
                      <a16:colId xmlns:a16="http://schemas.microsoft.com/office/drawing/2014/main" val="197480429"/>
                    </a:ext>
                  </a:extLst>
                </a:gridCol>
                <a:gridCol w="1179057">
                  <a:extLst>
                    <a:ext uri="{9D8B030D-6E8A-4147-A177-3AD203B41FA5}">
                      <a16:colId xmlns:a16="http://schemas.microsoft.com/office/drawing/2014/main" val="3645877605"/>
                    </a:ext>
                  </a:extLst>
                </a:gridCol>
                <a:gridCol w="1290028">
                  <a:extLst>
                    <a:ext uri="{9D8B030D-6E8A-4147-A177-3AD203B41FA5}">
                      <a16:colId xmlns:a16="http://schemas.microsoft.com/office/drawing/2014/main" val="3220132424"/>
                    </a:ext>
                  </a:extLst>
                </a:gridCol>
              </a:tblGrid>
              <a:tr h="23409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109057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068730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effectLst/>
                          <a:latin typeface="Times New Roman" panose="02020603050405020304" pitchFamily="18" charset="0"/>
                        </a:rPr>
                        <a:t>Se cumple aceptablemente </a:t>
                      </a:r>
                      <a:endParaRPr lang="es-CO" sz="1200" b="0" i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effectLst/>
                          <a:latin typeface="Times New Roman" panose="02020603050405020304" pitchFamily="18" charset="0"/>
                        </a:rPr>
                        <a:t>3,4 </a:t>
                      </a:r>
                      <a:endParaRPr lang="es-CO" sz="1200" b="0" i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effectLst/>
                          <a:latin typeface="Times New Roman" panose="02020603050405020304" pitchFamily="18" charset="0"/>
                        </a:rPr>
                        <a:t>4,5 </a:t>
                      </a:r>
                      <a:endParaRPr lang="es-CO" sz="1200" b="0" i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4,79%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291294"/>
                  </a:ext>
                </a:extLst>
              </a:tr>
              <a:tr h="23409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72993"/>
                  </a:ext>
                </a:extLst>
              </a:tr>
              <a:tr h="3112033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 programa se fundamenta en un enfoque investigativo y de profundización, con líneas activas en Teleinformática, Ingeniería de Software, Geomática e Inteligencia Artificial.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Participación de docentes y estudiantes en grupos de investigación categorizados por Minciencias, lo que garantiza pertinencia y calidad en la producción académica.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Incorporación de la investigación como eje transversal en la formación, evidenciada en los trabajos de grado, publicaciones y participación en proyectos financiados.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convenios de cooperación académica y científica que fortalecen la innovación y la proyección del conocimiento en redes nacionales e internacionales.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Producción académica creciente de los estudiantes, con ponencias, artículos y participación en eventos científicos, que contribuye a la visibilidad del programa.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2620" marR="82620" marT="41310" marB="4131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ampliar la difusión y visibilidad de los productos de investigación del programa en revistas de alto impacto y escenarios internacionales.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el financiamiento sostenido de proyectos de innovación y desarrollo tecnológico, especialmente en lo relacionado con convocatorias externas.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articulación sistemática de los proyectos de investigación con el sector productivo y social, lo que reduce la transferencia de conocimiento.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fortalecer las estrategias de innovación y creación como componentes diferenciadores del programa frente a otras maestrías similares.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2620" marR="82620" marT="41310" marB="4131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278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75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17</a:t>
            </a:fld>
            <a:endParaRPr lang="es-CO" alt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41">
            <a:extLst>
              <a:ext uri="{FF2B5EF4-FFF2-40B4-BE49-F238E27FC236}">
                <a16:creationId xmlns:a16="http://schemas.microsoft.com/office/drawing/2014/main" id="{F715A904-6143-4895-A69A-CA426D84D6F1}"/>
              </a:ext>
            </a:extLst>
          </p:cNvPr>
          <p:cNvSpPr/>
          <p:nvPr/>
        </p:nvSpPr>
        <p:spPr>
          <a:xfrm>
            <a:off x="1698170" y="1124223"/>
            <a:ext cx="6133381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9. Bienestar de la comunidad académica del programa</a:t>
            </a:r>
            <a:endParaRPr lang="es-CO" i="1" dirty="0"/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B2DABE3-40D5-4801-BC3D-380D54831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535709"/>
              </p:ext>
            </p:extLst>
          </p:nvPr>
        </p:nvGraphicFramePr>
        <p:xfrm>
          <a:off x="2073244" y="1661312"/>
          <a:ext cx="8475346" cy="4445940"/>
        </p:xfrm>
        <a:graphic>
          <a:graphicData uri="http://schemas.openxmlformats.org/drawingml/2006/table">
            <a:tbl>
              <a:tblPr/>
              <a:tblGrid>
                <a:gridCol w="2084101">
                  <a:extLst>
                    <a:ext uri="{9D8B030D-6E8A-4147-A177-3AD203B41FA5}">
                      <a16:colId xmlns:a16="http://schemas.microsoft.com/office/drawing/2014/main" val="1693273235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2942138727"/>
                    </a:ext>
                  </a:extLst>
                </a:gridCol>
                <a:gridCol w="1167097">
                  <a:extLst>
                    <a:ext uri="{9D8B030D-6E8A-4147-A177-3AD203B41FA5}">
                      <a16:colId xmlns:a16="http://schemas.microsoft.com/office/drawing/2014/main" val="4129401340"/>
                    </a:ext>
                  </a:extLst>
                </a:gridCol>
                <a:gridCol w="1306038">
                  <a:extLst>
                    <a:ext uri="{9D8B030D-6E8A-4147-A177-3AD203B41FA5}">
                      <a16:colId xmlns:a16="http://schemas.microsoft.com/office/drawing/2014/main" val="949980444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1538585614"/>
                    </a:ext>
                  </a:extLst>
                </a:gridCol>
              </a:tblGrid>
              <a:tr h="20211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844860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588164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4,1 </a:t>
                      </a:r>
                      <a:endParaRPr lang="es-CO" sz="1200" b="0" i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4,8 </a:t>
                      </a:r>
                      <a:endParaRPr lang="es-CO" sz="1200" b="0" i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6,41%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311956"/>
                  </a:ext>
                </a:extLst>
              </a:tr>
              <a:tr h="20211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880138"/>
                  </a:ext>
                </a:extLst>
              </a:tr>
              <a:tr h="3079225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una política institucional de Bienestar Universitario con programas dirigidos a la salud, cultura, deporte, desarrollo humano y acompañamiento psicosocial.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apoyos y servicios para estudiantes de posgrado, incluyendo orientación psicológica, asesorías académicas y actividades de formación integral.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por parte de estudiantes y docentes de la pertinencia y utilidad de los programas de bienestar, lo que fortalece la permanencia y la calidad de vida universitaria.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Inclusión de los estudiantes de la Maestría en actividades culturales, deportivas y de integración institucional, promoviendo el sentido de pertenencia y la cohesión de la comunidad académica.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Mecanismos de seguimiento a la participación en actividades de bienestar que permiten evaluar el alcance y la pertinencia de los servicios ofrecidos.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la difusión de las actividades y servicios de bienestar entre los estudiantes de posgrado, ya que algunos manifiestan desconocimiento de la oferta disponible.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la adaptación de programas de bienestar a las necesidades específicas de estudiantes de maestría, considerando sus características laborales y de disponibilidad de tiempo.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sistematización de información sobre el impacto de los programas de bienestar en la permanencia y el rendimiento académico.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ampliar los apoyos financieros y de sostenimiento como complemento a los servicios de bienestar, en especial para movilidad académica y culminación de trabajos de grado.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111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655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18</a:t>
            </a:fld>
            <a:endParaRPr lang="es-CO" alt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41">
            <a:extLst>
              <a:ext uri="{FF2B5EF4-FFF2-40B4-BE49-F238E27FC236}">
                <a16:creationId xmlns:a16="http://schemas.microsoft.com/office/drawing/2014/main" id="{F715A904-6143-4895-A69A-CA426D84D6F1}"/>
              </a:ext>
            </a:extLst>
          </p:cNvPr>
          <p:cNvSpPr/>
          <p:nvPr/>
        </p:nvSpPr>
        <p:spPr>
          <a:xfrm>
            <a:off x="1698170" y="1124223"/>
            <a:ext cx="5671351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10. Medios educativos y ambientes de aprendizaje</a:t>
            </a:r>
            <a:endParaRPr lang="es-CO" i="1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23A869D-5E25-4DFA-B3F5-0B0DA2D4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6438"/>
              </p:ext>
            </p:extLst>
          </p:nvPr>
        </p:nvGraphicFramePr>
        <p:xfrm>
          <a:off x="2073244" y="1591889"/>
          <a:ext cx="8475345" cy="4459430"/>
        </p:xfrm>
        <a:graphic>
          <a:graphicData uri="http://schemas.openxmlformats.org/drawingml/2006/table">
            <a:tbl>
              <a:tblPr/>
              <a:tblGrid>
                <a:gridCol w="2084102">
                  <a:extLst>
                    <a:ext uri="{9D8B030D-6E8A-4147-A177-3AD203B41FA5}">
                      <a16:colId xmlns:a16="http://schemas.microsoft.com/office/drawing/2014/main" val="1591191001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2285420393"/>
                    </a:ext>
                  </a:extLst>
                </a:gridCol>
                <a:gridCol w="1431083">
                  <a:extLst>
                    <a:ext uri="{9D8B030D-6E8A-4147-A177-3AD203B41FA5}">
                      <a16:colId xmlns:a16="http://schemas.microsoft.com/office/drawing/2014/main" val="1343536901"/>
                    </a:ext>
                  </a:extLst>
                </a:gridCol>
                <a:gridCol w="1042050">
                  <a:extLst>
                    <a:ext uri="{9D8B030D-6E8A-4147-A177-3AD203B41FA5}">
                      <a16:colId xmlns:a16="http://schemas.microsoft.com/office/drawing/2014/main" val="1100750159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1769937263"/>
                    </a:ext>
                  </a:extLst>
                </a:gridCol>
              </a:tblGrid>
              <a:tr h="22621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636827"/>
                  </a:ext>
                </a:extLst>
              </a:tr>
              <a:tr h="37259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650183"/>
                  </a:ext>
                </a:extLst>
              </a:tr>
              <a:tr h="37259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4,0 </a:t>
                      </a:r>
                      <a:endParaRPr lang="es-CO" sz="1200" b="0" i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5,0 </a:t>
                      </a:r>
                      <a:endParaRPr lang="es-CO" sz="1200" b="0" i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6,88%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628988"/>
                  </a:ext>
                </a:extLst>
              </a:tr>
              <a:tr h="22621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756868"/>
                  </a:ext>
                </a:extLst>
              </a:tr>
              <a:tr h="3153722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estrategias institucionales de apoyo a la docencia mediante capacitación pedagógica, acompañamiento en innovación educativa y acceso a herramientas digitales.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recursos de apoyo a estudiantes, como aulas virtuales, bibliotecas físicas y digitales, laboratorios especializados y plataformas de aprendizaje colaborativo.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Acceso a recursos bibliográficos y bases de datos internacionales (IEEE Xplore, Scopus, ScienceDirect, Springer, entre otros), que respaldan la formación investigativa y el trabajo autónomo.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Incorporación de ambientes de aprendizaje flexibles y modernos que facilitan la docencia presencial, virtual y combinada.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positivo en las encuestas estudiantiles respecto a la pertinencia de los medios educativos, especialmente en el acceso a información científica y tecnológica actualizada.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41" marR="79841" marT="39921" marB="3992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la actualización periódica de equipos y software especializado para mantener la pertinencia frente a las demandas emergentes de las TIC.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limitaciones en la integración de todos los recursos en un sistema unificado de gestión del aprendizaje, lo que puede generar dispersión en el acceso.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mejorar los programas de capacitación docente en el uso avanzado de medios tecnológicos y pedagógicos innovadores.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Algunos estudiantes perciben insuficiencia en la disponibilidad de ciertos recursos bibliográficos físicos y sugieren ampliar la cobertura digital en áreas específicas.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41" marR="79841" marT="39921" marB="3992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20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84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19</a:t>
            </a:fld>
            <a:endParaRPr lang="es-CO" alt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41">
            <a:extLst>
              <a:ext uri="{FF2B5EF4-FFF2-40B4-BE49-F238E27FC236}">
                <a16:creationId xmlns:a16="http://schemas.microsoft.com/office/drawing/2014/main" id="{F715A904-6143-4895-A69A-CA426D84D6F1}"/>
              </a:ext>
            </a:extLst>
          </p:cNvPr>
          <p:cNvSpPr/>
          <p:nvPr/>
        </p:nvSpPr>
        <p:spPr>
          <a:xfrm>
            <a:off x="1698170" y="1124223"/>
            <a:ext cx="77717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11. Organización, administración y financiación del programa académico</a:t>
            </a:r>
            <a:endParaRPr lang="es-CO" i="1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EB8B8C5D-821D-4717-BAB1-08BAF9012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699467"/>
              </p:ext>
            </p:extLst>
          </p:nvPr>
        </p:nvGraphicFramePr>
        <p:xfrm>
          <a:off x="2073243" y="1725494"/>
          <a:ext cx="8475346" cy="4755362"/>
        </p:xfrm>
        <a:graphic>
          <a:graphicData uri="http://schemas.openxmlformats.org/drawingml/2006/table">
            <a:tbl>
              <a:tblPr/>
              <a:tblGrid>
                <a:gridCol w="2084103">
                  <a:extLst>
                    <a:ext uri="{9D8B030D-6E8A-4147-A177-3AD203B41FA5}">
                      <a16:colId xmlns:a16="http://schemas.microsoft.com/office/drawing/2014/main" val="3287428150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2215774357"/>
                    </a:ext>
                  </a:extLst>
                </a:gridCol>
                <a:gridCol w="1167096">
                  <a:extLst>
                    <a:ext uri="{9D8B030D-6E8A-4147-A177-3AD203B41FA5}">
                      <a16:colId xmlns:a16="http://schemas.microsoft.com/office/drawing/2014/main" val="2350281858"/>
                    </a:ext>
                  </a:extLst>
                </a:gridCol>
                <a:gridCol w="1306037">
                  <a:extLst>
                    <a:ext uri="{9D8B030D-6E8A-4147-A177-3AD203B41FA5}">
                      <a16:colId xmlns:a16="http://schemas.microsoft.com/office/drawing/2014/main" val="2976795667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4217089440"/>
                    </a:ext>
                  </a:extLst>
                </a:gridCol>
              </a:tblGrid>
              <a:tr h="16116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449899"/>
                  </a:ext>
                </a:extLst>
              </a:tr>
              <a:tr h="26544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19732"/>
                  </a:ext>
                </a:extLst>
              </a:tr>
              <a:tr h="26544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6,68%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32416"/>
                  </a:ext>
                </a:extLst>
              </a:tr>
              <a:tr h="16116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098526"/>
                  </a:ext>
                </a:extLst>
              </a:tr>
              <a:tr h="3498134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una estructura organizacional definida y respaldada por normativa institucional (Acuerdos 004 de 1996, 003 de 1997, 011 de 2002, 001 de 2020), que garantiza transparencia y gobernanza académica.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Funcionamiento activo de instancias como el Consejo Curricular y la Coordinación del Proyecto Curricular, con participación de profesores, estudiantes y egresados.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Articulación del programa con el Plan Estratégico de Desarrollo Institucional 2018–2030, mediante herramientas como SISGPLAN y el Sistema Integrado de Gestión – SIGUD, que aseguran planeación y control.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sistemas de comunicación e información institucionales (Cóndor, SICAPITAL, SISGRAL, entre otros) que facilitan la gestión académica, administrativa y documental.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Correspondencia entre el número de estudiantes y la capacidad institucional, evidenciada en indicadores de suficiencia docente e infraestructura adecuada.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Esquema de financiación sólido basado en ingresos por matrícula, recursos institucionales y proyectos de investigación y extensión.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Consolidación de una cultura de aseguramiento de la calidad y mejora continua con procesos regulares de autoevaluación, planes de mejoramiento y rendición de cuentas.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880" marR="56880" marT="28440" marB="284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la difusión de los procesos de gestión interna entre toda la comunidad académica para incrementar la participación y apropiación.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la diversificación de fuentes de financiación, lo que limita la inversión sostenida en innovación y proyección social.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mejorar la interoperabilidad y usabilidad de las plataformas digitales para reducir la dispersión de sistemas de información.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requiere avanzar en la sistematización de resultados de impacto de los planes de mejora para consolidar la trazabilidad de los procesos de aseguramiento de la calidad.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880" marR="56880" marT="28440" marB="284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0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671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20</a:t>
            </a:fld>
            <a:endParaRPr lang="es-CO" alt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41">
            <a:extLst>
              <a:ext uri="{FF2B5EF4-FFF2-40B4-BE49-F238E27FC236}">
                <a16:creationId xmlns:a16="http://schemas.microsoft.com/office/drawing/2014/main" id="{F715A904-6143-4895-A69A-CA426D84D6F1}"/>
              </a:ext>
            </a:extLst>
          </p:cNvPr>
          <p:cNvSpPr/>
          <p:nvPr/>
        </p:nvSpPr>
        <p:spPr>
          <a:xfrm>
            <a:off x="1698171" y="1124223"/>
            <a:ext cx="4096048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12. </a:t>
            </a:r>
            <a:r>
              <a:rPr lang="es-CO" b="1" i="1" dirty="0"/>
              <a:t>Recursos físicos y tecnológicos</a:t>
            </a:r>
            <a:endParaRPr lang="es-CO" i="1" dirty="0"/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F98866D3-A9BA-4D8E-9568-01BA6082D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752473"/>
              </p:ext>
            </p:extLst>
          </p:nvPr>
        </p:nvGraphicFramePr>
        <p:xfrm>
          <a:off x="2073244" y="1694009"/>
          <a:ext cx="8475346" cy="4552040"/>
        </p:xfrm>
        <a:graphic>
          <a:graphicData uri="http://schemas.openxmlformats.org/drawingml/2006/table">
            <a:tbl>
              <a:tblPr/>
              <a:tblGrid>
                <a:gridCol w="1981797">
                  <a:extLst>
                    <a:ext uri="{9D8B030D-6E8A-4147-A177-3AD203B41FA5}">
                      <a16:colId xmlns:a16="http://schemas.microsoft.com/office/drawing/2014/main" val="2499123493"/>
                    </a:ext>
                  </a:extLst>
                </a:gridCol>
                <a:gridCol w="2515899">
                  <a:extLst>
                    <a:ext uri="{9D8B030D-6E8A-4147-A177-3AD203B41FA5}">
                      <a16:colId xmlns:a16="http://schemas.microsoft.com/office/drawing/2014/main" val="3846992192"/>
                    </a:ext>
                  </a:extLst>
                </a:gridCol>
                <a:gridCol w="1335254">
                  <a:extLst>
                    <a:ext uri="{9D8B030D-6E8A-4147-A177-3AD203B41FA5}">
                      <a16:colId xmlns:a16="http://schemas.microsoft.com/office/drawing/2014/main" val="10945052"/>
                    </a:ext>
                  </a:extLst>
                </a:gridCol>
                <a:gridCol w="1321198">
                  <a:extLst>
                    <a:ext uri="{9D8B030D-6E8A-4147-A177-3AD203B41FA5}">
                      <a16:colId xmlns:a16="http://schemas.microsoft.com/office/drawing/2014/main" val="1772393129"/>
                    </a:ext>
                  </a:extLst>
                </a:gridCol>
                <a:gridCol w="1321198">
                  <a:extLst>
                    <a:ext uri="{9D8B030D-6E8A-4147-A177-3AD203B41FA5}">
                      <a16:colId xmlns:a16="http://schemas.microsoft.com/office/drawing/2014/main" val="4058682965"/>
                    </a:ext>
                  </a:extLst>
                </a:gridCol>
              </a:tblGrid>
              <a:tr h="20548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641011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7886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3,64%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060069"/>
                  </a:ext>
                </a:extLst>
              </a:tr>
              <a:tr h="20548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890821"/>
                  </a:ext>
                </a:extLst>
              </a:tr>
              <a:tr h="3263503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infraestructura física adecuada, con aulas equipadas, laboratorios especializados y espacios de aprendizaje modernos.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Acceso a recursos tecnológicos actualizados que respaldan la formación en Teleinformática, Ingeniería de Software, Geomática e Inteligencia Artificial.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Dotación de recursos informáticos y de comunicación institucionales (Cóndor, SIGUD, SISGRAL, plataformas de aula virtual, software especializado) que facilitan la gestión académica y el aprendizaje.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Acceso institucional a bibliotecas digitales y bases de datos de alto impacto (IEEE Xplore, ScienceDirect, Scopus, Springer, entre otras) que fortalecen la investigación.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positivo de estudiantes y docentes sobre la pertinencia y suficiencia de los recursos físicos y tecnológicos en los resultados de la autoevaluación.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Inclusión de protocolos de gestión documental y comunicación institucional que aseguran transparencia, trazabilidad y acceso oportuno a la información.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2522" marR="72522" marT="36261" marB="3626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la renovación periódica de equipos de cómputo y licencias de software especializado para mantener la pertinencia frente a tendencias emergentes.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limitaciones en la interoperabilidad entre plataformas y sistemas digitales, lo que genera dispersión en el acceso a recursos.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ampliar la capacitación docente y estudiantil en el uso avanzado de herramientas tecnológicas y de comunicación.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requiere consolidar un sistema más estructurado de evaluación de impacto del uso de recursos físicos y tecnológicos en el logro de los resultados de aprendizaje.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2522" marR="72522" marT="36261" marB="3626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32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813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9AF963F-95E0-4D28-8AE5-880AC99C3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162720"/>
            <a:ext cx="3135085" cy="125522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15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ALVARO E. ORTIZ DÁVILA</a:t>
            </a:r>
            <a:br>
              <a:rPr lang="es-MX" sz="15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s-MX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/>
              </a:rPr>
              <a:t>aeortizd@udistrital.edu.co</a:t>
            </a:r>
            <a:br>
              <a:rPr lang="es-MX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s-MX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s-MX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s-CO" sz="1500" dirty="0">
              <a:solidFill>
                <a:srgbClr val="69180B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C39F99-EFED-472C-9F3A-ECE3D9B93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20" y="4904017"/>
            <a:ext cx="2042836" cy="718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PRESENTACIONES  -  Modo de compatibilidad" id="{A26AC363-5CC9-42B4-9B1D-1CA3C1F394C1}" vid="{CD804E11-8059-44C7-A030-65C6AE20793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885472-1b03-4c27-abea-e0b86428d9b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403A950870724FBC411EEB7EC1F630" ma:contentTypeVersion="16" ma:contentTypeDescription="Crear nuevo documento." ma:contentTypeScope="" ma:versionID="a2852b318df51755ea6d6dc33ce565a7">
  <xsd:schema xmlns:xsd="http://www.w3.org/2001/XMLSchema" xmlns:xs="http://www.w3.org/2001/XMLSchema" xmlns:p="http://schemas.microsoft.com/office/2006/metadata/properties" xmlns:ns3="1d885472-1b03-4c27-abea-e0b86428d9b9" xmlns:ns4="2d6b6581-d0cd-4f64-a2b3-c7ef1a89b301" targetNamespace="http://schemas.microsoft.com/office/2006/metadata/properties" ma:root="true" ma:fieldsID="d32aa42b740b1678d06283d8e6cf1fdb" ns3:_="" ns4:_="">
    <xsd:import namespace="1d885472-1b03-4c27-abea-e0b86428d9b9"/>
    <xsd:import namespace="2d6b6581-d0cd-4f64-a2b3-c7ef1a89b3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885472-1b03-4c27-abea-e0b86428d9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b6581-d0cd-4f64-a2b3-c7ef1a89b30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0CD684-D49A-4FEC-99D1-6C64D5A4A5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A6ED72-5F8F-48BB-B36F-AB8BDD66F527}">
  <ds:schemaRefs>
    <ds:schemaRef ds:uri="http://schemas.microsoft.com/office/2006/metadata/properties"/>
    <ds:schemaRef ds:uri="http://purl.org/dc/terms/"/>
    <ds:schemaRef ds:uri="http://www.w3.org/XML/1998/namespace"/>
    <ds:schemaRef ds:uri="http://schemas.microsoft.com/office/2006/documentManagement/types"/>
    <ds:schemaRef ds:uri="1d885472-1b03-4c27-abea-e0b86428d9b9"/>
    <ds:schemaRef ds:uri="http://purl.org/dc/elements/1.1/"/>
    <ds:schemaRef ds:uri="http://purl.org/dc/dcmitype/"/>
    <ds:schemaRef ds:uri="2d6b6581-d0cd-4f64-a2b3-c7ef1a89b301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9F0F7708-1E40-4AC8-96E1-04532CE33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885472-1b03-4c27-abea-e0b86428d9b9"/>
    <ds:schemaRef ds:uri="2d6b6581-d0cd-4f64-a2b3-c7ef1a89b3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PLANTILLA_PRESENTACIONES (2)</Template>
  <TotalTime>3088</TotalTime>
  <Words>4305</Words>
  <Application>Microsoft Office PowerPoint</Application>
  <PresentationFormat>Panorámica</PresentationFormat>
  <Paragraphs>523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Palace Script MT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ALVARO E. ORTIZ DÁVILA aeortizd@udistrital.edu.co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Angélica M. Pabon Rodríguez</dc:creator>
  <cp:lastModifiedBy>USER</cp:lastModifiedBy>
  <cp:revision>446</cp:revision>
  <dcterms:created xsi:type="dcterms:W3CDTF">2024-02-23T20:11:37Z</dcterms:created>
  <dcterms:modified xsi:type="dcterms:W3CDTF">2025-10-29T13:23:27Z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0x01010001403A950870724FBC411EEB7EC1F630</vt:lpwstr>
  </property>
</Properties>
</file>