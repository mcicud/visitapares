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858A9A-9811-08F7-DDD2-692407AD5731}" v="10" dt="2025-04-08T17:24:18.808"/>
    <p1510:client id="{8077F5B6-A0B2-828F-1505-137AD631DD69}" v="9" dt="2025-04-07T05:09:25.1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IMAN URQUIJO CAMILO ANDRES" userId="S::cacaimanu@udistrital.edu.co::2c0bd90d-4cc1-413b-b889-cd7efd29559f" providerId="AD" clId="Web-{8077F5B6-A0B2-828F-1505-137AD631DD69}"/>
    <pc:docChg chg="addSld delSld modSld">
      <pc:chgData name="CAIMAN URQUIJO CAMILO ANDRES" userId="S::cacaimanu@udistrital.edu.co::2c0bd90d-4cc1-413b-b889-cd7efd29559f" providerId="AD" clId="Web-{8077F5B6-A0B2-828F-1505-137AD631DD69}" dt="2025-04-07T05:09:25.104" v="11"/>
      <pc:docMkLst>
        <pc:docMk/>
      </pc:docMkLst>
      <pc:sldChg chg="addSp delSp modSp new del">
        <pc:chgData name="CAIMAN URQUIJO CAMILO ANDRES" userId="S::cacaimanu@udistrital.edu.co::2c0bd90d-4cc1-413b-b889-cd7efd29559f" providerId="AD" clId="Web-{8077F5B6-A0B2-828F-1505-137AD631DD69}" dt="2025-04-07T05:09:25.104" v="11"/>
        <pc:sldMkLst>
          <pc:docMk/>
          <pc:sldMk cId="412534419" sldId="277"/>
        </pc:sldMkLst>
        <pc:spChg chg="del mod">
          <ac:chgData name="CAIMAN URQUIJO CAMILO ANDRES" userId="S::cacaimanu@udistrital.edu.co::2c0bd90d-4cc1-413b-b889-cd7efd29559f" providerId="AD" clId="Web-{8077F5B6-A0B2-828F-1505-137AD631DD69}" dt="2025-04-07T05:08:50.883" v="4"/>
          <ac:spMkLst>
            <pc:docMk/>
            <pc:sldMk cId="412534419" sldId="277"/>
            <ac:spMk id="3" creationId="{FC80A93E-8518-85B0-FF1D-4E30F897DD37}"/>
          </ac:spMkLst>
        </pc:spChg>
        <pc:graphicFrameChg chg="add del mod ord">
          <ac:chgData name="CAIMAN URQUIJO CAMILO ANDRES" userId="S::cacaimanu@udistrital.edu.co::2c0bd90d-4cc1-413b-b889-cd7efd29559f" providerId="AD" clId="Web-{8077F5B6-A0B2-828F-1505-137AD631DD69}" dt="2025-04-07T05:09:11.228" v="7"/>
          <ac:graphicFrameMkLst>
            <pc:docMk/>
            <pc:sldMk cId="412534419" sldId="277"/>
            <ac:graphicFrameMk id="4" creationId="{00343342-2751-E3B2-F459-296A4A6120B7}"/>
          </ac:graphicFrameMkLst>
        </pc:graphicFrameChg>
        <pc:graphicFrameChg chg="add del mod">
          <ac:chgData name="CAIMAN URQUIJO CAMILO ANDRES" userId="S::cacaimanu@udistrital.edu.co::2c0bd90d-4cc1-413b-b889-cd7efd29559f" providerId="AD" clId="Web-{8077F5B6-A0B2-828F-1505-137AD631DD69}" dt="2025-04-07T05:09:22.729" v="10"/>
          <ac:graphicFrameMkLst>
            <pc:docMk/>
            <pc:sldMk cId="412534419" sldId="277"/>
            <ac:graphicFrameMk id="5" creationId="{F0942682-CC49-D61F-8ADF-5B034C69FA1B}"/>
          </ac:graphicFrameMkLst>
        </pc:graphicFrameChg>
      </pc:sldChg>
    </pc:docChg>
  </pc:docChgLst>
  <pc:docChgLst>
    <pc:chgData name="CAIMAN URQUIJO CAMILO ANDRES" userId="S::cacaimanu@udistrital.edu.co::2c0bd90d-4cc1-413b-b889-cd7efd29559f" providerId="AD" clId="Web-{CBFB6061-5088-2CF7-4CD9-7F059E9D951C}"/>
    <pc:docChg chg="modSld">
      <pc:chgData name="CAIMAN URQUIJO CAMILO ANDRES" userId="S::cacaimanu@udistrital.edu.co::2c0bd90d-4cc1-413b-b889-cd7efd29559f" providerId="AD" clId="Web-{CBFB6061-5088-2CF7-4CD9-7F059E9D951C}" dt="2025-04-08T17:17:12.935" v="1"/>
      <pc:docMkLst>
        <pc:docMk/>
      </pc:docMkLst>
      <pc:sldChg chg="addSp modSp mod setBg">
        <pc:chgData name="CAIMAN URQUIJO CAMILO ANDRES" userId="S::cacaimanu@udistrital.edu.co::2c0bd90d-4cc1-413b-b889-cd7efd29559f" providerId="AD" clId="Web-{CBFB6061-5088-2CF7-4CD9-7F059E9D951C}" dt="2025-04-08T17:17:04.888" v="0"/>
        <pc:sldMkLst>
          <pc:docMk/>
          <pc:sldMk cId="2421430423" sldId="256"/>
        </pc:sldMkLst>
        <pc:spChg chg="mod">
          <ac:chgData name="CAIMAN URQUIJO CAMILO ANDRES" userId="S::cacaimanu@udistrital.edu.co::2c0bd90d-4cc1-413b-b889-cd7efd29559f" providerId="AD" clId="Web-{CBFB6061-5088-2CF7-4CD9-7F059E9D951C}" dt="2025-04-08T17:17:04.888" v="0"/>
          <ac:spMkLst>
            <pc:docMk/>
            <pc:sldMk cId="2421430423" sldId="256"/>
            <ac:spMk id="2" creationId="{A20FB190-79F9-BF54-D356-268DECC1A4FB}"/>
          </ac:spMkLst>
        </pc:spChg>
        <pc:spChg chg="mod">
          <ac:chgData name="CAIMAN URQUIJO CAMILO ANDRES" userId="S::cacaimanu@udistrital.edu.co::2c0bd90d-4cc1-413b-b889-cd7efd29559f" providerId="AD" clId="Web-{CBFB6061-5088-2CF7-4CD9-7F059E9D951C}" dt="2025-04-08T17:17:04.888" v="0"/>
          <ac:spMkLst>
            <pc:docMk/>
            <pc:sldMk cId="2421430423" sldId="256"/>
            <ac:spMk id="3" creationId="{E45BDBF5-B7E0-07CA-8B3B-31B53E6FAB08}"/>
          </ac:spMkLst>
        </pc:spChg>
        <pc:spChg chg="add">
          <ac:chgData name="CAIMAN URQUIJO CAMILO ANDRES" userId="S::cacaimanu@udistrital.edu.co::2c0bd90d-4cc1-413b-b889-cd7efd29559f" providerId="AD" clId="Web-{CBFB6061-5088-2CF7-4CD9-7F059E9D951C}" dt="2025-04-08T17:17:04.888" v="0"/>
          <ac:spMkLst>
            <pc:docMk/>
            <pc:sldMk cId="2421430423" sldId="256"/>
            <ac:spMk id="10" creationId="{A3363022-C969-41E9-8EB2-E4C94908C1FA}"/>
          </ac:spMkLst>
        </pc:spChg>
        <pc:spChg chg="add">
          <ac:chgData name="CAIMAN URQUIJO CAMILO ANDRES" userId="S::cacaimanu@udistrital.edu.co::2c0bd90d-4cc1-413b-b889-cd7efd29559f" providerId="AD" clId="Web-{CBFB6061-5088-2CF7-4CD9-7F059E9D951C}" dt="2025-04-08T17:17:04.888" v="0"/>
          <ac:spMkLst>
            <pc:docMk/>
            <pc:sldMk cId="2421430423" sldId="256"/>
            <ac:spMk id="12" creationId="{8D1AD6B3-BE88-4CEB-BA17-790657CC4729}"/>
          </ac:spMkLst>
        </pc:spChg>
        <pc:grpChg chg="add">
          <ac:chgData name="CAIMAN URQUIJO CAMILO ANDRES" userId="S::cacaimanu@udistrital.edu.co::2c0bd90d-4cc1-413b-b889-cd7efd29559f" providerId="AD" clId="Web-{CBFB6061-5088-2CF7-4CD9-7F059E9D951C}" dt="2025-04-08T17:17:04.888" v="0"/>
          <ac:grpSpMkLst>
            <pc:docMk/>
            <pc:sldMk cId="2421430423" sldId="256"/>
            <ac:grpSpMk id="14" creationId="{89D1390B-7E13-4B4F-9CB2-391063412E54}"/>
          </ac:grpSpMkLst>
        </pc:grpChg>
        <pc:picChg chg="add">
          <ac:chgData name="CAIMAN URQUIJO CAMILO ANDRES" userId="S::cacaimanu@udistrital.edu.co::2c0bd90d-4cc1-413b-b889-cd7efd29559f" providerId="AD" clId="Web-{CBFB6061-5088-2CF7-4CD9-7F059E9D951C}" dt="2025-04-08T17:17:04.888" v="0"/>
          <ac:picMkLst>
            <pc:docMk/>
            <pc:sldMk cId="2421430423" sldId="256"/>
            <ac:picMk id="7" creationId="{B8E55C56-A067-4BD0-DD8E-10605EE9F4AA}"/>
          </ac:picMkLst>
        </pc:picChg>
      </pc:sldChg>
      <pc:sldChg chg="addSp modSp mod setBg">
        <pc:chgData name="CAIMAN URQUIJO CAMILO ANDRES" userId="S::cacaimanu@udistrital.edu.co::2c0bd90d-4cc1-413b-b889-cd7efd29559f" providerId="AD" clId="Web-{CBFB6061-5088-2CF7-4CD9-7F059E9D951C}" dt="2025-04-08T17:17:12.935" v="1"/>
        <pc:sldMkLst>
          <pc:docMk/>
          <pc:sldMk cId="1801137930" sldId="257"/>
        </pc:sldMkLst>
        <pc:spChg chg="mod">
          <ac:chgData name="CAIMAN URQUIJO CAMILO ANDRES" userId="S::cacaimanu@udistrital.edu.co::2c0bd90d-4cc1-413b-b889-cd7efd29559f" providerId="AD" clId="Web-{CBFB6061-5088-2CF7-4CD9-7F059E9D951C}" dt="2025-04-08T17:17:12.935" v="1"/>
          <ac:spMkLst>
            <pc:docMk/>
            <pc:sldMk cId="1801137930" sldId="257"/>
            <ac:spMk id="2" creationId="{4D6ECC6E-F548-48E8-291D-866E1672ED8A}"/>
          </ac:spMkLst>
        </pc:spChg>
        <pc:spChg chg="add">
          <ac:chgData name="CAIMAN URQUIJO CAMILO ANDRES" userId="S::cacaimanu@udistrital.edu.co::2c0bd90d-4cc1-413b-b889-cd7efd29559f" providerId="AD" clId="Web-{CBFB6061-5088-2CF7-4CD9-7F059E9D951C}" dt="2025-04-08T17:17:12.935" v="1"/>
          <ac:spMkLst>
            <pc:docMk/>
            <pc:sldMk cId="1801137930" sldId="257"/>
            <ac:spMk id="12" creationId="{345A976A-8DE3-4B67-B94B-2044FDD12899}"/>
          </ac:spMkLst>
        </pc:spChg>
        <pc:spChg chg="add">
          <ac:chgData name="CAIMAN URQUIJO CAMILO ANDRES" userId="S::cacaimanu@udistrital.edu.co::2c0bd90d-4cc1-413b-b889-cd7efd29559f" providerId="AD" clId="Web-{CBFB6061-5088-2CF7-4CD9-7F059E9D951C}" dt="2025-04-08T17:17:12.935" v="1"/>
          <ac:spMkLst>
            <pc:docMk/>
            <pc:sldMk cId="1801137930" sldId="257"/>
            <ac:spMk id="14" creationId="{6EAAA1B9-2DDB-49C9-A037-A523D2F13C15}"/>
          </ac:spMkLst>
        </pc:spChg>
        <pc:grpChg chg="add">
          <ac:chgData name="CAIMAN URQUIJO CAMILO ANDRES" userId="S::cacaimanu@udistrital.edu.co::2c0bd90d-4cc1-413b-b889-cd7efd29559f" providerId="AD" clId="Web-{CBFB6061-5088-2CF7-4CD9-7F059E9D951C}" dt="2025-04-08T17:17:12.935" v="1"/>
          <ac:grpSpMkLst>
            <pc:docMk/>
            <pc:sldMk cId="1801137930" sldId="257"/>
            <ac:grpSpMk id="16" creationId="{B441F8D5-EBCE-4FB9-91A9-3425971C1F99}"/>
          </ac:grpSpMkLst>
        </pc:grpChg>
        <pc:grpChg chg="add">
          <ac:chgData name="CAIMAN URQUIJO CAMILO ANDRES" userId="S::cacaimanu@udistrital.edu.co::2c0bd90d-4cc1-413b-b889-cd7efd29559f" providerId="AD" clId="Web-{CBFB6061-5088-2CF7-4CD9-7F059E9D951C}" dt="2025-04-08T17:17:12.935" v="1"/>
          <ac:grpSpMkLst>
            <pc:docMk/>
            <pc:sldMk cId="1801137930" sldId="257"/>
            <ac:grpSpMk id="22" creationId="{08701F99-7E4C-4B92-A4B5-307CDFB7A4DE}"/>
          </ac:grpSpMkLst>
        </pc:grpChg>
        <pc:graphicFrameChg chg="mod">
          <ac:chgData name="CAIMAN URQUIJO CAMILO ANDRES" userId="S::cacaimanu@udistrital.edu.co::2c0bd90d-4cc1-413b-b889-cd7efd29559f" providerId="AD" clId="Web-{CBFB6061-5088-2CF7-4CD9-7F059E9D951C}" dt="2025-04-08T17:17:12.935" v="1"/>
          <ac:graphicFrameMkLst>
            <pc:docMk/>
            <pc:sldMk cId="1801137930" sldId="257"/>
            <ac:graphicFrameMk id="7" creationId="{2BBE7F71-DF37-C110-3D91-D77E51D18412}"/>
          </ac:graphicFrameMkLst>
        </pc:graphicFrameChg>
      </pc:sldChg>
    </pc:docChg>
  </pc:docChgLst>
  <pc:docChgLst>
    <pc:chgData name="CAIMAN URQUIJO CAMILO ANDRES" userId="S::cacaimanu@udistrital.edu.co::2c0bd90d-4cc1-413b-b889-cd7efd29559f" providerId="AD" clId="Web-{77858A9A-9811-08F7-DDD2-692407AD5731}"/>
    <pc:docChg chg="addSld delSld modSld">
      <pc:chgData name="CAIMAN URQUIJO CAMILO ANDRES" userId="S::cacaimanu@udistrital.edu.co::2c0bd90d-4cc1-413b-b889-cd7efd29559f" providerId="AD" clId="Web-{77858A9A-9811-08F7-DDD2-692407AD5731}" dt="2025-04-08T17:24:38.542" v="17" actId="14100"/>
      <pc:docMkLst>
        <pc:docMk/>
      </pc:docMkLst>
      <pc:sldChg chg="del">
        <pc:chgData name="CAIMAN URQUIJO CAMILO ANDRES" userId="S::cacaimanu@udistrital.edu.co::2c0bd90d-4cc1-413b-b889-cd7efd29559f" providerId="AD" clId="Web-{77858A9A-9811-08F7-DDD2-692407AD5731}" dt="2025-04-08T17:20:35.760" v="0"/>
        <pc:sldMkLst>
          <pc:docMk/>
          <pc:sldMk cId="1801137930" sldId="257"/>
        </pc:sldMkLst>
      </pc:sldChg>
      <pc:sldChg chg="addSp delSp modSp">
        <pc:chgData name="CAIMAN URQUIJO CAMILO ANDRES" userId="S::cacaimanu@udistrital.edu.co::2c0bd90d-4cc1-413b-b889-cd7efd29559f" providerId="AD" clId="Web-{77858A9A-9811-08F7-DDD2-692407AD5731}" dt="2025-04-08T17:21:25.682" v="9"/>
        <pc:sldMkLst>
          <pc:docMk/>
          <pc:sldMk cId="3210939696" sldId="258"/>
        </pc:sldMkLst>
        <pc:spChg chg="add del mod">
          <ac:chgData name="CAIMAN URQUIJO CAMILO ANDRES" userId="S::cacaimanu@udistrital.edu.co::2c0bd90d-4cc1-413b-b889-cd7efd29559f" providerId="AD" clId="Web-{77858A9A-9811-08F7-DDD2-692407AD5731}" dt="2025-04-08T17:21:08.495" v="5"/>
          <ac:spMkLst>
            <pc:docMk/>
            <pc:sldMk cId="3210939696" sldId="258"/>
            <ac:spMk id="5" creationId="{5944ECFF-4B15-4430-9839-2FB270C4362F}"/>
          </ac:spMkLst>
        </pc:spChg>
        <pc:graphicFrameChg chg="del">
          <ac:chgData name="CAIMAN URQUIJO CAMILO ANDRES" userId="S::cacaimanu@udistrital.edu.co::2c0bd90d-4cc1-413b-b889-cd7efd29559f" providerId="AD" clId="Web-{77858A9A-9811-08F7-DDD2-692407AD5731}" dt="2025-04-08T17:21:00.354" v="3"/>
          <ac:graphicFrameMkLst>
            <pc:docMk/>
            <pc:sldMk cId="3210939696" sldId="258"/>
            <ac:graphicFrameMk id="4" creationId="{22693185-7758-DC18-4D44-2E7DBF8D2C1C}"/>
          </ac:graphicFrameMkLst>
        </pc:graphicFrameChg>
        <pc:graphicFrameChg chg="add mod topLvl modGraphic">
          <ac:chgData name="CAIMAN URQUIJO CAMILO ANDRES" userId="S::cacaimanu@udistrital.edu.co::2c0bd90d-4cc1-413b-b889-cd7efd29559f" providerId="AD" clId="Web-{77858A9A-9811-08F7-DDD2-692407AD5731}" dt="2025-04-08T17:21:25.682" v="9"/>
          <ac:graphicFrameMkLst>
            <pc:docMk/>
            <pc:sldMk cId="3210939696" sldId="258"/>
            <ac:graphicFrameMk id="6" creationId="{2BBE7F71-DF37-C110-3D91-D77E51D18412}"/>
          </ac:graphicFrameMkLst>
        </pc:graphicFrameChg>
      </pc:sldChg>
      <pc:sldChg chg="addSp delSp modSp">
        <pc:chgData name="CAIMAN URQUIJO CAMILO ANDRES" userId="S::cacaimanu@udistrital.edu.co::2c0bd90d-4cc1-413b-b889-cd7efd29559f" providerId="AD" clId="Web-{77858A9A-9811-08F7-DDD2-692407AD5731}" dt="2025-04-08T17:24:38.542" v="17" actId="14100"/>
        <pc:sldMkLst>
          <pc:docMk/>
          <pc:sldMk cId="1842663988" sldId="259"/>
        </pc:sldMkLst>
        <pc:spChg chg="add del mod">
          <ac:chgData name="CAIMAN URQUIJO CAMILO ANDRES" userId="S::cacaimanu@udistrital.edu.co::2c0bd90d-4cc1-413b-b889-cd7efd29559f" providerId="AD" clId="Web-{77858A9A-9811-08F7-DDD2-692407AD5731}" dt="2025-04-08T17:24:18.808" v="12"/>
          <ac:spMkLst>
            <pc:docMk/>
            <pc:sldMk cId="1842663988" sldId="259"/>
            <ac:spMk id="5" creationId="{1BD875E4-2F5C-404A-364C-5B2F3CA25209}"/>
          </ac:spMkLst>
        </pc:spChg>
        <pc:graphicFrameChg chg="del">
          <ac:chgData name="CAIMAN URQUIJO CAMILO ANDRES" userId="S::cacaimanu@udistrital.edu.co::2c0bd90d-4cc1-413b-b889-cd7efd29559f" providerId="AD" clId="Web-{77858A9A-9811-08F7-DDD2-692407AD5731}" dt="2025-04-08T17:24:13.370" v="10"/>
          <ac:graphicFrameMkLst>
            <pc:docMk/>
            <pc:sldMk cId="1842663988" sldId="259"/>
            <ac:graphicFrameMk id="4" creationId="{FACABA0E-CFF9-94CC-E4FE-EB6E162D0024}"/>
          </ac:graphicFrameMkLst>
        </pc:graphicFrameChg>
        <pc:graphicFrameChg chg="add mod">
          <ac:chgData name="CAIMAN URQUIJO CAMILO ANDRES" userId="S::cacaimanu@udistrital.edu.co::2c0bd90d-4cc1-413b-b889-cd7efd29559f" providerId="AD" clId="Web-{77858A9A-9811-08F7-DDD2-692407AD5731}" dt="2025-04-08T17:24:38.542" v="17" actId="14100"/>
          <ac:graphicFrameMkLst>
            <pc:docMk/>
            <pc:sldMk cId="1842663988" sldId="259"/>
            <ac:graphicFrameMk id="6" creationId="{22693185-7758-DC18-4D44-2E7DBF8D2C1C}"/>
          </ac:graphicFrameMkLst>
        </pc:graphicFrameChg>
      </pc:sldChg>
      <pc:sldChg chg="add del replId">
        <pc:chgData name="CAIMAN URQUIJO CAMILO ANDRES" userId="S::cacaimanu@udistrital.edu.co::2c0bd90d-4cc1-413b-b889-cd7efd29559f" providerId="AD" clId="Web-{77858A9A-9811-08F7-DDD2-692407AD5731}" dt="2025-04-08T17:20:42.651" v="2"/>
        <pc:sldMkLst>
          <pc:docMk/>
          <pc:sldMk cId="1469997217" sldId="27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distritaleduco-my.sharepoint.com/personal/mcic_udistrital_edu_co/Documents/Maestria%20CIC/2025/Monitorias/Nueva%20carpeta/Resultados%20encuestas/Presentaci&#243;n%20Encuestas/Proceso%20de%20Autoevaluaci&#243;n%202025%20-%20Docent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udistritaleduco-my.sharepoint.com/personal/mcic_udistrital_edu_co/Documents/Maestria%20CIC/2025/Monitorias/Nueva%20carpeta/Resultados%20encuestas/Presentaci&#243;n%20Encuestas/Proceso%20de%20Autoevaluaci&#243;n%202025%20-%20Docente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Docente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Docente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Docente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Docente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Docente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Docente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Docente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Docentes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Docentes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Docentes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Docentes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Docentes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Docentes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Docentes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Docentes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Docentes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Docentes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Considero que el reglamento estudiantil y las políticas académicas del programa son pertinentes y están actualizadas.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'!$R$21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'!$S$21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FF-4DD3-A432-022ABE2F700C}"/>
            </c:ext>
          </c:extLst>
        </c:ser>
        <c:ser>
          <c:idx val="1"/>
          <c:order val="1"/>
          <c:tx>
            <c:strRef>
              <c:f>'Proceso de Autoevaluación 2025 '!$R$22</c:f>
              <c:strCache>
                <c:ptCount val="1"/>
                <c:pt idx="0">
                  <c:v>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'!$S$22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FF-4DD3-A432-022ABE2F700C}"/>
            </c:ext>
          </c:extLst>
        </c:ser>
        <c:ser>
          <c:idx val="2"/>
          <c:order val="2"/>
          <c:tx>
            <c:strRef>
              <c:f>'Proceso de Autoevaluación 2025 '!$R$23</c:f>
              <c:strCache>
                <c:ptCount val="1"/>
                <c:pt idx="0">
                  <c:v>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'!$S$23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0FF-4DD3-A432-022ABE2F700C}"/>
            </c:ext>
          </c:extLst>
        </c:ser>
        <c:ser>
          <c:idx val="3"/>
          <c:order val="3"/>
          <c:tx>
            <c:strRef>
              <c:f>'Proceso de Autoevaluación 2025 '!$R$24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'!$S$24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0FF-4DD3-A432-022ABE2F700C}"/>
            </c:ext>
          </c:extLst>
        </c:ser>
        <c:ser>
          <c:idx val="4"/>
          <c:order val="4"/>
          <c:tx>
            <c:strRef>
              <c:f>'Proceso de Autoevaluación 2025 '!$R$25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'!$S$25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0FF-4DD3-A432-022ABE2F700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59408128"/>
        <c:axId val="559409928"/>
      </c:barChart>
      <c:catAx>
        <c:axId val="5594081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59409928"/>
        <c:crosses val="autoZero"/>
        <c:auto val="1"/>
        <c:lblAlgn val="ctr"/>
        <c:lblOffset val="100"/>
        <c:noMultiLvlLbl val="0"/>
      </c:catAx>
      <c:valAx>
        <c:axId val="559409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59408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Considero que los criterios académicos establecidos para la selección y vinculación de profesores son adecuados y pertinentes para garantizar la calidad de la Maestría en Ciencias de la Información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'!$X$21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'!$Y$21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87-405A-ACB4-99EFE756F3A4}"/>
            </c:ext>
          </c:extLst>
        </c:ser>
        <c:ser>
          <c:idx val="1"/>
          <c:order val="1"/>
          <c:tx>
            <c:strRef>
              <c:f>'Proceso de Autoevaluación 2025 '!$X$22</c:f>
              <c:strCache>
                <c:ptCount val="1"/>
                <c:pt idx="0">
                  <c:v>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'!$Y$22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87-405A-ACB4-99EFE756F3A4}"/>
            </c:ext>
          </c:extLst>
        </c:ser>
        <c:ser>
          <c:idx val="3"/>
          <c:order val="2"/>
          <c:tx>
            <c:strRef>
              <c:f>'Proceso de Autoevaluación 2025 '!$X$24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'!$Y$24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87-405A-ACB4-99EFE756F3A4}"/>
            </c:ext>
          </c:extLst>
        </c:ser>
        <c:ser>
          <c:idx val="2"/>
          <c:order val="3"/>
          <c:tx>
            <c:strRef>
              <c:f>'Proceso de Autoevaluación 2025 '!$X$23</c:f>
              <c:strCache>
                <c:ptCount val="1"/>
                <c:pt idx="0">
                  <c:v>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'!$Y$23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87-405A-ACB4-99EFE756F3A4}"/>
            </c:ext>
          </c:extLst>
        </c:ser>
        <c:ser>
          <c:idx val="4"/>
          <c:order val="4"/>
          <c:tx>
            <c:strRef>
              <c:f>'Proceso de Autoevaluación 2025 '!$X$25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'!$Y$25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87-405A-ACB4-99EFE756F3A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58428184"/>
        <c:axId val="558426744"/>
      </c:barChart>
      <c:catAx>
        <c:axId val="55842818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58426744"/>
        <c:crosses val="autoZero"/>
        <c:auto val="1"/>
        <c:lblAlgn val="ctr"/>
        <c:lblOffset val="100"/>
        <c:noMultiLvlLbl val="0"/>
      </c:catAx>
      <c:valAx>
        <c:axId val="558426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58428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 sz="1400" b="0" i="0" u="none" strike="noStrike" cap="none" baseline="0">
                <a:effectLst/>
              </a:rPr>
              <a:t>Considero que mi participación en actividades como programas de formación y capacitación, mentorías y tutorías, participación en conferencias y seminarios, ha contribuido a mi desarrollo integral mejo</a:t>
            </a:r>
            <a:r>
              <a:rPr lang="es-CO" sz="1400" b="0" i="0" u="none" strike="noStrike" cap="none" baseline="0"/>
              <a:t> </a:t>
            </a:r>
            <a:endParaRPr lang="es-CO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'!$AJ$21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'!$AK$21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C1-4BD1-AA46-B210CB19AF98}"/>
            </c:ext>
          </c:extLst>
        </c:ser>
        <c:ser>
          <c:idx val="1"/>
          <c:order val="1"/>
          <c:tx>
            <c:strRef>
              <c:f>'Proceso de Autoevaluación 2025 '!$AJ$22</c:f>
              <c:strCache>
                <c:ptCount val="1"/>
                <c:pt idx="0">
                  <c:v>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'!$AK$22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C1-4BD1-AA46-B210CB19AF98}"/>
            </c:ext>
          </c:extLst>
        </c:ser>
        <c:ser>
          <c:idx val="2"/>
          <c:order val="2"/>
          <c:tx>
            <c:strRef>
              <c:f>'Proceso de Autoevaluación 2025 '!$AJ$23</c:f>
              <c:strCache>
                <c:ptCount val="1"/>
                <c:pt idx="0">
                  <c:v>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'!$AK$23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DC1-4BD1-AA46-B210CB19AF98}"/>
            </c:ext>
          </c:extLst>
        </c:ser>
        <c:ser>
          <c:idx val="3"/>
          <c:order val="3"/>
          <c:tx>
            <c:strRef>
              <c:f>'Proceso de Autoevaluación 2025 '!$AJ$24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'!$AK$24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DC1-4BD1-AA46-B210CB19AF98}"/>
            </c:ext>
          </c:extLst>
        </c:ser>
        <c:ser>
          <c:idx val="4"/>
          <c:order val="4"/>
          <c:tx>
            <c:strRef>
              <c:f>'Proceso de Autoevaluación 2025 '!$AJ$25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'!$AK$25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DC1-4BD1-AA46-B210CB19AF9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38399688"/>
        <c:axId val="638401128"/>
      </c:barChart>
      <c:catAx>
        <c:axId val="63839968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38401128"/>
        <c:crosses val="autoZero"/>
        <c:auto val="1"/>
        <c:lblAlgn val="ctr"/>
        <c:lblOffset val="100"/>
        <c:noMultiLvlLbl val="0"/>
      </c:catAx>
      <c:valAx>
        <c:axId val="638401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38399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Considero que la remuneración que recibo corresponde adecuadamente a mis méritos académicos y profesionales derivados de mi actividad docente, así como de las contribuciones realizadas en investigació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'!$AS$21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'!$AT$21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AB-452D-ADB9-A012A09744DD}"/>
            </c:ext>
          </c:extLst>
        </c:ser>
        <c:ser>
          <c:idx val="1"/>
          <c:order val="1"/>
          <c:tx>
            <c:strRef>
              <c:f>'Proceso de Autoevaluación 2025 '!$AS$22</c:f>
              <c:strCache>
                <c:ptCount val="1"/>
                <c:pt idx="0">
                  <c:v>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'!$AT$22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AB-452D-ADB9-A012A09744DD}"/>
            </c:ext>
          </c:extLst>
        </c:ser>
        <c:ser>
          <c:idx val="2"/>
          <c:order val="2"/>
          <c:tx>
            <c:strRef>
              <c:f>'Proceso de Autoevaluación 2025 '!$AS$23</c:f>
              <c:strCache>
                <c:ptCount val="1"/>
                <c:pt idx="0">
                  <c:v>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'!$AT$23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DAB-452D-ADB9-A012A09744DD}"/>
            </c:ext>
          </c:extLst>
        </c:ser>
        <c:ser>
          <c:idx val="3"/>
          <c:order val="3"/>
          <c:tx>
            <c:strRef>
              <c:f>'Proceso de Autoevaluación 2025 '!$AS$24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'!$AT$24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DAB-452D-ADB9-A012A09744DD}"/>
            </c:ext>
          </c:extLst>
        </c:ser>
        <c:ser>
          <c:idx val="4"/>
          <c:order val="4"/>
          <c:tx>
            <c:strRef>
              <c:f>'Proceso de Autoevaluación 2025 '!$AS$25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'!$AT$25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DAB-452D-ADB9-A012A09744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60696904"/>
        <c:axId val="560694384"/>
      </c:barChart>
      <c:catAx>
        <c:axId val="56069690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60694384"/>
        <c:crosses val="autoZero"/>
        <c:auto val="1"/>
        <c:lblAlgn val="ctr"/>
        <c:lblOffset val="100"/>
        <c:noMultiLvlLbl val="0"/>
      </c:catAx>
      <c:valAx>
        <c:axId val="560694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60696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 sz="1400" b="0" i="0" u="none" strike="noStrike" cap="none" baseline="0">
                <a:effectLst/>
              </a:rPr>
              <a:t>Considero que los criterios y mecanismos utilizados para la evaluación de los profesores son transparentes, accesibles y eficaces.</a:t>
            </a:r>
            <a:r>
              <a:rPr lang="es-CO" sz="1400" b="0" i="0" u="none" strike="noStrike" cap="none" baseline="0"/>
              <a:t> </a:t>
            </a:r>
            <a:endParaRPr lang="es-CO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'!$AY$21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'!$AZ$21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13-4FBB-982F-95C7FB687324}"/>
            </c:ext>
          </c:extLst>
        </c:ser>
        <c:ser>
          <c:idx val="1"/>
          <c:order val="1"/>
          <c:tx>
            <c:strRef>
              <c:f>'Proceso de Autoevaluación 2025 '!$AY$22</c:f>
              <c:strCache>
                <c:ptCount val="1"/>
                <c:pt idx="0">
                  <c:v>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'!$AZ$22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13-4FBB-982F-95C7FB687324}"/>
            </c:ext>
          </c:extLst>
        </c:ser>
        <c:ser>
          <c:idx val="2"/>
          <c:order val="2"/>
          <c:tx>
            <c:strRef>
              <c:f>'Proceso de Autoevaluación 2025 '!$AY$23</c:f>
              <c:strCache>
                <c:ptCount val="1"/>
                <c:pt idx="0">
                  <c:v>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'!$AZ$23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13-4FBB-982F-95C7FB687324}"/>
            </c:ext>
          </c:extLst>
        </c:ser>
        <c:ser>
          <c:idx val="3"/>
          <c:order val="3"/>
          <c:tx>
            <c:strRef>
              <c:f>'Proceso de Autoevaluación 2025 '!$AY$24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'!$AZ$24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413-4FBB-982F-95C7FB687324}"/>
            </c:ext>
          </c:extLst>
        </c:ser>
        <c:ser>
          <c:idx val="4"/>
          <c:order val="4"/>
          <c:tx>
            <c:strRef>
              <c:f>'Proceso de Autoevaluación 2025 '!$AY$25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'!$AZ$25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413-4FBB-982F-95C7FB68732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9244640"/>
        <c:axId val="119245360"/>
      </c:barChart>
      <c:catAx>
        <c:axId val="119244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19245360"/>
        <c:crosses val="autoZero"/>
        <c:auto val="1"/>
        <c:lblAlgn val="ctr"/>
        <c:lblOffset val="100"/>
        <c:noMultiLvlLbl val="0"/>
      </c:catAx>
      <c:valAx>
        <c:axId val="119245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192446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 sz="1400" b="0" i="0" u="none" strike="noStrike" cap="none" baseline="0">
                <a:effectLst/>
              </a:rPr>
              <a:t>Considero que las estrategias de flexibilidad curricular permiten a los estudiantes personalizar su formación de acuerdo con sus objetivos profesionales y académicos.</a:t>
            </a:r>
            <a:r>
              <a:rPr lang="es-CO" sz="1400" b="0" i="0" u="none" strike="noStrike" cap="none" baseline="0"/>
              <a:t> </a:t>
            </a:r>
            <a:endParaRPr lang="es-CO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'!$BB$21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'!$BC$21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11-4C19-82AD-B766C6916524}"/>
            </c:ext>
          </c:extLst>
        </c:ser>
        <c:ser>
          <c:idx val="1"/>
          <c:order val="1"/>
          <c:tx>
            <c:strRef>
              <c:f>'Proceso de Autoevaluación 2025 '!$BB$22</c:f>
              <c:strCache>
                <c:ptCount val="1"/>
                <c:pt idx="0">
                  <c:v>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'!$BC$22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11-4C19-82AD-B766C6916524}"/>
            </c:ext>
          </c:extLst>
        </c:ser>
        <c:ser>
          <c:idx val="2"/>
          <c:order val="2"/>
          <c:tx>
            <c:strRef>
              <c:f>'Proceso de Autoevaluación 2025 '!$BB$23</c:f>
              <c:strCache>
                <c:ptCount val="1"/>
                <c:pt idx="0">
                  <c:v>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'!$BC$23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E11-4C19-82AD-B766C6916524}"/>
            </c:ext>
          </c:extLst>
        </c:ser>
        <c:ser>
          <c:idx val="3"/>
          <c:order val="3"/>
          <c:tx>
            <c:strRef>
              <c:f>'Proceso de Autoevaluación 2025 '!$BB$24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'!$BC$24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E11-4C19-82AD-B766C6916524}"/>
            </c:ext>
          </c:extLst>
        </c:ser>
        <c:ser>
          <c:idx val="4"/>
          <c:order val="4"/>
          <c:tx>
            <c:strRef>
              <c:f>'Proceso de Autoevaluación 2025 '!$BB$25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'!$BC$25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E11-4C19-82AD-B766C691652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28543688"/>
        <c:axId val="628541888"/>
      </c:barChart>
      <c:catAx>
        <c:axId val="62854368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28541888"/>
        <c:crosses val="autoZero"/>
        <c:auto val="1"/>
        <c:lblAlgn val="ctr"/>
        <c:lblOffset val="100"/>
        <c:noMultiLvlLbl val="0"/>
      </c:catAx>
      <c:valAx>
        <c:axId val="628541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28543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Considero que las estrategias pedagógicas y escenarios de práctica utilizadas en la Maestría en Ciencias de la Información y las Comunicaciones son coherentes y efectivas para facilitar los resultados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'!$BK$21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'!$BL$21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A2-493B-93B0-96D9D6FCD544}"/>
            </c:ext>
          </c:extLst>
        </c:ser>
        <c:ser>
          <c:idx val="1"/>
          <c:order val="1"/>
          <c:tx>
            <c:strRef>
              <c:f>'Proceso de Autoevaluación 2025 '!$BK$22</c:f>
              <c:strCache>
                <c:ptCount val="1"/>
                <c:pt idx="0">
                  <c:v>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'!$BL$22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A2-493B-93B0-96D9D6FCD544}"/>
            </c:ext>
          </c:extLst>
        </c:ser>
        <c:ser>
          <c:idx val="2"/>
          <c:order val="2"/>
          <c:tx>
            <c:strRef>
              <c:f>'Proceso de Autoevaluación 2025 '!$BK$23</c:f>
              <c:strCache>
                <c:ptCount val="1"/>
                <c:pt idx="0">
                  <c:v>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'!$BL$23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A2-493B-93B0-96D9D6FCD544}"/>
            </c:ext>
          </c:extLst>
        </c:ser>
        <c:ser>
          <c:idx val="3"/>
          <c:order val="3"/>
          <c:tx>
            <c:strRef>
              <c:f>'Proceso de Autoevaluación 2025 '!$BK$24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'!$BL$24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0A2-493B-93B0-96D9D6FCD544}"/>
            </c:ext>
          </c:extLst>
        </c:ser>
        <c:ser>
          <c:idx val="4"/>
          <c:order val="4"/>
          <c:tx>
            <c:strRef>
              <c:f>'Proceso de Autoevaluación 2025 '!$BK$25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'!$BL$25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0A2-493B-93B0-96D9D6FCD54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59706632"/>
        <c:axId val="559704472"/>
      </c:barChart>
      <c:catAx>
        <c:axId val="5597066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59704472"/>
        <c:crosses val="autoZero"/>
        <c:auto val="1"/>
        <c:lblAlgn val="ctr"/>
        <c:lblOffset val="100"/>
        <c:noMultiLvlLbl val="0"/>
      </c:catAx>
      <c:valAx>
        <c:axId val="559704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59706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Considero que los sistemas de evaluación de los resultados de aprendizaje permiten una realimentación efectiva que contribuye a la mejora continua de la formación en los estudiantes.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'!$BN$21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'!$BO$21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03-448E-9860-0CE2C05E6DE0}"/>
            </c:ext>
          </c:extLst>
        </c:ser>
        <c:ser>
          <c:idx val="1"/>
          <c:order val="1"/>
          <c:tx>
            <c:strRef>
              <c:f>'Proceso de Autoevaluación 2025 '!$BN$22</c:f>
              <c:strCache>
                <c:ptCount val="1"/>
                <c:pt idx="0">
                  <c:v>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'!$BO$22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03-448E-9860-0CE2C05E6DE0}"/>
            </c:ext>
          </c:extLst>
        </c:ser>
        <c:ser>
          <c:idx val="2"/>
          <c:order val="2"/>
          <c:tx>
            <c:strRef>
              <c:f>'Proceso de Autoevaluación 2025 '!$BN$23</c:f>
              <c:strCache>
                <c:ptCount val="1"/>
                <c:pt idx="0">
                  <c:v>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'!$BO$23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603-448E-9860-0CE2C05E6DE0}"/>
            </c:ext>
          </c:extLst>
        </c:ser>
        <c:ser>
          <c:idx val="3"/>
          <c:order val="3"/>
          <c:tx>
            <c:strRef>
              <c:f>'Proceso de Autoevaluación 2025 '!$BN$24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'!$BO$24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603-448E-9860-0CE2C05E6DE0}"/>
            </c:ext>
          </c:extLst>
        </c:ser>
        <c:ser>
          <c:idx val="4"/>
          <c:order val="4"/>
          <c:tx>
            <c:strRef>
              <c:f>'Proceso de Autoevaluación 2025 '!$BN$25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'!$BO$25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603-448E-9860-0CE2C05E6DE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59414968"/>
        <c:axId val="559411368"/>
      </c:barChart>
      <c:catAx>
        <c:axId val="5594149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59411368"/>
        <c:crosses val="autoZero"/>
        <c:auto val="1"/>
        <c:lblAlgn val="ctr"/>
        <c:lblOffset val="100"/>
        <c:noMultiLvlLbl val="0"/>
      </c:catAx>
      <c:valAx>
        <c:axId val="559411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59414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 sz="1400" b="0" i="0" u="none" strike="noStrike" cap="none" baseline="0">
                <a:effectLst/>
              </a:rPr>
              <a:t>Considero que el proceso de evaluación y autorregulación de la Maestría en Ciencias de la Información y las Comunicaciones tiene en cuenta de manera efectiva las necesidades y expectativas de los estudiantes</a:t>
            </a:r>
            <a:endParaRPr lang="es-CO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'!$BQ$21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'!$BR$21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FE-481F-8442-07E2BACE8FAB}"/>
            </c:ext>
          </c:extLst>
        </c:ser>
        <c:ser>
          <c:idx val="1"/>
          <c:order val="1"/>
          <c:tx>
            <c:strRef>
              <c:f>'Proceso de Autoevaluación 2025 '!$BQ$22</c:f>
              <c:strCache>
                <c:ptCount val="1"/>
                <c:pt idx="0">
                  <c:v>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'!$BR$22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FE-481F-8442-07E2BACE8FAB}"/>
            </c:ext>
          </c:extLst>
        </c:ser>
        <c:ser>
          <c:idx val="2"/>
          <c:order val="2"/>
          <c:tx>
            <c:strRef>
              <c:f>'Proceso de Autoevaluación 2025 '!$BQ$23</c:f>
              <c:strCache>
                <c:ptCount val="1"/>
                <c:pt idx="0">
                  <c:v>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'!$BR$23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2FE-481F-8442-07E2BACE8FAB}"/>
            </c:ext>
          </c:extLst>
        </c:ser>
        <c:ser>
          <c:idx val="3"/>
          <c:order val="3"/>
          <c:tx>
            <c:strRef>
              <c:f>'Proceso de Autoevaluación 2025 '!$BQ$24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'!$BR$24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2FE-481F-8442-07E2BACE8FAB}"/>
            </c:ext>
          </c:extLst>
        </c:ser>
        <c:ser>
          <c:idx val="4"/>
          <c:order val="4"/>
          <c:tx>
            <c:strRef>
              <c:f>'Proceso de Autoevaluación 2025 '!$BQ$25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'!$BR$25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FE-481F-8442-07E2BACE8FA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36440408"/>
        <c:axId val="636439328"/>
      </c:barChart>
      <c:catAx>
        <c:axId val="6364404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36439328"/>
        <c:crosses val="autoZero"/>
        <c:auto val="1"/>
        <c:lblAlgn val="ctr"/>
        <c:lblOffset val="100"/>
        <c:noMultiLvlLbl val="0"/>
      </c:catAx>
      <c:valAx>
        <c:axId val="636439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36440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Considero que las intervenciones y el apoyo proporcionados para alertar de forma temprana a los estudiantes, han sido útiles para mejorar tu rendimiento académico y facilitar tu progreso hacia la graduación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'!$BW$21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'!$BX$21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47-410D-8B35-AA1A461A9A63}"/>
            </c:ext>
          </c:extLst>
        </c:ser>
        <c:ser>
          <c:idx val="1"/>
          <c:order val="1"/>
          <c:tx>
            <c:strRef>
              <c:f>'Proceso de Autoevaluación 2025 '!$BW$22</c:f>
              <c:strCache>
                <c:ptCount val="1"/>
                <c:pt idx="0">
                  <c:v>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'!$BX$22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47-410D-8B35-AA1A461A9A63}"/>
            </c:ext>
          </c:extLst>
        </c:ser>
        <c:ser>
          <c:idx val="2"/>
          <c:order val="2"/>
          <c:tx>
            <c:strRef>
              <c:f>'Proceso de Autoevaluación 2025 '!$BW$23</c:f>
              <c:strCache>
                <c:ptCount val="1"/>
                <c:pt idx="0">
                  <c:v>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'!$BX$23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247-410D-8B35-AA1A461A9A63}"/>
            </c:ext>
          </c:extLst>
        </c:ser>
        <c:ser>
          <c:idx val="3"/>
          <c:order val="3"/>
          <c:tx>
            <c:strRef>
              <c:f>'Proceso de Autoevaluación 2025 '!$BW$24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'!$BX$24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247-410D-8B35-AA1A461A9A63}"/>
            </c:ext>
          </c:extLst>
        </c:ser>
        <c:ser>
          <c:idx val="4"/>
          <c:order val="4"/>
          <c:tx>
            <c:strRef>
              <c:f>'Proceso de Autoevaluación 2025 '!$BW$25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'!$BX$25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247-410D-8B35-AA1A461A9A6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79302264"/>
        <c:axId val="679305504"/>
      </c:barChart>
      <c:catAx>
        <c:axId val="679302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79305504"/>
        <c:crosses val="autoZero"/>
        <c:auto val="1"/>
        <c:lblAlgn val="ctr"/>
        <c:lblOffset val="100"/>
        <c:noMultiLvlLbl val="0"/>
      </c:catAx>
      <c:valAx>
        <c:axId val="679305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79302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Considero que las políticas, programas y servicios de bienestar implementados en la Maestría en Ciencias de la Información y las Comunicaciones son coherentes con las condiciones y necesidades específicas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'!$CC$21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'!$CD$21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A6-4E1B-840E-E7F09F58DBD3}"/>
            </c:ext>
          </c:extLst>
        </c:ser>
        <c:ser>
          <c:idx val="1"/>
          <c:order val="1"/>
          <c:tx>
            <c:strRef>
              <c:f>'Proceso de Autoevaluación 2025 '!$CC$22</c:f>
              <c:strCache>
                <c:ptCount val="1"/>
                <c:pt idx="0">
                  <c:v>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'!$CD$22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A6-4E1B-840E-E7F09F58DBD3}"/>
            </c:ext>
          </c:extLst>
        </c:ser>
        <c:ser>
          <c:idx val="2"/>
          <c:order val="2"/>
          <c:tx>
            <c:strRef>
              <c:f>'Proceso de Autoevaluación 2025 '!$CC$23</c:f>
              <c:strCache>
                <c:ptCount val="1"/>
                <c:pt idx="0">
                  <c:v>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'!$CD$23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2A6-4E1B-840E-E7F09F58DBD3}"/>
            </c:ext>
          </c:extLst>
        </c:ser>
        <c:ser>
          <c:idx val="3"/>
          <c:order val="3"/>
          <c:tx>
            <c:strRef>
              <c:f>'Proceso de Autoevaluación 2025 '!$CC$24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'!$CD$24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2A6-4E1B-840E-E7F09F58DBD3}"/>
            </c:ext>
          </c:extLst>
        </c:ser>
        <c:ser>
          <c:idx val="4"/>
          <c:order val="4"/>
          <c:tx>
            <c:strRef>
              <c:f>'Proceso de Autoevaluación 2025 '!$CC$25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'!$CD$25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2A6-4E1B-840E-E7F09F58DBD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60875088"/>
        <c:axId val="660874368"/>
      </c:barChart>
      <c:catAx>
        <c:axId val="660875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60874368"/>
        <c:crosses val="autoZero"/>
        <c:auto val="1"/>
        <c:lblAlgn val="ctr"/>
        <c:lblOffset val="100"/>
        <c:noMultiLvlLbl val="0"/>
      </c:catAx>
      <c:valAx>
        <c:axId val="660874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60875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Considero que el acompañamiento proporcionado en la Maestría en Ciencias de la Información y las Comunicaciones facilita una comunicación efectiva y una interacción constructiva entre profesores y estudiantes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'!$CF$21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'!$CG$21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1B-4ABE-86E2-B32319DADB4F}"/>
            </c:ext>
          </c:extLst>
        </c:ser>
        <c:ser>
          <c:idx val="1"/>
          <c:order val="1"/>
          <c:tx>
            <c:strRef>
              <c:f>'Proceso de Autoevaluación 2025 '!$CF$22</c:f>
              <c:strCache>
                <c:ptCount val="1"/>
                <c:pt idx="0">
                  <c:v>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'!$CG$22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21B-4ABE-86E2-B32319DADB4F}"/>
            </c:ext>
          </c:extLst>
        </c:ser>
        <c:ser>
          <c:idx val="2"/>
          <c:order val="2"/>
          <c:tx>
            <c:strRef>
              <c:f>'Proceso de Autoevaluación 2025 '!$CF$23</c:f>
              <c:strCache>
                <c:ptCount val="1"/>
                <c:pt idx="0">
                  <c:v>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'!$CG$23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21B-4ABE-86E2-B32319DADB4F}"/>
            </c:ext>
          </c:extLst>
        </c:ser>
        <c:ser>
          <c:idx val="3"/>
          <c:order val="3"/>
          <c:tx>
            <c:strRef>
              <c:f>'Proceso de Autoevaluación 2025 '!$CF$24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'!$CG$24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21B-4ABE-86E2-B32319DADB4F}"/>
            </c:ext>
          </c:extLst>
        </c:ser>
        <c:ser>
          <c:idx val="4"/>
          <c:order val="4"/>
          <c:tx>
            <c:strRef>
              <c:f>'Proceso de Autoevaluación 2025 '!$CF$25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'!$CG$25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21B-4ABE-86E2-B32319DADB4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41782000"/>
        <c:axId val="641776960"/>
      </c:barChart>
      <c:catAx>
        <c:axId val="641782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41776960"/>
        <c:crosses val="autoZero"/>
        <c:auto val="1"/>
        <c:lblAlgn val="ctr"/>
        <c:lblOffset val="100"/>
        <c:noMultiLvlLbl val="0"/>
      </c:catAx>
      <c:valAx>
        <c:axId val="641776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41782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Creo que los procesos administrativos están orientados adecuadamente y son eficaces para apoyar el desarrollo integral de las labores formativas, académicas, docentes, científicas, culturales y de ext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'!$CO$21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'!$CP$21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AB-4488-B08A-BB6616B0D9C4}"/>
            </c:ext>
          </c:extLst>
        </c:ser>
        <c:ser>
          <c:idx val="1"/>
          <c:order val="1"/>
          <c:tx>
            <c:strRef>
              <c:f>'Proceso de Autoevaluación 2025 '!$CO$22</c:f>
              <c:strCache>
                <c:ptCount val="1"/>
                <c:pt idx="0">
                  <c:v>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'!$CP$22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AB-4488-B08A-BB6616B0D9C4}"/>
            </c:ext>
          </c:extLst>
        </c:ser>
        <c:ser>
          <c:idx val="2"/>
          <c:order val="2"/>
          <c:tx>
            <c:strRef>
              <c:f>'Proceso de Autoevaluación 2025 '!$CO$23</c:f>
              <c:strCache>
                <c:ptCount val="1"/>
                <c:pt idx="0">
                  <c:v>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'!$CP$23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2AB-4488-B08A-BB6616B0D9C4}"/>
            </c:ext>
          </c:extLst>
        </c:ser>
        <c:ser>
          <c:idx val="3"/>
          <c:order val="3"/>
          <c:tx>
            <c:strRef>
              <c:f>'Proceso de Autoevaluación 2025 '!$CO$24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'!$CP$24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2AB-4488-B08A-BB6616B0D9C4}"/>
            </c:ext>
          </c:extLst>
        </c:ser>
        <c:ser>
          <c:idx val="4"/>
          <c:order val="4"/>
          <c:tx>
            <c:strRef>
              <c:f>'Proceso de Autoevaluación 2025 '!$CO$25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'!$CP$25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AB-4488-B08A-BB6616B0D9C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65371232"/>
        <c:axId val="665368712"/>
      </c:barChart>
      <c:catAx>
        <c:axId val="665371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65368712"/>
        <c:crosses val="autoZero"/>
        <c:auto val="1"/>
        <c:lblAlgn val="ctr"/>
        <c:lblOffset val="100"/>
        <c:noMultiLvlLbl val="0"/>
      </c:catAx>
      <c:valAx>
        <c:axId val="665368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65371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Considero que los recursos humanos (profesores, personal administrativo, etc.) disponibles en la Maestría en Ciencias de la Información y las Comunicaciones son suficientes y adecuados para atender el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'!$CR$21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'!$CS$21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6C-4199-A2EF-B0AD8E6E27F6}"/>
            </c:ext>
          </c:extLst>
        </c:ser>
        <c:ser>
          <c:idx val="1"/>
          <c:order val="1"/>
          <c:tx>
            <c:strRef>
              <c:f>'Proceso de Autoevaluación 2025 '!$CR$22</c:f>
              <c:strCache>
                <c:ptCount val="1"/>
                <c:pt idx="0">
                  <c:v>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'!$CS$22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6C-4199-A2EF-B0AD8E6E27F6}"/>
            </c:ext>
          </c:extLst>
        </c:ser>
        <c:ser>
          <c:idx val="2"/>
          <c:order val="2"/>
          <c:tx>
            <c:strRef>
              <c:f>'Proceso de Autoevaluación 2025 '!$CR$23</c:f>
              <c:strCache>
                <c:ptCount val="1"/>
                <c:pt idx="0">
                  <c:v>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'!$CS$23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76C-4199-A2EF-B0AD8E6E27F6}"/>
            </c:ext>
          </c:extLst>
        </c:ser>
        <c:ser>
          <c:idx val="3"/>
          <c:order val="3"/>
          <c:tx>
            <c:strRef>
              <c:f>'Proceso de Autoevaluación 2025 '!$CR$24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'!$CS$24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76C-4199-A2EF-B0AD8E6E27F6}"/>
            </c:ext>
          </c:extLst>
        </c:ser>
        <c:ser>
          <c:idx val="4"/>
          <c:order val="4"/>
          <c:tx>
            <c:strRef>
              <c:f>'Proceso de Autoevaluación 2025 '!$CR$25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'!$CS$25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76C-4199-A2EF-B0AD8E6E27F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65367632"/>
        <c:axId val="665361512"/>
      </c:barChart>
      <c:catAx>
        <c:axId val="665367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65361512"/>
        <c:crosses val="autoZero"/>
        <c:auto val="1"/>
        <c:lblAlgn val="ctr"/>
        <c:lblOffset val="100"/>
        <c:noMultiLvlLbl val="0"/>
      </c:catAx>
      <c:valAx>
        <c:axId val="665361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65367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Considero que los recursos informáticos disponibles, corresponden adecuadamente con las necesidades tecnológicas de la Maestría en Ciencias de la Información y las Comunicaciones y de sus miembros (pr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'!$CU$21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'!$CV$21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DB-4E99-8EA8-2BB74E322973}"/>
            </c:ext>
          </c:extLst>
        </c:ser>
        <c:ser>
          <c:idx val="1"/>
          <c:order val="1"/>
          <c:tx>
            <c:strRef>
              <c:f>'Proceso de Autoevaluación 2025 '!$CU$22</c:f>
              <c:strCache>
                <c:ptCount val="1"/>
                <c:pt idx="0">
                  <c:v>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'!$CV$22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DB-4E99-8EA8-2BB74E322973}"/>
            </c:ext>
          </c:extLst>
        </c:ser>
        <c:ser>
          <c:idx val="2"/>
          <c:order val="2"/>
          <c:tx>
            <c:strRef>
              <c:f>'Proceso de Autoevaluación 2025 '!$CU$23</c:f>
              <c:strCache>
                <c:ptCount val="1"/>
                <c:pt idx="0">
                  <c:v>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'!$CV$23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9DB-4E99-8EA8-2BB74E322973}"/>
            </c:ext>
          </c:extLst>
        </c:ser>
        <c:ser>
          <c:idx val="3"/>
          <c:order val="3"/>
          <c:tx>
            <c:strRef>
              <c:f>'Proceso de Autoevaluación 2025 '!$CU$24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'!$CV$24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9DB-4E99-8EA8-2BB74E322973}"/>
            </c:ext>
          </c:extLst>
        </c:ser>
        <c:ser>
          <c:idx val="4"/>
          <c:order val="4"/>
          <c:tx>
            <c:strRef>
              <c:f>'Proceso de Autoevaluación 2025 '!$CU$25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'!$CV$25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9DB-4E99-8EA8-2BB74E3229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27712000"/>
        <c:axId val="627712720"/>
      </c:barChart>
      <c:catAx>
        <c:axId val="627712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27712720"/>
        <c:crosses val="autoZero"/>
        <c:auto val="1"/>
        <c:lblAlgn val="ctr"/>
        <c:lblOffset val="100"/>
        <c:noMultiLvlLbl val="0"/>
      </c:catAx>
      <c:valAx>
        <c:axId val="627712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27712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¿Considera adecuado que la Maestría tuviera asignaturas cuyo contenido se impartiera un porcentaje en inglés?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1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1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99D-4A31-A5F4-DAD6C7188A62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2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2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99D-4A31-A5F4-DAD6C7188A6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'Proceso de Autoevaluación 2025 '!$CX$21:$CX$22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'Proceso de Autoevaluación 2025 '!$CY$21:$CY$22</c:f>
              <c:numCache>
                <c:formatCode>General</c:formatCode>
                <c:ptCount val="2"/>
                <c:pt idx="0">
                  <c:v>16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99D-4A31-A5F4-DAD6C7188A6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¿Usted imparte asignaturas en la Maestría?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1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1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7983-4DF5-9693-60E50DD54082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2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2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7983-4DF5-9693-60E50DD5408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'Proceso de Autoevaluación 2025 '!$DA$21:$DA$22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'Proceso de Autoevaluación 2025 '!$DB$21:$DB$22</c:f>
              <c:numCache>
                <c:formatCode>General</c:formatCode>
                <c:ptCount val="2"/>
                <c:pt idx="0">
                  <c:v>12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983-4DF5-9693-60E50DD5408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Esta dispuesto a impartir un porcentaje del contenido en ingles.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1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1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2934-4A78-9C48-2556F548B0E9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2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2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934-4A78-9C48-2556F548B0E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'Proceso de Autoevaluación 2025 '!$DD$21:$DD$22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'Proceso de Autoevaluación 2025 '!$DE$21:$DE$22</c:f>
              <c:numCache>
                <c:formatCode>General</c:formatCode>
                <c:ptCount val="2"/>
                <c:pt idx="0">
                  <c:v>10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934-4A78-9C48-2556F548B0E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¿Con que nivel de ingles cuenta usted?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'Proceso de Autoevaluación 2025 '!$DG$21</c:f>
              <c:strCache>
                <c:ptCount val="1"/>
                <c:pt idx="0">
                  <c:v>A1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'!$DH$21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17-45B0-A558-9A646D0B9FE4}"/>
            </c:ext>
          </c:extLst>
        </c:ser>
        <c:ser>
          <c:idx val="1"/>
          <c:order val="1"/>
          <c:tx>
            <c:strRef>
              <c:f>'Proceso de Autoevaluación 2025 '!$DG$22</c:f>
              <c:strCache>
                <c:ptCount val="1"/>
                <c:pt idx="0">
                  <c:v>A2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'!$DH$22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17-45B0-A558-9A646D0B9FE4}"/>
            </c:ext>
          </c:extLst>
        </c:ser>
        <c:ser>
          <c:idx val="2"/>
          <c:order val="2"/>
          <c:tx>
            <c:strRef>
              <c:f>'Proceso de Autoevaluación 2025 '!$DG$23</c:f>
              <c:strCache>
                <c:ptCount val="1"/>
                <c:pt idx="0">
                  <c:v>B1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'!$DH$23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717-45B0-A558-9A646D0B9FE4}"/>
            </c:ext>
          </c:extLst>
        </c:ser>
        <c:ser>
          <c:idx val="3"/>
          <c:order val="3"/>
          <c:tx>
            <c:strRef>
              <c:f>'Proceso de Autoevaluación 2025 '!$DG$24</c:f>
              <c:strCache>
                <c:ptCount val="1"/>
                <c:pt idx="0">
                  <c:v>B2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'!$DH$24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717-45B0-A558-9A646D0B9FE4}"/>
            </c:ext>
          </c:extLst>
        </c:ser>
        <c:ser>
          <c:idx val="4"/>
          <c:order val="4"/>
          <c:tx>
            <c:strRef>
              <c:f>'Proceso de Autoevaluación 2025 '!$DG$25</c:f>
              <c:strCache>
                <c:ptCount val="1"/>
                <c:pt idx="0">
                  <c:v>C1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'!$DH$25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717-45B0-A558-9A646D0B9FE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562249216"/>
        <c:axId val="562249576"/>
      </c:barChart>
      <c:catAx>
        <c:axId val="5622492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62249576"/>
        <c:crosses val="autoZero"/>
        <c:auto val="1"/>
        <c:lblAlgn val="ctr"/>
        <c:lblOffset val="100"/>
        <c:noMultiLvlLbl val="0"/>
      </c:catAx>
      <c:valAx>
        <c:axId val="5622495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in"/>
        <c:minorTickMark val="out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62249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9.xml><?xml version="1.0" encoding="utf-8"?>
<cs:chartStyle xmlns:cs="http://schemas.microsoft.com/office/drawing/2012/chartStyle" xmlns:a="http://schemas.openxmlformats.org/drawingml/2006/main" id="219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820A9D-F0EF-27D0-660C-01F466048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01177C-F7DD-1CF8-0F83-60C234343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4615D9-FF0B-E125-7F80-F5E8D5DB3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BB1B2-4F16-4D8F-8E09-B6FB5BA72501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D60B44-A5C7-3FF4-AC7D-57A9C60AA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C0D725-57C9-4DD7-3B27-A54DB4717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F94B-72A1-4474-B191-BA9BD6CED70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1838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40FA13-9FE2-E306-1DB4-689A72C0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45171A-953E-F2AB-96BB-83A5626B1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CBD61A-9219-098C-AAF8-B3E86908B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BB1B2-4F16-4D8F-8E09-B6FB5BA72501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DCCD71-B3E0-85C4-9E36-AEF824D9E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81F263-3DB7-1055-BF04-4D409E7C7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F94B-72A1-4474-B191-BA9BD6CED70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8924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7F866-08A0-53FD-48FD-322DC464E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E8D1CE-5F25-63DF-DD54-05A4FAF1C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B51A8C-08C1-FBFA-D0F2-C6E963497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BB1B2-4F16-4D8F-8E09-B6FB5BA72501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50BD18-80C7-FF74-07B2-829EFB1E8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91748A-9D8B-17F2-3CC0-72CDF8786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F94B-72A1-4474-B191-BA9BD6CED70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83396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C2041F-CA62-544F-AD43-CCFD580E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C0FD90-0D9C-9043-3822-802694CC5E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869D9F-E756-448E-1199-DC325CC23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399E141-9E41-3A7B-C7C3-48CD2B612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BB1B2-4F16-4D8F-8E09-B6FB5BA72501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44AA5A-C039-5CEE-47A6-7998A8161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B80621-2F0A-2DFD-24EE-662ADB7FC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F94B-72A1-4474-B191-BA9BD6CED70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0811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8614F-230E-D26B-614F-2B410C39D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FC9FF8-56F0-262C-8650-3EE050F58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F341A3-932B-5195-AECD-2131514A8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B8B25B3-6EA4-FEB4-1CA3-F8FEB6B484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E7A5162-DF0D-47B4-3797-F90F6CFA5E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7AE4E33-99BC-2ADD-3CE4-E99B84723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BB1B2-4F16-4D8F-8E09-B6FB5BA72501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B87B861-D3F1-44C5-2D00-39BD37A3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9D4189-DFD8-62E6-4938-D39DF1CAC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F94B-72A1-4474-B191-BA9BD6CED70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637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92249-E8CC-A3BE-AA59-A1632B01C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F3F7D5-62F1-3B03-19CF-EB76465DC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BB1B2-4F16-4D8F-8E09-B6FB5BA72501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53A359-4A7A-24A0-F90F-115BF0395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2FDD95D-F8E4-2E05-37EC-89C9D4A2F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F94B-72A1-4474-B191-BA9BD6CED70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0074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A6245D8-492D-AD31-8038-DED135807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BB1B2-4F16-4D8F-8E09-B6FB5BA72501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6786622-44FA-43B1-467F-B1F0F396B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B9FAC8-53F9-CAD8-CE73-77904C046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F94B-72A1-4474-B191-BA9BD6CED70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2974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FA68A5-09B8-33EA-C3C4-91242FF63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AD4A61-DEAF-12CF-952B-CB3B7D6AA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1476FF-7E44-3BE9-5CD4-F37F40E1ED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D41F8B-A7B8-9E4B-91D6-C00DBE630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BB1B2-4F16-4D8F-8E09-B6FB5BA72501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508F49F-395B-5273-CE04-E1CBBDD73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D707A2-3D5B-AF68-7CDC-41C8CAA41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F94B-72A1-4474-B191-BA9BD6CED70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9493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62B675-A382-1E7A-7ABA-28DD92B7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94DBEF4-BFD4-B3D3-C3F4-29D58C654B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042A60-F633-7C1C-EA8A-DB29798E2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2DD52C-0161-9B5E-CF8F-8FFCDD224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BB1B2-4F16-4D8F-8E09-B6FB5BA72501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54EDB7C-F71A-6435-D173-4EC23F58B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4A35CE-7DC9-635F-B13A-1061019E2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F94B-72A1-4474-B191-BA9BD6CED70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5068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FEE1C7-D13D-0FA7-CE36-FD3EA2341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8083470-184D-AF50-F84B-8099298D7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E8AA2A-D542-13A9-9E9D-75C83C631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BB1B2-4F16-4D8F-8E09-B6FB5BA72501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EF1797-487E-CD57-C149-341F5D140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4A5C01-C59F-0939-A1DB-69CA2589C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F94B-72A1-4474-B191-BA9BD6CED70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4444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85FA7A-1FA1-C3E2-7713-0A6F33DE70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EAE83DC-A4F6-3A71-D50A-9149C894F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C54E3C-5107-964A-DF60-0AF1B187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BB1B2-4F16-4D8F-8E09-B6FB5BA72501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940162-1515-6CCE-1BFB-908601211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9FD807-98EB-6929-0047-2EDD6160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F94B-72A1-4474-B191-BA9BD6CED70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8411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D3681A5-A7A2-F8AD-D221-ACB72D3BB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85AB1C-FACF-8F83-4869-4166C8AE1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11430D-2747-B916-7245-F4C62D6946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BB1B2-4F16-4D8F-8E09-B6FB5BA72501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F2E220-EDB6-19F1-C83D-CCA49163E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9F5B29-F946-5DAA-B68C-36B9BB355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3F94B-72A1-4474-B191-BA9BD6CED70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6602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0FB190-79F9-BF54-D356-268DECC1A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s-ES" sz="3100">
                <a:solidFill>
                  <a:schemeClr val="tx2"/>
                </a:solidFill>
              </a:rPr>
              <a:t>Proceso de Autoevaluación 2025 - Docentes</a:t>
            </a:r>
            <a:endParaRPr lang="es-CO" sz="3100">
              <a:solidFill>
                <a:schemeClr val="tx2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5BDBF5-B7E0-07CA-8B3B-31B53E6FA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endParaRPr lang="es-CO" sz="2000">
              <a:solidFill>
                <a:schemeClr val="tx2"/>
              </a:solidFill>
            </a:endParaRPr>
          </a:p>
        </p:txBody>
      </p:sp>
      <p:pic>
        <p:nvPicPr>
          <p:cNvPr id="7" name="Graphic 6" descr="Aula de clases">
            <a:extLst>
              <a:ext uri="{FF2B5EF4-FFF2-40B4-BE49-F238E27FC236}">
                <a16:creationId xmlns:a16="http://schemas.microsoft.com/office/drawing/2014/main" id="{B8E55C56-A067-4BD0-DD8E-10605EE9F4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1430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94A632-6535-F4AB-1FAB-B246430B9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2BBE7F71-DF37-C110-3D91-D77E51D184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0160760"/>
              </p:ext>
            </p:extLst>
          </p:nvPr>
        </p:nvGraphicFramePr>
        <p:xfrm>
          <a:off x="824361" y="2062252"/>
          <a:ext cx="10538604" cy="38933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10939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BB6BB1-1686-1DD6-C14F-C3E970C96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22693185-7758-DC18-4D44-2E7DBF8D2C1C}"/>
              </a:ext>
              <a:ext uri="{147F2762-F138-4A5C-976F-8EAC2B608ADB}">
                <a16:predDERef xmlns:a16="http://schemas.microsoft.com/office/drawing/2014/main" pred="{2BBE7F71-DF37-C110-3D91-D77E51D184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3935840"/>
              </p:ext>
            </p:extLst>
          </p:nvPr>
        </p:nvGraphicFramePr>
        <p:xfrm>
          <a:off x="838739" y="1875347"/>
          <a:ext cx="10538603" cy="39365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42663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372E9F-2D7F-F824-9843-5CFF929EB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51BD450-C847-CE32-D822-C0E9084934C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72237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1CD725-3B1F-C007-D7E9-1C418FAAF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7AD2DDD5-9344-8895-24CA-015BE134059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06806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FA2DAD-F7A5-8245-0736-D9A002979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0242D6A-03EC-7EAC-A225-91A18E0803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21033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7E759E-61B3-0F65-9952-70D02A714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D9C6EE8C-4F89-B14F-413F-EA2999024B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75351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2E3FF-836C-9159-DE36-C26BF1901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5AF83C6-FBD6-C194-2EF8-B3E123164B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065163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93863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FDC40D-C56C-DDDA-94C7-419EAA7F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020E8F55-47EE-5DA7-371A-C4CEC5BA83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18882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36137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F5B87-0699-1C02-1A9A-DE4A678BC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6236D831-792B-EAC4-12D9-DE400D5733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376206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03634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39736E-83D1-EC5F-A377-DA645A23F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BC790F8B-CF23-E106-B9E0-0A6C4BC920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170155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93836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80452-F045-ED97-C0B7-D2BCC3A7F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3FB976D6-9859-B6D7-8F36-512A74472B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616459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92142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9FD46D-2DBE-585F-6DA5-4E063CEC6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E46D221B-E69C-3880-549F-57F5DB2F0AE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27021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60B546-5628-8F9C-F5D2-E0226F8B4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0942682-CC49-D61F-8ADF-5B034C69FA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927989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72026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48FB3A-503C-0EFB-85BC-058CD6878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3EED7600-C306-D6C7-4973-58069D22C1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935812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04975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A1E6CE-EBA1-BDB6-CE2D-2ECEFF918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C059FE8-B63D-D3B4-FA94-0241DFDC5D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2938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76738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71EE4-0751-CCA3-5DC1-6C6BD7221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DEB51EE-4787-7315-1A4B-F7C68B2BED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862106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11486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A5B57E-2F73-1541-864C-8EC9478F6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231211F-6F75-5881-3138-378DFF9652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43091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45479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C5C1E7-8025-4F4B-352F-BF9FFD578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3261D3CA-069C-A47C-B9A4-2D056A0495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499462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41438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1FDE86-42AE-1E03-B126-66009E651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A389F991-A0CE-2F00-EE0E-437DC1084F4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645160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Tema de Office</vt:lpstr>
      <vt:lpstr>Proceso de Autoevaluación 2025 - Docentes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CAIMAN URQUIJO CAMILO ANDRES</dc:creator>
  <cp:revision>1</cp:revision>
  <dcterms:created xsi:type="dcterms:W3CDTF">2025-04-07T04:06:36Z</dcterms:created>
  <dcterms:modified xsi:type="dcterms:W3CDTF">2025-04-08T17:25:01Z</dcterms:modified>
</cp:coreProperties>
</file>