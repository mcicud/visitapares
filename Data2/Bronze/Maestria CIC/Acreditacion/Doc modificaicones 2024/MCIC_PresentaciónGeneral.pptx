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28" r:id="rId5"/>
    <p:sldId id="263" r:id="rId6"/>
    <p:sldId id="264" r:id="rId7"/>
    <p:sldId id="299" r:id="rId8"/>
    <p:sldId id="312" r:id="rId9"/>
    <p:sldId id="301" r:id="rId10"/>
    <p:sldId id="302" r:id="rId11"/>
    <p:sldId id="300" r:id="rId12"/>
    <p:sldId id="274" r:id="rId13"/>
    <p:sldId id="280" r:id="rId14"/>
    <p:sldId id="316" r:id="rId15"/>
    <p:sldId id="329" r:id="rId16"/>
    <p:sldId id="330" r:id="rId17"/>
    <p:sldId id="331" r:id="rId18"/>
    <p:sldId id="332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son Vera" initials="NV" lastIdx="1" clrIdx="0">
    <p:extLst>
      <p:ext uri="{19B8F6BF-5375-455C-9EA6-DF929625EA0E}">
        <p15:presenceInfo xmlns:p15="http://schemas.microsoft.com/office/powerpoint/2012/main" userId="c1babb5aaf7dc19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000"/>
    <a:srgbClr val="767171"/>
    <a:srgbClr val="EAEFF7"/>
    <a:srgbClr val="2E75B6"/>
    <a:srgbClr val="FFFFFF"/>
    <a:srgbClr val="D6DCE5"/>
    <a:srgbClr val="1F4E79"/>
    <a:srgbClr val="015986"/>
    <a:srgbClr val="DEEBF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80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83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26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574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214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765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943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888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697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567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481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B96FF-F013-4B72-B217-7318E88468C5}" type="datetimeFigureOut">
              <a:rPr lang="es-CO" smtClean="0"/>
              <a:t>19/06/2024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A4344-3881-4C91-B8D3-4A04024ACD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39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udistritaleduco-my.sharepoint.com/:w:/g/personal/mcic_investigacion_udistrital_edu_co/EYiCJsNYcjBLqDvRPoiAA18B7-W9SUvcjtGHhFEddH7bUw?e=8lYOU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gral.udistrital.edu.co/xdata/rec/res_2006-185.pdf" TargetMode="External"/><Relationship Id="rId2" Type="http://schemas.openxmlformats.org/officeDocument/2006/relationships/hyperlink" Target="mailto:bienestarud@udistrital.edu.c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cic.investigacion@udistrital.edu.co" TargetMode="External"/><Relationship Id="rId4" Type="http://schemas.openxmlformats.org/officeDocument/2006/relationships/hyperlink" Target="mailto:mcic.profundizacion@udistrital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A12A38F-4237-427B-9FE7-89DA6E9C4A6D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984505-7E43-431D-9020-1BE09D8B8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96DBC9-A5AB-4471-9E1D-70B63B04C9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281" y="1610445"/>
            <a:ext cx="4494638" cy="363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7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586784" y="1605348"/>
            <a:ext cx="90184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 dirty="0"/>
              <a:t>PRESENTACIÓN GENERAL DEL PROYECTO CURRICULAR</a:t>
            </a:r>
          </a:p>
          <a:p>
            <a:pPr algn="ctr"/>
            <a:r>
              <a:rPr lang="es-CO" sz="2400" dirty="0"/>
              <a:t>MAESTRÍA EN CIENCIAS DE LA INFORMACIÓN Y LAS COMUNICACIONES</a:t>
            </a:r>
          </a:p>
          <a:p>
            <a:pPr algn="ctr"/>
            <a:r>
              <a:rPr lang="es-CO" sz="2400" dirty="0"/>
              <a:t>ACREDITADA DE ALTA CALIDAD 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749500" y="3424014"/>
            <a:ext cx="7050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/>
              <a:t>COORDINADOR: LEONARDO PLAZAS PhD</a:t>
            </a:r>
          </a:p>
          <a:p>
            <a:pPr algn="ctr"/>
            <a:r>
              <a:rPr lang="es-CO" sz="2400" dirty="0"/>
              <a:t>ASISTENTE: ALISON K. RUBIANO Esp.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809D89-B8E5-4AFF-B348-597D903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25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3371770" y="463791"/>
            <a:ext cx="1447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800" dirty="0"/>
              <a:t>AGENDA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433276" y="2255684"/>
            <a:ext cx="73254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es-CO" sz="2800" dirty="0"/>
              <a:t>INFORMACIÓN GENERAL</a:t>
            </a:r>
          </a:p>
          <a:p>
            <a:pPr marL="514350" indent="-514350" algn="just">
              <a:buAutoNum type="arabicPeriod"/>
            </a:pPr>
            <a:r>
              <a:rPr lang="es-CO" sz="2800" dirty="0"/>
              <a:t>ESTRUCTURA CURRICULAR</a:t>
            </a:r>
          </a:p>
          <a:p>
            <a:pPr marL="514350" indent="-514350" algn="just">
              <a:buAutoNum type="arabicPeriod"/>
            </a:pPr>
            <a:r>
              <a:rPr lang="es-CO" sz="2800" dirty="0"/>
              <a:t>ASPECTOS ACADÉMICOS</a:t>
            </a:r>
          </a:p>
          <a:p>
            <a:pPr marL="514350" indent="-514350" algn="just">
              <a:buAutoNum type="arabicPeriod"/>
            </a:pPr>
            <a:r>
              <a:rPr lang="es-CO" sz="2800" dirty="0"/>
              <a:t>PROCESO ADMISION</a:t>
            </a:r>
          </a:p>
          <a:p>
            <a:pPr marL="514350" indent="-514350" algn="just">
              <a:buAutoNum type="arabicPeriod"/>
            </a:pPr>
            <a:r>
              <a:rPr lang="es-CO" sz="2800" dirty="0"/>
              <a:t>PREGUNTAS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4D40D2-135B-4ED9-8FD4-9603090988D7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ECE2B-67F0-4F06-A1A0-CFC133E8E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90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672" y="106562"/>
            <a:ext cx="1938847" cy="820247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0" y="5705475"/>
            <a:ext cx="12192000" cy="82024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UNIVERSIDAD DISTRITAL FRANCISCO JOSÉ DE CALDAS - 2024    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E23B78-3DFC-46F3-A2F7-A3488624E7F9}"/>
              </a:ext>
            </a:extLst>
          </p:cNvPr>
          <p:cNvSpPr txBox="1"/>
          <p:nvPr/>
        </p:nvSpPr>
        <p:spPr>
          <a:xfrm>
            <a:off x="405691" y="355153"/>
            <a:ext cx="6907853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CO" sz="2800" dirty="0"/>
              <a:t>ACREDITACIÓN DE ALTA CALIDAD CNA</a:t>
            </a:r>
          </a:p>
          <a:p>
            <a:r>
              <a:rPr lang="es-CO" sz="2800" dirty="0"/>
              <a:t>Resolución No. 024858, 30 de Diciembre 2022</a:t>
            </a:r>
          </a:p>
          <a:p>
            <a:r>
              <a:rPr lang="es-CO" sz="2800" dirty="0"/>
              <a:t>Duración 4 años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859618" y="1619306"/>
            <a:ext cx="7926588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REGISTRO CALIFICADO MCIC EN PROFUNDIZACIÓN</a:t>
            </a:r>
          </a:p>
          <a:p>
            <a:pPr algn="ctr"/>
            <a:r>
              <a:rPr lang="es-CO" sz="2800" dirty="0"/>
              <a:t>Resolución No. 09925 21 de Junio 2023</a:t>
            </a:r>
          </a:p>
          <a:p>
            <a:pPr algn="ctr"/>
            <a:r>
              <a:rPr lang="es-CO" sz="2800" dirty="0"/>
              <a:t>Duración 7 años – 40 estudiantes por cohorte</a:t>
            </a:r>
          </a:p>
          <a:p>
            <a:pPr algn="ctr"/>
            <a:r>
              <a:rPr lang="es-CO" sz="2800" dirty="0"/>
              <a:t>SNIES 116070</a:t>
            </a:r>
          </a:p>
          <a:p>
            <a:pPr algn="ctr"/>
            <a:endParaRPr lang="es-CO" sz="2800" dirty="0"/>
          </a:p>
          <a:p>
            <a:pPr algn="ctr"/>
            <a:r>
              <a:rPr lang="es-CO" sz="2800" b="1" dirty="0"/>
              <a:t>REGISTRO CALIFICADO MCIC EN INVESTIGACIÓN</a:t>
            </a:r>
          </a:p>
          <a:p>
            <a:pPr algn="ctr"/>
            <a:r>
              <a:rPr lang="es-CO" sz="2800" dirty="0"/>
              <a:t>Resolución No. 016163 05 de Septiembre 2023</a:t>
            </a:r>
          </a:p>
          <a:p>
            <a:pPr algn="ctr"/>
            <a:r>
              <a:rPr lang="es-CO" sz="2800" dirty="0"/>
              <a:t>Duración 7 años – 40 estudiantes por cohorte</a:t>
            </a:r>
          </a:p>
          <a:p>
            <a:pPr algn="ctr"/>
            <a:r>
              <a:rPr lang="es-CO" sz="2800" dirty="0"/>
              <a:t>SNIES 17528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C80841-AD50-4CBD-8A20-E4C2B52F30DA}"/>
              </a:ext>
            </a:extLst>
          </p:cNvPr>
          <p:cNvSpPr txBox="1"/>
          <p:nvPr/>
        </p:nvSpPr>
        <p:spPr>
          <a:xfrm>
            <a:off x="265814" y="3168813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es-CO" sz="1800" dirty="0"/>
              <a:t>INFORMACIÓN GENERAL</a:t>
            </a:r>
          </a:p>
        </p:txBody>
      </p:sp>
    </p:spTree>
    <p:extLst>
      <p:ext uri="{BB962C8B-B14F-4D97-AF65-F5344CB8AC3E}">
        <p14:creationId xmlns:p14="http://schemas.microsoft.com/office/powerpoint/2010/main" val="251473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343734" y="4626984"/>
            <a:ext cx="5496332" cy="69299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10" name="Rectángulo redondeado 9"/>
          <p:cNvSpPr/>
          <p:nvPr/>
        </p:nvSpPr>
        <p:spPr>
          <a:xfrm>
            <a:off x="472321" y="4736426"/>
            <a:ext cx="1712311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Teleinformática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2303695" y="4736426"/>
            <a:ext cx="1324566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Geomática</a:t>
            </a:r>
          </a:p>
        </p:txBody>
      </p:sp>
      <p:sp>
        <p:nvSpPr>
          <p:cNvPr id="12" name="Rectángulo redondeado 11"/>
          <p:cNvSpPr/>
          <p:nvPr/>
        </p:nvSpPr>
        <p:spPr>
          <a:xfrm>
            <a:off x="3756257" y="4736426"/>
            <a:ext cx="1894104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Ing. de Software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338971" y="2564141"/>
            <a:ext cx="5501094" cy="194854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14" name="Rectángulo redondeado 13"/>
          <p:cNvSpPr/>
          <p:nvPr/>
        </p:nvSpPr>
        <p:spPr>
          <a:xfrm>
            <a:off x="480656" y="2675971"/>
            <a:ext cx="5207537" cy="360687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Fundamentales (8 créditos)</a:t>
            </a:r>
          </a:p>
        </p:txBody>
      </p:sp>
      <p:sp>
        <p:nvSpPr>
          <p:cNvPr id="15" name="Rectángulo redondeado 14"/>
          <p:cNvSpPr/>
          <p:nvPr/>
        </p:nvSpPr>
        <p:spPr>
          <a:xfrm>
            <a:off x="461606" y="3545218"/>
            <a:ext cx="5218702" cy="396093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Profundización (12 créditos)</a:t>
            </a:r>
          </a:p>
        </p:txBody>
      </p:sp>
      <p:sp>
        <p:nvSpPr>
          <p:cNvPr id="16" name="Rectángulo redondeado 15"/>
          <p:cNvSpPr/>
          <p:nvPr/>
        </p:nvSpPr>
        <p:spPr>
          <a:xfrm>
            <a:off x="469941" y="3091810"/>
            <a:ext cx="5207537" cy="396093"/>
          </a:xfrm>
          <a:prstGeom prst="roundRect">
            <a:avLst/>
          </a:prstGeom>
          <a:solidFill>
            <a:srgbClr val="7F6000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Investigación (16 créditos)</a:t>
            </a:r>
          </a:p>
        </p:txBody>
      </p:sp>
      <p:sp>
        <p:nvSpPr>
          <p:cNvPr id="17" name="Rectángulo redondeado 16"/>
          <p:cNvSpPr/>
          <p:nvPr/>
        </p:nvSpPr>
        <p:spPr>
          <a:xfrm>
            <a:off x="450484" y="4019348"/>
            <a:ext cx="5226994" cy="399709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Electivos (8 créditos)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587759" y="488846"/>
            <a:ext cx="7362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- General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47" name="Rectángulo 46">
            <a:extLst>
              <a:ext uri="{FF2B5EF4-FFF2-40B4-BE49-F238E27FC236}">
                <a16:creationId xmlns:a16="http://schemas.microsoft.com/office/drawing/2014/main" id="{593E874A-C980-4D7D-90A7-6D9508C35176}"/>
              </a:ext>
            </a:extLst>
          </p:cNvPr>
          <p:cNvSpPr/>
          <p:nvPr/>
        </p:nvSpPr>
        <p:spPr>
          <a:xfrm>
            <a:off x="6392129" y="4626984"/>
            <a:ext cx="5496332" cy="69299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49" name="Rectángulo redondeado 9">
            <a:extLst>
              <a:ext uri="{FF2B5EF4-FFF2-40B4-BE49-F238E27FC236}">
                <a16:creationId xmlns:a16="http://schemas.microsoft.com/office/drawing/2014/main" id="{F9EE6841-F162-4D90-A3D8-92C30AB8C641}"/>
              </a:ext>
            </a:extLst>
          </p:cNvPr>
          <p:cNvSpPr/>
          <p:nvPr/>
        </p:nvSpPr>
        <p:spPr>
          <a:xfrm>
            <a:off x="6520716" y="4736426"/>
            <a:ext cx="1712311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Teleinformática</a:t>
            </a:r>
          </a:p>
        </p:txBody>
      </p:sp>
      <p:sp>
        <p:nvSpPr>
          <p:cNvPr id="51" name="Rectángulo redondeado 10">
            <a:extLst>
              <a:ext uri="{FF2B5EF4-FFF2-40B4-BE49-F238E27FC236}">
                <a16:creationId xmlns:a16="http://schemas.microsoft.com/office/drawing/2014/main" id="{9F512F29-1C61-4EEF-A059-478F03F150DE}"/>
              </a:ext>
            </a:extLst>
          </p:cNvPr>
          <p:cNvSpPr/>
          <p:nvPr/>
        </p:nvSpPr>
        <p:spPr>
          <a:xfrm>
            <a:off x="8352090" y="4736426"/>
            <a:ext cx="1324566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Geomática</a:t>
            </a:r>
          </a:p>
        </p:txBody>
      </p:sp>
      <p:sp>
        <p:nvSpPr>
          <p:cNvPr id="53" name="Rectángulo redondeado 11">
            <a:extLst>
              <a:ext uri="{FF2B5EF4-FFF2-40B4-BE49-F238E27FC236}">
                <a16:creationId xmlns:a16="http://schemas.microsoft.com/office/drawing/2014/main" id="{6010BEC3-5D5D-4215-B85D-3B2503AB7C33}"/>
              </a:ext>
            </a:extLst>
          </p:cNvPr>
          <p:cNvSpPr/>
          <p:nvPr/>
        </p:nvSpPr>
        <p:spPr>
          <a:xfrm>
            <a:off x="9804652" y="4736426"/>
            <a:ext cx="1894104" cy="500159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Ing. de Software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5481E55-CA76-4F22-802D-29784DEB3A4F}"/>
              </a:ext>
            </a:extLst>
          </p:cNvPr>
          <p:cNvSpPr/>
          <p:nvPr/>
        </p:nvSpPr>
        <p:spPr>
          <a:xfrm>
            <a:off x="6387366" y="2564141"/>
            <a:ext cx="5501094" cy="194854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/>
          </a:p>
        </p:txBody>
      </p:sp>
      <p:sp>
        <p:nvSpPr>
          <p:cNvPr id="57" name="Rectángulo redondeado 13">
            <a:extLst>
              <a:ext uri="{FF2B5EF4-FFF2-40B4-BE49-F238E27FC236}">
                <a16:creationId xmlns:a16="http://schemas.microsoft.com/office/drawing/2014/main" id="{F3E79DC5-36E3-4315-BE20-1A2BBB6D1117}"/>
              </a:ext>
            </a:extLst>
          </p:cNvPr>
          <p:cNvSpPr/>
          <p:nvPr/>
        </p:nvSpPr>
        <p:spPr>
          <a:xfrm>
            <a:off x="6529051" y="2675971"/>
            <a:ext cx="5207537" cy="360687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Fundamentales (8 créditos)</a:t>
            </a:r>
          </a:p>
        </p:txBody>
      </p:sp>
      <p:sp>
        <p:nvSpPr>
          <p:cNvPr id="59" name="Rectángulo redondeado 14">
            <a:extLst>
              <a:ext uri="{FF2B5EF4-FFF2-40B4-BE49-F238E27FC236}">
                <a16:creationId xmlns:a16="http://schemas.microsoft.com/office/drawing/2014/main" id="{D9A1ADA9-22E3-4768-AC1D-A88FA9F0F614}"/>
              </a:ext>
            </a:extLst>
          </p:cNvPr>
          <p:cNvSpPr/>
          <p:nvPr/>
        </p:nvSpPr>
        <p:spPr>
          <a:xfrm>
            <a:off x="6510001" y="3545218"/>
            <a:ext cx="5218702" cy="396093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Profundización (20 créditos)</a:t>
            </a:r>
          </a:p>
        </p:txBody>
      </p:sp>
      <p:sp>
        <p:nvSpPr>
          <p:cNvPr id="61" name="Rectángulo redondeado 15">
            <a:extLst>
              <a:ext uri="{FF2B5EF4-FFF2-40B4-BE49-F238E27FC236}">
                <a16:creationId xmlns:a16="http://schemas.microsoft.com/office/drawing/2014/main" id="{936EC398-3202-49C9-93DF-87910832935E}"/>
              </a:ext>
            </a:extLst>
          </p:cNvPr>
          <p:cNvSpPr/>
          <p:nvPr/>
        </p:nvSpPr>
        <p:spPr>
          <a:xfrm>
            <a:off x="6518336" y="3091810"/>
            <a:ext cx="5207537" cy="396093"/>
          </a:xfrm>
          <a:prstGeom prst="roundRect">
            <a:avLst/>
          </a:prstGeom>
          <a:solidFill>
            <a:srgbClr val="7F6000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Investigación (8 créditos)</a:t>
            </a:r>
          </a:p>
        </p:txBody>
      </p:sp>
      <p:sp>
        <p:nvSpPr>
          <p:cNvPr id="63" name="Rectángulo redondeado 16">
            <a:extLst>
              <a:ext uri="{FF2B5EF4-FFF2-40B4-BE49-F238E27FC236}">
                <a16:creationId xmlns:a16="http://schemas.microsoft.com/office/drawing/2014/main" id="{DC198BF7-AF89-48C3-89EE-54824D82FC59}"/>
              </a:ext>
            </a:extLst>
          </p:cNvPr>
          <p:cNvSpPr/>
          <p:nvPr/>
        </p:nvSpPr>
        <p:spPr>
          <a:xfrm>
            <a:off x="6498879" y="4019348"/>
            <a:ext cx="5226994" cy="399709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Electivos (8 créditos)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EB0A0A0-5BBB-4174-8081-D684626737F2}"/>
              </a:ext>
            </a:extLst>
          </p:cNvPr>
          <p:cNvSpPr/>
          <p:nvPr/>
        </p:nvSpPr>
        <p:spPr>
          <a:xfrm>
            <a:off x="315815" y="1894448"/>
            <a:ext cx="5496332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INVESTIGACIÓN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D2D5098-683B-4818-9DEB-E34A30C1CC1A}"/>
              </a:ext>
            </a:extLst>
          </p:cNvPr>
          <p:cNvSpPr/>
          <p:nvPr/>
        </p:nvSpPr>
        <p:spPr>
          <a:xfrm>
            <a:off x="6392765" y="1903973"/>
            <a:ext cx="5496332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PROFUNDIZACIÓN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6E9A6F-8CB5-4589-9CBC-354422089148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6AF72-B1E9-412C-83C5-15ACB80F2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526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ángulo redondeado 53"/>
          <p:cNvSpPr/>
          <p:nvPr/>
        </p:nvSpPr>
        <p:spPr>
          <a:xfrm>
            <a:off x="9276949" y="2526735"/>
            <a:ext cx="1323975" cy="2629418"/>
          </a:xfrm>
          <a:prstGeom prst="roundRect">
            <a:avLst/>
          </a:prstGeom>
          <a:solidFill>
            <a:srgbClr val="D6DCE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43" name="Rectángulo redondeado 42"/>
          <p:cNvSpPr/>
          <p:nvPr/>
        </p:nvSpPr>
        <p:spPr>
          <a:xfrm>
            <a:off x="7881114" y="2532399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3" name="Rectángulo redondeado 2"/>
          <p:cNvSpPr/>
          <p:nvPr/>
        </p:nvSpPr>
        <p:spPr>
          <a:xfrm>
            <a:off x="6481195" y="2526735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19" name="CuadroTexto 18"/>
          <p:cNvSpPr txBox="1"/>
          <p:nvPr/>
        </p:nvSpPr>
        <p:spPr>
          <a:xfrm>
            <a:off x="551063" y="589522"/>
            <a:ext cx="784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– Semestral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6613553" y="2669397"/>
            <a:ext cx="1071302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2" name="Rectángulo 1"/>
          <p:cNvSpPr/>
          <p:nvPr/>
        </p:nvSpPr>
        <p:spPr>
          <a:xfrm>
            <a:off x="6586844" y="2938700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6601021" y="3871024"/>
            <a:ext cx="1083834" cy="55267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6574311" y="4140327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6613554" y="4464610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Seminario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558269" y="4733913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35" name="Rectángulo redondeado 34"/>
          <p:cNvSpPr/>
          <p:nvPr/>
        </p:nvSpPr>
        <p:spPr>
          <a:xfrm>
            <a:off x="6613554" y="3268867"/>
            <a:ext cx="1083834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36" name="Rectángulo 35"/>
          <p:cNvSpPr/>
          <p:nvPr/>
        </p:nvSpPr>
        <p:spPr>
          <a:xfrm>
            <a:off x="6586844" y="3538170"/>
            <a:ext cx="1142126" cy="179355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37" name="Rectángulo redondeado 36"/>
          <p:cNvSpPr/>
          <p:nvPr/>
        </p:nvSpPr>
        <p:spPr>
          <a:xfrm>
            <a:off x="8013472" y="2675061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38" name="Rectángulo 37"/>
          <p:cNvSpPr/>
          <p:nvPr/>
        </p:nvSpPr>
        <p:spPr>
          <a:xfrm>
            <a:off x="7986763" y="2944364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46" name="Rectángulo redondeado 45"/>
          <p:cNvSpPr/>
          <p:nvPr/>
        </p:nvSpPr>
        <p:spPr>
          <a:xfrm>
            <a:off x="8000940" y="3275171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47" name="Rectángulo 46"/>
          <p:cNvSpPr/>
          <p:nvPr/>
        </p:nvSpPr>
        <p:spPr>
          <a:xfrm>
            <a:off x="7974231" y="3544474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50" name="Rectángulo redondeado 49"/>
          <p:cNvSpPr/>
          <p:nvPr/>
        </p:nvSpPr>
        <p:spPr>
          <a:xfrm>
            <a:off x="9410894" y="3270235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51" name="Rectángulo 50"/>
          <p:cNvSpPr/>
          <p:nvPr/>
        </p:nvSpPr>
        <p:spPr>
          <a:xfrm>
            <a:off x="9384184" y="3539538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52" name="Rectángulo redondeado 51"/>
          <p:cNvSpPr/>
          <p:nvPr/>
        </p:nvSpPr>
        <p:spPr>
          <a:xfrm>
            <a:off x="9423427" y="3863821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Tesis I</a:t>
            </a:r>
          </a:p>
        </p:txBody>
      </p:sp>
      <p:sp>
        <p:nvSpPr>
          <p:cNvPr id="53" name="Rectángulo 52"/>
          <p:cNvSpPr/>
          <p:nvPr/>
        </p:nvSpPr>
        <p:spPr>
          <a:xfrm>
            <a:off x="9368142" y="4133124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57" name="Rectángulo redondeado 56"/>
          <p:cNvSpPr/>
          <p:nvPr/>
        </p:nvSpPr>
        <p:spPr>
          <a:xfrm>
            <a:off x="10736815" y="2662361"/>
            <a:ext cx="1159778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Fundamentales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10723754" y="2931664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59" name="Rectángulo redondeado 58"/>
          <p:cNvSpPr/>
          <p:nvPr/>
        </p:nvSpPr>
        <p:spPr>
          <a:xfrm>
            <a:off x="10736815" y="3265384"/>
            <a:ext cx="1159778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60" name="Rectángulo 59"/>
          <p:cNvSpPr/>
          <p:nvPr/>
        </p:nvSpPr>
        <p:spPr>
          <a:xfrm>
            <a:off x="10723754" y="3534687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20 Créditos</a:t>
            </a:r>
          </a:p>
        </p:txBody>
      </p:sp>
      <p:sp>
        <p:nvSpPr>
          <p:cNvPr id="63" name="Rectángulo redondeado 62"/>
          <p:cNvSpPr/>
          <p:nvPr/>
        </p:nvSpPr>
        <p:spPr>
          <a:xfrm>
            <a:off x="10736815" y="3869652"/>
            <a:ext cx="1159778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Electivas</a:t>
            </a:r>
          </a:p>
        </p:txBody>
      </p:sp>
      <p:sp>
        <p:nvSpPr>
          <p:cNvPr id="64" name="Rectángulo 63"/>
          <p:cNvSpPr/>
          <p:nvPr/>
        </p:nvSpPr>
        <p:spPr>
          <a:xfrm>
            <a:off x="10723754" y="4138955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65" name="Rectángulo redondeado 64"/>
          <p:cNvSpPr/>
          <p:nvPr/>
        </p:nvSpPr>
        <p:spPr>
          <a:xfrm>
            <a:off x="10740181" y="4489644"/>
            <a:ext cx="1159778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Investigación</a:t>
            </a:r>
          </a:p>
        </p:txBody>
      </p:sp>
      <p:sp>
        <p:nvSpPr>
          <p:cNvPr id="66" name="Rectángulo 65"/>
          <p:cNvSpPr/>
          <p:nvPr/>
        </p:nvSpPr>
        <p:spPr>
          <a:xfrm>
            <a:off x="10727120" y="4758947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67" name="Rectángulo 66"/>
          <p:cNvSpPr/>
          <p:nvPr/>
        </p:nvSpPr>
        <p:spPr>
          <a:xfrm>
            <a:off x="6612530" y="5215962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PRIMER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68" name="Rectángulo 67"/>
          <p:cNvSpPr/>
          <p:nvPr/>
        </p:nvSpPr>
        <p:spPr>
          <a:xfrm>
            <a:off x="7966345" y="5215962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SEGUNDO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69" name="Rectángulo 68"/>
          <p:cNvSpPr/>
          <p:nvPr/>
        </p:nvSpPr>
        <p:spPr>
          <a:xfrm>
            <a:off x="9345035" y="5205719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TERCER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70" name="Rectángulo redondeado 69"/>
          <p:cNvSpPr/>
          <p:nvPr/>
        </p:nvSpPr>
        <p:spPr>
          <a:xfrm>
            <a:off x="3151459" y="2498527"/>
            <a:ext cx="1323975" cy="2629418"/>
          </a:xfrm>
          <a:prstGeom prst="roundRect">
            <a:avLst/>
          </a:prstGeom>
          <a:solidFill>
            <a:srgbClr val="D6DCE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71" name="Rectángulo redondeado 70"/>
          <p:cNvSpPr/>
          <p:nvPr/>
        </p:nvSpPr>
        <p:spPr>
          <a:xfrm>
            <a:off x="1755624" y="2504191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72" name="Rectángulo redondeado 71"/>
          <p:cNvSpPr/>
          <p:nvPr/>
        </p:nvSpPr>
        <p:spPr>
          <a:xfrm>
            <a:off x="355705" y="2498527"/>
            <a:ext cx="1323975" cy="26294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73" name="Rectángulo redondeado 72"/>
          <p:cNvSpPr/>
          <p:nvPr/>
        </p:nvSpPr>
        <p:spPr>
          <a:xfrm>
            <a:off x="488063" y="2641189"/>
            <a:ext cx="1071302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74" name="Rectángulo 73"/>
          <p:cNvSpPr/>
          <p:nvPr/>
        </p:nvSpPr>
        <p:spPr>
          <a:xfrm>
            <a:off x="461354" y="2910492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75" name="Rectángulo redondeado 74"/>
          <p:cNvSpPr/>
          <p:nvPr/>
        </p:nvSpPr>
        <p:spPr>
          <a:xfrm>
            <a:off x="475531" y="3842816"/>
            <a:ext cx="1083834" cy="55267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76" name="Rectángulo 75"/>
          <p:cNvSpPr/>
          <p:nvPr/>
        </p:nvSpPr>
        <p:spPr>
          <a:xfrm>
            <a:off x="448821" y="4112119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77" name="Rectángulo redondeado 76"/>
          <p:cNvSpPr/>
          <p:nvPr/>
        </p:nvSpPr>
        <p:spPr>
          <a:xfrm>
            <a:off x="488064" y="4436402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Seminario</a:t>
            </a:r>
          </a:p>
        </p:txBody>
      </p:sp>
      <p:sp>
        <p:nvSpPr>
          <p:cNvPr id="78" name="Rectángulo 77"/>
          <p:cNvSpPr/>
          <p:nvPr/>
        </p:nvSpPr>
        <p:spPr>
          <a:xfrm>
            <a:off x="432779" y="4705705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79" name="Rectángulo redondeado 78"/>
          <p:cNvSpPr/>
          <p:nvPr/>
        </p:nvSpPr>
        <p:spPr>
          <a:xfrm>
            <a:off x="488064" y="3240659"/>
            <a:ext cx="1083834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</a:t>
            </a:r>
          </a:p>
        </p:txBody>
      </p:sp>
      <p:sp>
        <p:nvSpPr>
          <p:cNvPr id="80" name="Rectángulo 79"/>
          <p:cNvSpPr/>
          <p:nvPr/>
        </p:nvSpPr>
        <p:spPr>
          <a:xfrm>
            <a:off x="461354" y="3509962"/>
            <a:ext cx="1142126" cy="179355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1" name="Rectángulo redondeado 80"/>
          <p:cNvSpPr/>
          <p:nvPr/>
        </p:nvSpPr>
        <p:spPr>
          <a:xfrm>
            <a:off x="1887982" y="2646853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82" name="Rectángulo 81"/>
          <p:cNvSpPr/>
          <p:nvPr/>
        </p:nvSpPr>
        <p:spPr>
          <a:xfrm>
            <a:off x="1861273" y="2916156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3" name="Rectángulo redondeado 82"/>
          <p:cNvSpPr/>
          <p:nvPr/>
        </p:nvSpPr>
        <p:spPr>
          <a:xfrm>
            <a:off x="1875450" y="3848480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84" name="Rectángulo 83"/>
          <p:cNvSpPr/>
          <p:nvPr/>
        </p:nvSpPr>
        <p:spPr>
          <a:xfrm>
            <a:off x="1848740" y="4117783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5" name="Rectángulo redondeado 84"/>
          <p:cNvSpPr/>
          <p:nvPr/>
        </p:nvSpPr>
        <p:spPr>
          <a:xfrm>
            <a:off x="1887983" y="4442066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Tesis I</a:t>
            </a:r>
          </a:p>
        </p:txBody>
      </p:sp>
      <p:sp>
        <p:nvSpPr>
          <p:cNvPr id="86" name="Rectángulo 85"/>
          <p:cNvSpPr/>
          <p:nvPr/>
        </p:nvSpPr>
        <p:spPr>
          <a:xfrm>
            <a:off x="1832698" y="4711369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7" name="Rectángulo redondeado 86"/>
          <p:cNvSpPr/>
          <p:nvPr/>
        </p:nvSpPr>
        <p:spPr>
          <a:xfrm>
            <a:off x="1875450" y="3246963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88" name="Rectángulo 87"/>
          <p:cNvSpPr/>
          <p:nvPr/>
        </p:nvSpPr>
        <p:spPr>
          <a:xfrm>
            <a:off x="1848741" y="3516266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89" name="Rectángulo redondeado 88"/>
          <p:cNvSpPr/>
          <p:nvPr/>
        </p:nvSpPr>
        <p:spPr>
          <a:xfrm>
            <a:off x="3262297" y="2643590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90" name="Rectángulo 89"/>
          <p:cNvSpPr/>
          <p:nvPr/>
        </p:nvSpPr>
        <p:spPr>
          <a:xfrm>
            <a:off x="3235587" y="2912893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91" name="Rectángulo redondeado 90"/>
          <p:cNvSpPr/>
          <p:nvPr/>
        </p:nvSpPr>
        <p:spPr>
          <a:xfrm>
            <a:off x="3274830" y="3237176"/>
            <a:ext cx="1071302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Defensa tesis</a:t>
            </a:r>
          </a:p>
        </p:txBody>
      </p:sp>
      <p:sp>
        <p:nvSpPr>
          <p:cNvPr id="92" name="Rectángulo 91"/>
          <p:cNvSpPr/>
          <p:nvPr/>
        </p:nvSpPr>
        <p:spPr>
          <a:xfrm>
            <a:off x="3219545" y="3506479"/>
            <a:ext cx="115816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93" name="Rectángulo redondeado 92"/>
          <p:cNvSpPr/>
          <p:nvPr/>
        </p:nvSpPr>
        <p:spPr>
          <a:xfrm>
            <a:off x="4611325" y="2634153"/>
            <a:ext cx="1159778" cy="552678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Fundamentales</a:t>
            </a:r>
          </a:p>
        </p:txBody>
      </p:sp>
      <p:sp>
        <p:nvSpPr>
          <p:cNvPr id="94" name="Rectángulo 93"/>
          <p:cNvSpPr/>
          <p:nvPr/>
        </p:nvSpPr>
        <p:spPr>
          <a:xfrm>
            <a:off x="4598264" y="2903456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95" name="Rectángulo redondeado 94"/>
          <p:cNvSpPr/>
          <p:nvPr/>
        </p:nvSpPr>
        <p:spPr>
          <a:xfrm>
            <a:off x="4611325" y="3237176"/>
            <a:ext cx="1159778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96" name="Rectángulo 95"/>
          <p:cNvSpPr/>
          <p:nvPr/>
        </p:nvSpPr>
        <p:spPr>
          <a:xfrm>
            <a:off x="4598264" y="3506479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12 Créditos</a:t>
            </a:r>
          </a:p>
        </p:txBody>
      </p:sp>
      <p:sp>
        <p:nvSpPr>
          <p:cNvPr id="97" name="Rectángulo redondeado 96"/>
          <p:cNvSpPr/>
          <p:nvPr/>
        </p:nvSpPr>
        <p:spPr>
          <a:xfrm>
            <a:off x="4611325" y="3841444"/>
            <a:ext cx="1159778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Electivas</a:t>
            </a:r>
          </a:p>
        </p:txBody>
      </p:sp>
      <p:sp>
        <p:nvSpPr>
          <p:cNvPr id="98" name="Rectángulo 97"/>
          <p:cNvSpPr/>
          <p:nvPr/>
        </p:nvSpPr>
        <p:spPr>
          <a:xfrm>
            <a:off x="4598264" y="4110747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8 Créditos</a:t>
            </a:r>
          </a:p>
        </p:txBody>
      </p:sp>
      <p:sp>
        <p:nvSpPr>
          <p:cNvPr id="99" name="Rectángulo redondeado 98"/>
          <p:cNvSpPr/>
          <p:nvPr/>
        </p:nvSpPr>
        <p:spPr>
          <a:xfrm>
            <a:off x="4614691" y="4461436"/>
            <a:ext cx="1159778" cy="552678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Investigación</a:t>
            </a:r>
          </a:p>
        </p:txBody>
      </p:sp>
      <p:sp>
        <p:nvSpPr>
          <p:cNvPr id="100" name="Rectángulo 99"/>
          <p:cNvSpPr/>
          <p:nvPr/>
        </p:nvSpPr>
        <p:spPr>
          <a:xfrm>
            <a:off x="4601630" y="4730739"/>
            <a:ext cx="1186487" cy="196344"/>
          </a:xfrm>
          <a:prstGeom prst="rect">
            <a:avLst/>
          </a:prstGeom>
          <a:solidFill>
            <a:schemeClr val="bg1"/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16 Créditos</a:t>
            </a:r>
          </a:p>
        </p:txBody>
      </p:sp>
      <p:sp>
        <p:nvSpPr>
          <p:cNvPr id="101" name="Rectángulo 100"/>
          <p:cNvSpPr/>
          <p:nvPr/>
        </p:nvSpPr>
        <p:spPr>
          <a:xfrm>
            <a:off x="487040" y="5187754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PRIMER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102" name="Rectángulo 101"/>
          <p:cNvSpPr/>
          <p:nvPr/>
        </p:nvSpPr>
        <p:spPr>
          <a:xfrm>
            <a:off x="1840855" y="5187754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SEGUNDO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103" name="Rectángulo 102"/>
          <p:cNvSpPr/>
          <p:nvPr/>
        </p:nvSpPr>
        <p:spPr>
          <a:xfrm>
            <a:off x="3219545" y="5177511"/>
            <a:ext cx="1202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TERCER</a:t>
            </a:r>
          </a:p>
          <a:p>
            <a:pPr algn="ctr"/>
            <a:r>
              <a:rPr lang="es-CO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Stencil" panose="040409050D0802020404" pitchFamily="82" charset="0"/>
              </a:rPr>
              <a:t>SEMESTRE</a:t>
            </a:r>
          </a:p>
        </p:txBody>
      </p:sp>
      <p:sp>
        <p:nvSpPr>
          <p:cNvPr id="104" name="Rectángulo redondeado 103"/>
          <p:cNvSpPr/>
          <p:nvPr/>
        </p:nvSpPr>
        <p:spPr>
          <a:xfrm>
            <a:off x="7991618" y="3890524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105" name="Rectángulo 104"/>
          <p:cNvSpPr/>
          <p:nvPr/>
        </p:nvSpPr>
        <p:spPr>
          <a:xfrm>
            <a:off x="7974231" y="4159639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06" name="Rectángulo redondeado 105"/>
          <p:cNvSpPr/>
          <p:nvPr/>
        </p:nvSpPr>
        <p:spPr>
          <a:xfrm>
            <a:off x="8000940" y="4499804"/>
            <a:ext cx="1083834" cy="552678"/>
          </a:xfrm>
          <a:prstGeom prst="roundRect">
            <a:avLst/>
          </a:prstGeom>
          <a:solidFill>
            <a:srgbClr val="449BAC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Electiva</a:t>
            </a:r>
          </a:p>
        </p:txBody>
      </p:sp>
      <p:sp>
        <p:nvSpPr>
          <p:cNvPr id="107" name="Rectángulo 106"/>
          <p:cNvSpPr/>
          <p:nvPr/>
        </p:nvSpPr>
        <p:spPr>
          <a:xfrm>
            <a:off x="7974230" y="4769107"/>
            <a:ext cx="1142126" cy="171643"/>
          </a:xfrm>
          <a:prstGeom prst="rect">
            <a:avLst/>
          </a:prstGeom>
          <a:solidFill>
            <a:schemeClr val="bg1"/>
          </a:solidFill>
          <a:ln>
            <a:solidFill>
              <a:srgbClr val="449B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08" name="Rectángulo redondeado 107"/>
          <p:cNvSpPr/>
          <p:nvPr/>
        </p:nvSpPr>
        <p:spPr>
          <a:xfrm>
            <a:off x="9410894" y="2663648"/>
            <a:ext cx="1083834" cy="552678"/>
          </a:xfrm>
          <a:prstGeom prst="roundRect">
            <a:avLst/>
          </a:prstGeom>
          <a:solidFill>
            <a:srgbClr val="76717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sz="1050" b="1" dirty="0">
                <a:solidFill>
                  <a:schemeClr val="bg1"/>
                </a:solidFill>
              </a:rPr>
              <a:t>Profundización</a:t>
            </a:r>
          </a:p>
        </p:txBody>
      </p:sp>
      <p:sp>
        <p:nvSpPr>
          <p:cNvPr id="109" name="Rectángulo 108"/>
          <p:cNvSpPr/>
          <p:nvPr/>
        </p:nvSpPr>
        <p:spPr>
          <a:xfrm>
            <a:off x="9397833" y="2932951"/>
            <a:ext cx="1110543" cy="182880"/>
          </a:xfrm>
          <a:prstGeom prst="rect">
            <a:avLst/>
          </a:prstGeom>
          <a:solidFill>
            <a:schemeClr val="bg1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4 Créditos</a:t>
            </a:r>
          </a:p>
        </p:txBody>
      </p:sp>
      <p:sp>
        <p:nvSpPr>
          <p:cNvPr id="110" name="Rectángulo 109"/>
          <p:cNvSpPr/>
          <p:nvPr/>
        </p:nvSpPr>
        <p:spPr>
          <a:xfrm>
            <a:off x="355705" y="2041516"/>
            <a:ext cx="5429046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INVESTIGACIÓN</a:t>
            </a:r>
          </a:p>
        </p:txBody>
      </p:sp>
      <p:sp>
        <p:nvSpPr>
          <p:cNvPr id="111" name="Rectángulo 110"/>
          <p:cNvSpPr/>
          <p:nvPr/>
        </p:nvSpPr>
        <p:spPr>
          <a:xfrm>
            <a:off x="6481195" y="2080089"/>
            <a:ext cx="54153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PROFUNDIZACIÓN</a:t>
            </a:r>
          </a:p>
        </p:txBody>
      </p:sp>
      <p:pic>
        <p:nvPicPr>
          <p:cNvPr id="112" name="Imagen 1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3FAFE1A-337B-4F72-8E8F-906B34D20CE1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60C6D2B-D3C8-450B-92DE-510087C07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55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608912" y="303405"/>
            <a:ext cx="784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– Modalidad/énfasis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graphicFrame>
        <p:nvGraphicFramePr>
          <p:cNvPr id="4" name="Tabla 2">
            <a:extLst>
              <a:ext uri="{FF2B5EF4-FFF2-40B4-BE49-F238E27FC236}">
                <a16:creationId xmlns:a16="http://schemas.microsoft.com/office/drawing/2014/main" id="{36D0179B-DCAB-4370-9B6B-7D0ED7AB5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612708"/>
              </p:ext>
            </p:extLst>
          </p:nvPr>
        </p:nvGraphicFramePr>
        <p:xfrm>
          <a:off x="1057275" y="1580232"/>
          <a:ext cx="9810749" cy="432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724">
                  <a:extLst>
                    <a:ext uri="{9D8B030D-6E8A-4147-A177-3AD203B41FA5}">
                      <a16:colId xmlns:a16="http://schemas.microsoft.com/office/drawing/2014/main" val="1755987637"/>
                    </a:ext>
                  </a:extLst>
                </a:gridCol>
                <a:gridCol w="2595675">
                  <a:extLst>
                    <a:ext uri="{9D8B030D-6E8A-4147-A177-3AD203B41FA5}">
                      <a16:colId xmlns:a16="http://schemas.microsoft.com/office/drawing/2014/main" val="3070755514"/>
                    </a:ext>
                  </a:extLst>
                </a:gridCol>
                <a:gridCol w="2581501">
                  <a:extLst>
                    <a:ext uri="{9D8B030D-6E8A-4147-A177-3AD203B41FA5}">
                      <a16:colId xmlns:a16="http://schemas.microsoft.com/office/drawing/2014/main" val="3251026105"/>
                    </a:ext>
                  </a:extLst>
                </a:gridCol>
                <a:gridCol w="2609849">
                  <a:extLst>
                    <a:ext uri="{9D8B030D-6E8A-4147-A177-3AD203B41FA5}">
                      <a16:colId xmlns:a16="http://schemas.microsoft.com/office/drawing/2014/main" val="1257645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ÉNFASIS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04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INGENIERÍA DE SOFTWARE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GEOMÁTICA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TELEINFORMÁTICA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60460"/>
                  </a:ext>
                </a:extLst>
              </a:tr>
              <a:tr h="560988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Fundamentales 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8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A8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Herramientas matemáticas para le manejo de la información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24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Investigación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16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Seminario de investigación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Tesis I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Defensa de tesis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Profundización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Ing. de  software 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Ing. de  software II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Bases de datos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 err="1"/>
                        <a:t>Tend</a:t>
                      </a:r>
                      <a:r>
                        <a:rPr lang="es-ES" sz="1200" dirty="0"/>
                        <a:t>. de  ing. de </a:t>
                      </a:r>
                      <a:r>
                        <a:rPr lang="es-ES" sz="1200" dirty="0" err="1"/>
                        <a:t>soft</a:t>
                      </a:r>
                      <a:r>
                        <a:rPr lang="es-ES" sz="1200" dirty="0"/>
                        <a:t>.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Patrones y </a:t>
                      </a:r>
                      <a:r>
                        <a:rPr lang="es-ES" sz="1200" dirty="0" err="1"/>
                        <a:t>arq.</a:t>
                      </a:r>
                      <a:r>
                        <a:rPr lang="es-ES" sz="1200" dirty="0"/>
                        <a:t> de </a:t>
                      </a:r>
                      <a:r>
                        <a:rPr lang="es-ES" sz="1200" dirty="0" err="1"/>
                        <a:t>soft</a:t>
                      </a:r>
                      <a:r>
                        <a:rPr lang="es-ES" sz="12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Bases de datos esp.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Análisis espacial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Mét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análisis de </a:t>
                      </a: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Servicios geo. web 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Sist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de </a:t>
                      </a: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geodésico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Comunicaciones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 err="1"/>
                        <a:t>Proc</a:t>
                      </a:r>
                      <a:r>
                        <a:rPr lang="es-ES" sz="1200" dirty="0"/>
                        <a:t>. estocásticos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Mod. Y Sim.  De 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 err="1"/>
                        <a:t>Aplic</a:t>
                      </a:r>
                      <a:r>
                        <a:rPr lang="es-ES" sz="1200" dirty="0"/>
                        <a:t>. sobre la nube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Redes móviles cel. 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1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Electivos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8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9BA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Espacios electivos propias (</a:t>
                      </a:r>
                      <a:r>
                        <a:rPr lang="es-ES" sz="1200" dirty="0"/>
                        <a:t>Big Data, Redes ópticas, Blockchain, Inteligencia computacional, Teoría de la complejidad, Minería de datos, Fundamentos de pruebas de software, Telemedicina y telesalud, etc.</a:t>
                      </a:r>
                      <a:r>
                        <a:rPr lang="es-CO" sz="1200" dirty="0"/>
                        <a:t>),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académicos de profundización de otros énfasis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otras maestrías de la facultad de ingeniería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O" sz="1200" dirty="0"/>
                        <a:t>Espacio académico de las maestrías de las otras facultades de la Universidad (sujeto a aprobación del consejo curricular)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maestrías de otras Universidades (sujeto a aprobación del consejo curricular)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13491"/>
                  </a:ext>
                </a:extLst>
              </a:tr>
            </a:tbl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3A9A0364-3AAA-46F8-B7A1-3728213553E2}"/>
              </a:ext>
            </a:extLst>
          </p:cNvPr>
          <p:cNvSpPr/>
          <p:nvPr/>
        </p:nvSpPr>
        <p:spPr>
          <a:xfrm>
            <a:off x="1747670" y="1098066"/>
            <a:ext cx="4523605" cy="397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INVESTIGACIÓN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56E5BD3-E4D0-4B20-966C-FBE3EF70C7E6}"/>
              </a:ext>
            </a:extLst>
          </p:cNvPr>
          <p:cNvSpPr txBox="1"/>
          <p:nvPr/>
        </p:nvSpPr>
        <p:spPr>
          <a:xfrm>
            <a:off x="997190" y="5938520"/>
            <a:ext cx="99089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dirty="0"/>
              <a:t>Nota: todos los espacios académicos tienen 4 créditos con excepción de Defensa de tesis que tiene 8 créditos.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9CA936-80B4-4530-BADC-B44366F71668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1F691-1F6B-48FA-8F5D-09CEF0659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24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608912" y="303405"/>
            <a:ext cx="784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– Modalidad/énfasis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graphicFrame>
        <p:nvGraphicFramePr>
          <p:cNvPr id="4" name="Tabla 2">
            <a:extLst>
              <a:ext uri="{FF2B5EF4-FFF2-40B4-BE49-F238E27FC236}">
                <a16:creationId xmlns:a16="http://schemas.microsoft.com/office/drawing/2014/main" id="{36D0179B-DCAB-4370-9B6B-7D0ED7AB5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55800"/>
              </p:ext>
            </p:extLst>
          </p:nvPr>
        </p:nvGraphicFramePr>
        <p:xfrm>
          <a:off x="1057275" y="1580232"/>
          <a:ext cx="9810749" cy="416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724">
                  <a:extLst>
                    <a:ext uri="{9D8B030D-6E8A-4147-A177-3AD203B41FA5}">
                      <a16:colId xmlns:a16="http://schemas.microsoft.com/office/drawing/2014/main" val="1755987637"/>
                    </a:ext>
                  </a:extLst>
                </a:gridCol>
                <a:gridCol w="2595675">
                  <a:extLst>
                    <a:ext uri="{9D8B030D-6E8A-4147-A177-3AD203B41FA5}">
                      <a16:colId xmlns:a16="http://schemas.microsoft.com/office/drawing/2014/main" val="3070755514"/>
                    </a:ext>
                  </a:extLst>
                </a:gridCol>
                <a:gridCol w="2581501">
                  <a:extLst>
                    <a:ext uri="{9D8B030D-6E8A-4147-A177-3AD203B41FA5}">
                      <a16:colId xmlns:a16="http://schemas.microsoft.com/office/drawing/2014/main" val="3251026105"/>
                    </a:ext>
                  </a:extLst>
                </a:gridCol>
                <a:gridCol w="2609849">
                  <a:extLst>
                    <a:ext uri="{9D8B030D-6E8A-4147-A177-3AD203B41FA5}">
                      <a16:colId xmlns:a16="http://schemas.microsoft.com/office/drawing/2014/main" val="1257645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ÉNFASIS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04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INGENIERÍA DE SOFTWARE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GEOMÁTICA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 dirty="0">
                          <a:solidFill>
                            <a:schemeClr val="tx1"/>
                          </a:solidFill>
                        </a:rPr>
                        <a:t>TELEINFORMÁTICA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60460"/>
                  </a:ext>
                </a:extLst>
              </a:tr>
              <a:tr h="560988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Fundamentales 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8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A8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Herramientas matemáticas para le manejo de la información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24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Investigación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8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Seminario de investigación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Tesis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Profundización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Ing. de  software 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Ing. de  software II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Bases de datos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 err="1"/>
                        <a:t>Tend</a:t>
                      </a:r>
                      <a:r>
                        <a:rPr lang="es-ES" sz="1200" dirty="0"/>
                        <a:t>. de  ing. de </a:t>
                      </a:r>
                      <a:r>
                        <a:rPr lang="es-ES" sz="1200" dirty="0" err="1"/>
                        <a:t>soft</a:t>
                      </a:r>
                      <a:r>
                        <a:rPr lang="es-ES" sz="1200" dirty="0"/>
                        <a:t>.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Patrones y </a:t>
                      </a:r>
                      <a:r>
                        <a:rPr lang="es-ES" sz="1200" dirty="0" err="1"/>
                        <a:t>arq.</a:t>
                      </a:r>
                      <a:r>
                        <a:rPr lang="es-ES" sz="1200" dirty="0"/>
                        <a:t> de </a:t>
                      </a:r>
                      <a:r>
                        <a:rPr lang="es-ES" sz="1200" dirty="0" err="1"/>
                        <a:t>soft</a:t>
                      </a:r>
                      <a:r>
                        <a:rPr lang="es-ES" sz="12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Bases de datos esp.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Análisis espacial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Mét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análisis de </a:t>
                      </a: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Servicios geo. web 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Sist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de </a:t>
                      </a:r>
                      <a:r>
                        <a:rPr lang="es-CO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geodésico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Comunicaciones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 err="1"/>
                        <a:t>Proc</a:t>
                      </a:r>
                      <a:r>
                        <a:rPr lang="es-ES" sz="1200" dirty="0"/>
                        <a:t>. estocásticos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Mod. Y Sim.  De redes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 err="1"/>
                        <a:t>Aplic</a:t>
                      </a:r>
                      <a:r>
                        <a:rPr lang="es-ES" sz="1200" dirty="0"/>
                        <a:t>. sobre la nube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200" dirty="0"/>
                        <a:t>Redes móviles cel. 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1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</a:rPr>
                        <a:t>Electivos</a:t>
                      </a:r>
                    </a:p>
                    <a:p>
                      <a:pPr algn="ctr"/>
                      <a:r>
                        <a:rPr lang="es-CO" sz="1200" dirty="0">
                          <a:solidFill>
                            <a:schemeClr val="bg1"/>
                          </a:solidFill>
                        </a:rPr>
                        <a:t>8 créditos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9BA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Espacios electivos propias (</a:t>
                      </a:r>
                      <a:r>
                        <a:rPr lang="es-ES" sz="1200" dirty="0"/>
                        <a:t>Big Data, Redes ópticas, Blockchain, Inteligencia computacional, Teoría de la complejidad, Minería de datos, Fundamentos de pruebas de software, Telemedicina y telesalud, etc.</a:t>
                      </a:r>
                      <a:r>
                        <a:rPr lang="es-CO" sz="1200" dirty="0"/>
                        <a:t>),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académicos de profundización de otros énfasis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otras maestrías de la facultad de ingeniería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O" sz="1200" dirty="0"/>
                        <a:t>Espacio académico de las maestrías de las otras facultades de la Universidad (sujeto a aprobación del consejo curricular)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CO" sz="1200" dirty="0"/>
                        <a:t>Espacio académico de maestrías de otras Universidades (sujeto a aprobación del consejo curricular)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13491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1C654C3B-717F-4E88-966D-FBDEAF4A7188}"/>
              </a:ext>
            </a:extLst>
          </p:cNvPr>
          <p:cNvSpPr/>
          <p:nvPr/>
        </p:nvSpPr>
        <p:spPr>
          <a:xfrm>
            <a:off x="1853796" y="1118870"/>
            <a:ext cx="45236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75000"/>
                  </a:schemeClr>
                </a:solidFill>
                <a:latin typeface="Stencil" panose="040409050D0802020404" pitchFamily="82" charset="0"/>
              </a:rPr>
              <a:t>PROFUNDIZACIÓN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F87A4D-F634-478A-8B33-5EC44ED77B16}"/>
              </a:ext>
            </a:extLst>
          </p:cNvPr>
          <p:cNvSpPr txBox="1"/>
          <p:nvPr/>
        </p:nvSpPr>
        <p:spPr>
          <a:xfrm>
            <a:off x="997190" y="5824220"/>
            <a:ext cx="99089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dirty="0"/>
              <a:t>Nota: todos los espacios académicos tienen 4 créditos.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C355EE-397F-46DF-A4FB-1D035234C64B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B2EF008-524D-4E60-9E5B-331D6DF93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35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378823" y="725401"/>
            <a:ext cx="8961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 – Integración y continuidad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168579" y="4653164"/>
            <a:ext cx="1774845" cy="73152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PREGRADOS</a:t>
            </a:r>
          </a:p>
        </p:txBody>
      </p:sp>
      <p:sp>
        <p:nvSpPr>
          <p:cNvPr id="10" name="Rectángulo redondeado 9"/>
          <p:cNvSpPr/>
          <p:nvPr/>
        </p:nvSpPr>
        <p:spPr>
          <a:xfrm>
            <a:off x="1943424" y="3262149"/>
            <a:ext cx="1774845" cy="82030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ESPECIALIZACIONES</a:t>
            </a:r>
          </a:p>
          <a:p>
            <a:pPr algn="ctr"/>
            <a:r>
              <a:rPr lang="es-CO" sz="1400" dirty="0"/>
              <a:t>FACULTAD DE ING</a:t>
            </a:r>
          </a:p>
        </p:txBody>
      </p:sp>
      <p:sp>
        <p:nvSpPr>
          <p:cNvPr id="30" name="Rectángulo redondeado 29"/>
          <p:cNvSpPr/>
          <p:nvPr/>
        </p:nvSpPr>
        <p:spPr>
          <a:xfrm>
            <a:off x="5674091" y="1975280"/>
            <a:ext cx="2451000" cy="3409404"/>
          </a:xfrm>
          <a:prstGeom prst="roundRect">
            <a:avLst/>
          </a:prstGeom>
          <a:solidFill>
            <a:srgbClr val="015A86"/>
          </a:solidFill>
          <a:ln>
            <a:solidFill>
              <a:srgbClr val="015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</a:rPr>
              <a:t>MAESTRÍA EN CIENCIAS DE LA INFORMACIÓN Y LAS COMUNICACIONES</a:t>
            </a:r>
          </a:p>
        </p:txBody>
      </p:sp>
      <p:sp>
        <p:nvSpPr>
          <p:cNvPr id="31" name="Rectángulo redondeado 30"/>
          <p:cNvSpPr/>
          <p:nvPr/>
        </p:nvSpPr>
        <p:spPr>
          <a:xfrm>
            <a:off x="10103642" y="1975280"/>
            <a:ext cx="1761782" cy="837936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>
                <a:solidFill>
                  <a:schemeClr val="bg1"/>
                </a:solidFill>
              </a:rPr>
              <a:t>DOCTORADO DE INGENIERÍA</a:t>
            </a:r>
          </a:p>
        </p:txBody>
      </p:sp>
      <p:sp>
        <p:nvSpPr>
          <p:cNvPr id="12" name="Flecha derecha 11"/>
          <p:cNvSpPr/>
          <p:nvPr/>
        </p:nvSpPr>
        <p:spPr>
          <a:xfrm>
            <a:off x="1943424" y="4893432"/>
            <a:ext cx="3730667" cy="25098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2295183" y="5183443"/>
            <a:ext cx="29002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/>
              <a:t>Opción de grado:</a:t>
            </a:r>
          </a:p>
          <a:p>
            <a:r>
              <a:rPr lang="es-CO" sz="1400" dirty="0"/>
              <a:t>2 Espacios académicos homologables</a:t>
            </a:r>
          </a:p>
          <a:p>
            <a:r>
              <a:rPr lang="es-CO" sz="1400" dirty="0"/>
              <a:t>(8 créditos)</a:t>
            </a:r>
          </a:p>
        </p:txBody>
      </p:sp>
      <p:sp>
        <p:nvSpPr>
          <p:cNvPr id="32" name="Flecha derecha 31"/>
          <p:cNvSpPr/>
          <p:nvPr/>
        </p:nvSpPr>
        <p:spPr>
          <a:xfrm>
            <a:off x="3718269" y="3543413"/>
            <a:ext cx="1965298" cy="21449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CuadroTexto 33"/>
          <p:cNvSpPr txBox="1"/>
          <p:nvPr/>
        </p:nvSpPr>
        <p:spPr>
          <a:xfrm>
            <a:off x="8180651" y="2501494"/>
            <a:ext cx="18342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/>
              <a:t>Homologación directa:</a:t>
            </a:r>
          </a:p>
          <a:p>
            <a:r>
              <a:rPr lang="es-CO" sz="1400" dirty="0"/>
              <a:t>5 Espacios académicos</a:t>
            </a:r>
          </a:p>
          <a:p>
            <a:r>
              <a:rPr lang="es-CO" sz="1400" dirty="0"/>
              <a:t>(20 créditos)</a:t>
            </a:r>
          </a:p>
        </p:txBody>
      </p:sp>
      <p:sp>
        <p:nvSpPr>
          <p:cNvPr id="36" name="CuadroTexto 35"/>
          <p:cNvSpPr txBox="1"/>
          <p:nvPr/>
        </p:nvSpPr>
        <p:spPr>
          <a:xfrm>
            <a:off x="3784513" y="3757906"/>
            <a:ext cx="18328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/>
              <a:t>Homologación directa:</a:t>
            </a:r>
          </a:p>
          <a:p>
            <a:r>
              <a:rPr lang="es-CO" sz="1400" dirty="0"/>
              <a:t>3 Espacios académicos</a:t>
            </a:r>
          </a:p>
          <a:p>
            <a:r>
              <a:rPr lang="es-CO" sz="1400" dirty="0"/>
              <a:t>(12 créditos)</a:t>
            </a:r>
          </a:p>
        </p:txBody>
      </p:sp>
      <p:sp>
        <p:nvSpPr>
          <p:cNvPr id="37" name="Flecha derecha 36"/>
          <p:cNvSpPr/>
          <p:nvPr/>
        </p:nvSpPr>
        <p:spPr>
          <a:xfrm>
            <a:off x="8138344" y="2287001"/>
            <a:ext cx="1965298" cy="21449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16A17C-8FF7-43C0-95BB-923C7BC8CB52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A9B17-DE3D-46D1-A2A6-DCEBFE5D4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87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378823" y="289904"/>
            <a:ext cx="8961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 – Integración y continuidad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graphicFrame>
        <p:nvGraphicFramePr>
          <p:cNvPr id="38" name="Tabl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32176"/>
              </p:ext>
            </p:extLst>
          </p:nvPr>
        </p:nvGraphicFramePr>
        <p:xfrm>
          <a:off x="378823" y="987011"/>
          <a:ext cx="4348162" cy="2476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21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Especialización en ingeniería de software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Maestría en Ciencias de la Información y las Comunicaciones – </a:t>
                      </a:r>
                    </a:p>
                    <a:p>
                      <a:pPr algn="ctr" fontAlgn="ctr"/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Énfasis en ing. de software</a:t>
                      </a:r>
                    </a:p>
                  </a:txBody>
                  <a:tcPr marL="2978" marR="2978" marT="2978" marB="0" anchor="ctr">
                    <a:solidFill>
                      <a:srgbClr val="0159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355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78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Informática 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Informática I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5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Informática II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Ing.</a:t>
                      </a:r>
                      <a:r>
                        <a:rPr lang="es-CO" sz="1050" u="none" strike="noStrike" baseline="0" dirty="0">
                          <a:effectLst/>
                        </a:rPr>
                        <a:t> de software 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Ing. de software I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Ing.</a:t>
                      </a:r>
                      <a:r>
                        <a:rPr lang="es-CO" sz="1050" u="none" strike="noStrike" baseline="0" dirty="0">
                          <a:effectLst/>
                        </a:rPr>
                        <a:t> de software II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Planeación estratégica de sistemas de información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Emprendimiento y gestión tecnológica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Administración informática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3653575779"/>
                  </a:ext>
                </a:extLst>
              </a:tr>
            </a:tbl>
          </a:graphicData>
        </a:graphic>
      </p:graphicFrame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595867"/>
              </p:ext>
            </p:extLst>
          </p:nvPr>
        </p:nvGraphicFramePr>
        <p:xfrm>
          <a:off x="378823" y="3675858"/>
          <a:ext cx="4348162" cy="2406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21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Especialización en teleinformática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Maestría en Ciencias de la Información y las Comunicaciones – </a:t>
                      </a:r>
                    </a:p>
                    <a:p>
                      <a:pPr algn="ctr" fontAlgn="ctr"/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Énfasis en</a:t>
                      </a:r>
                      <a:r>
                        <a:rPr lang="es-ES" sz="10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teleinformática</a:t>
                      </a:r>
                    </a:p>
                  </a:txBody>
                  <a:tcPr marL="2978" marR="2978" marT="2978" marB="0" anchor="ctr">
                    <a:solidFill>
                      <a:srgbClr val="0159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355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78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Informática 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Informática I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5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Informática II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Redes </a:t>
                      </a:r>
                      <a:r>
                        <a:rPr lang="es-CO" sz="1050" u="none" strike="noStrike" baseline="0" dirty="0">
                          <a:effectLst/>
                        </a:rPr>
                        <a:t>I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 II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Telecomunicaciones I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Comunicaciones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Telecomunicaciones II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3653575779"/>
                  </a:ext>
                </a:extLst>
              </a:tr>
            </a:tbl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102457"/>
              </p:ext>
            </p:extLst>
          </p:nvPr>
        </p:nvGraphicFramePr>
        <p:xfrm>
          <a:off x="5166360" y="1013024"/>
          <a:ext cx="4348162" cy="26691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21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Especialización en  SIG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Maestría en Ciencias de la Información y las Comunicaciones – </a:t>
                      </a:r>
                    </a:p>
                    <a:p>
                      <a:pPr algn="ctr" fontAlgn="ctr"/>
                      <a:r>
                        <a:rPr lang="es-E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Énfasis en</a:t>
                      </a:r>
                      <a:r>
                        <a:rPr lang="es-ES" sz="10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ES" sz="1000" b="1" u="none" strike="noStrike" baseline="0" dirty="0" err="1">
                          <a:solidFill>
                            <a:schemeClr val="bg1"/>
                          </a:solidFill>
                          <a:effectLst/>
                        </a:rPr>
                        <a:t>geomática</a:t>
                      </a:r>
                      <a:endParaRPr lang="es-ES" sz="10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978" marR="2978" marT="2978" marB="0" anchor="ctr">
                    <a:solidFill>
                      <a:srgbClr val="0159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 dirty="0">
                          <a:effectLst/>
                        </a:rPr>
                        <a:t>Créditos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70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78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Programación orientada a objetos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Informática I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5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Ing. de software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Análisis y modelamiento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Análisis espacial</a:t>
                      </a:r>
                    </a:p>
                  </a:txBody>
                  <a:tcPr marL="2978" marR="2978" marT="2978" marB="0" anchor="b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 de gestión geográfica I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Diseño de bases de datos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row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Bases de datos espaciales</a:t>
                      </a:r>
                    </a:p>
                  </a:txBody>
                  <a:tcPr marL="2978" marR="2978" marT="2978" marB="0" anchor="b"/>
                </a:tc>
                <a:tc row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Gestión de información</a:t>
                      </a: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l" fontAlgn="b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3653575779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Bases</a:t>
                      </a:r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datos espaciales</a:t>
                      </a:r>
                      <a:endParaRPr lang="es-CO" sz="105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s-CO" sz="1050" u="none" strike="noStrike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978" marR="2978" marT="2978" marB="0" anchor="b"/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CO" sz="1050" u="none" strike="noStrike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3999686973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4F547FE5-3C39-4CF8-9FBE-A1DE09B893CA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5AB92E-1E2B-40F6-AAC7-ABDF57CE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650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378823" y="725401"/>
            <a:ext cx="8961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es-CO" sz="2800" dirty="0"/>
              <a:t>ESTRUCTURA CURRICULAR  – Integración y continuidad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graphicFrame>
        <p:nvGraphicFramePr>
          <p:cNvPr id="38" name="Tabl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178162"/>
              </p:ext>
            </p:extLst>
          </p:nvPr>
        </p:nvGraphicFramePr>
        <p:xfrm>
          <a:off x="1339158" y="2122501"/>
          <a:ext cx="4348162" cy="2479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21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Maestría en Ciencias de la Información y las Comunicaciones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rgbClr val="0159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Doctorado en ingeniería: </a:t>
                      </a:r>
                    </a:p>
                    <a:p>
                      <a:pPr algn="ctr" fontAlgn="ctr"/>
                      <a:r>
                        <a:rPr lang="es-CO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Énfasis en ciencias de la información y el conocimiento</a:t>
                      </a:r>
                      <a:endParaRPr lang="es-CO" sz="1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355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 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78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Ingeniería de Software I (*)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Ingeniería de Software Orientada a Servicios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5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Teoría de Sistemas Complejos (**)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Teoría de Sistemas Complejos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Espacio académico </a:t>
                      </a:r>
                      <a:br>
                        <a:rPr lang="es-CO" sz="1050" u="none" strike="noStrike">
                          <a:effectLst/>
                        </a:rPr>
                      </a:br>
                      <a:r>
                        <a:rPr lang="es-CO" sz="1050" u="none" strike="noStrike">
                          <a:effectLst/>
                        </a:rPr>
                        <a:t>profundización / electivo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 dirty="0">
                          <a:effectLst/>
                        </a:rPr>
                        <a:t>Electiva de contexto de investigación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Espacio académico </a:t>
                      </a:r>
                      <a:br>
                        <a:rPr lang="es-CO" sz="1050" u="none" strike="noStrike">
                          <a:effectLst/>
                        </a:rPr>
                      </a:br>
                      <a:r>
                        <a:rPr lang="es-CO" sz="1050" u="none" strike="noStrike">
                          <a:effectLst/>
                        </a:rPr>
                        <a:t>profundización / electivo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Electiva de profundización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Espacio académico </a:t>
                      </a:r>
                      <a:br>
                        <a:rPr lang="es-CO" sz="1050" u="none" strike="noStrike">
                          <a:effectLst/>
                        </a:rPr>
                      </a:br>
                      <a:r>
                        <a:rPr lang="es-CO" sz="1050" u="none" strike="noStrike">
                          <a:effectLst/>
                        </a:rPr>
                        <a:t>profundización / electivo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Electiva de profundización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 dirty="0">
                          <a:effectLst/>
                        </a:rPr>
                        <a:t>4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" name="Rectángulo 38"/>
          <p:cNvSpPr/>
          <p:nvPr/>
        </p:nvSpPr>
        <p:spPr>
          <a:xfrm>
            <a:off x="1251231" y="4834710"/>
            <a:ext cx="44360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1000" dirty="0"/>
              <a:t>(*) Los estudiantes del énfasis de ingeniería de software pueden cursar este espacio académico como espacio de profundización, los estudiantes de otros énfasis lo pueden cursar como espacio electivo</a:t>
            </a:r>
          </a:p>
          <a:p>
            <a:pPr algn="just"/>
            <a:r>
              <a:rPr lang="es-CO" sz="1000" dirty="0"/>
              <a:t>(**) Espacio académico electivo</a:t>
            </a:r>
          </a:p>
        </p:txBody>
      </p:sp>
      <p:graphicFrame>
        <p:nvGraphicFramePr>
          <p:cNvPr id="40" name="Tabla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76311"/>
              </p:ext>
            </p:extLst>
          </p:nvPr>
        </p:nvGraphicFramePr>
        <p:xfrm>
          <a:off x="6502297" y="2097422"/>
          <a:ext cx="4348162" cy="2164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5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Maestría en Ciencias de la Información y las Comunicaciones</a:t>
                      </a:r>
                      <a:endParaRPr lang="es-CO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rgbClr val="0159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Doctorado en ingeniería: </a:t>
                      </a:r>
                    </a:p>
                    <a:p>
                      <a:pPr algn="ctr" fontAlgn="ctr"/>
                      <a:r>
                        <a:rPr lang="es-CO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Énfasis en ingeniería eléctrica y electrónica</a:t>
                      </a:r>
                      <a:endParaRPr lang="es-CO" sz="1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 dirty="0">
                          <a:effectLst/>
                        </a:rPr>
                        <a:t>Espacio Académico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rgbClr val="AD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rgbClr val="AD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Espacio Académico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rgbClr val="AD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b="1" u="none" strike="noStrike">
                          <a:effectLst/>
                        </a:rPr>
                        <a:t>Créditos</a:t>
                      </a:r>
                      <a:endParaRPr lang="es-CO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>
                    <a:solidFill>
                      <a:srgbClr val="AD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09"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u="none" strike="noStrike">
                          <a:effectLst/>
                        </a:rPr>
                        <a:t> 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35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50" u="none" strike="noStrike">
                          <a:effectLst/>
                        </a:rPr>
                        <a:t>Proceso estocásticos (*) 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50" u="none" strike="noStrike">
                          <a:effectLst/>
                        </a:rPr>
                        <a:t>Proceso estocásticos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355">
                <a:tc>
                  <a:txBody>
                    <a:bodyPr/>
                    <a:lstStyle/>
                    <a:p>
                      <a:pPr algn="l" fontAlgn="ctr"/>
                      <a:r>
                        <a:rPr lang="es-CO" sz="1050" u="none" strike="noStrike">
                          <a:effectLst/>
                        </a:rPr>
                        <a:t>Optimización (**)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1050" u="none" strike="noStrike">
                          <a:effectLst/>
                        </a:rPr>
                        <a:t>Optimización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355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Gestión de proyectos (**)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Gestión de proyectos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34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Espacio académico </a:t>
                      </a:r>
                      <a:br>
                        <a:rPr lang="es-CO" sz="1050" u="none" strike="noStrike">
                          <a:effectLst/>
                        </a:rPr>
                      </a:br>
                      <a:r>
                        <a:rPr lang="es-CO" sz="1050" u="none" strike="noStrike">
                          <a:effectLst/>
                        </a:rPr>
                        <a:t>profundización / electivo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Electiva de profundización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190"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Espacio académico </a:t>
                      </a:r>
                      <a:br>
                        <a:rPr lang="es-CO" sz="1050" u="none" strike="noStrike">
                          <a:effectLst/>
                        </a:rPr>
                      </a:br>
                      <a:r>
                        <a:rPr lang="es-CO" sz="1050" u="none" strike="noStrike">
                          <a:effectLst/>
                        </a:rPr>
                        <a:t>profundización / electivo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050" u="none" strike="noStrike">
                          <a:effectLst/>
                        </a:rPr>
                        <a:t>4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50" u="none" strike="noStrike">
                          <a:effectLst/>
                        </a:rPr>
                        <a:t>Electiva de profundización</a:t>
                      </a:r>
                      <a:endParaRPr lang="es-CO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050" u="none" strike="noStrike" dirty="0">
                          <a:effectLst/>
                        </a:rPr>
                        <a:t>4</a:t>
                      </a:r>
                      <a:endParaRPr lang="es-CO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978" marR="2978" marT="2978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Rectángulo 40"/>
          <p:cNvSpPr/>
          <p:nvPr/>
        </p:nvSpPr>
        <p:spPr>
          <a:xfrm>
            <a:off x="6458334" y="4514152"/>
            <a:ext cx="44360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1000" dirty="0"/>
              <a:t>(*) Los estudiantes del énfasis de ingeniería de software pueden cursar este espacio académico como espacio de profundización, los estudiantes de otros énfasis lo pueden cursar como espacio electivo</a:t>
            </a:r>
          </a:p>
          <a:p>
            <a:pPr algn="just"/>
            <a:r>
              <a:rPr lang="es-CO" sz="1000" dirty="0"/>
              <a:t>(**) Espacio académico electivo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F4F6A5-FCCC-4094-B611-C64A4CFE1806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8FB483-87A4-42CE-B249-C0C5D6D83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40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/>
          <p:cNvSpPr txBox="1"/>
          <p:nvPr/>
        </p:nvSpPr>
        <p:spPr>
          <a:xfrm>
            <a:off x="678316" y="629374"/>
            <a:ext cx="7362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3.   ASPECTOS ACADÉMICOS - Docentes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860866" y="1629145"/>
            <a:ext cx="2058080" cy="392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7 Docentes</a:t>
            </a:r>
          </a:p>
          <a:p>
            <a:pPr algn="ctr"/>
            <a:r>
              <a:rPr lang="es-CO" sz="1200" dirty="0"/>
              <a:t>Planta de la Maestría</a:t>
            </a:r>
          </a:p>
        </p:txBody>
      </p:sp>
      <p:sp>
        <p:nvSpPr>
          <p:cNvPr id="7" name="Rectángulo redondeado 6"/>
          <p:cNvSpPr/>
          <p:nvPr/>
        </p:nvSpPr>
        <p:spPr>
          <a:xfrm>
            <a:off x="860866" y="2258898"/>
            <a:ext cx="2058080" cy="2614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6 Doctores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3000275" y="1629145"/>
            <a:ext cx="2058080" cy="392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17 Docentes</a:t>
            </a:r>
          </a:p>
          <a:p>
            <a:pPr algn="ctr"/>
            <a:r>
              <a:rPr lang="es-CO" sz="1200" dirty="0"/>
              <a:t>Planta de la Universidad</a:t>
            </a:r>
          </a:p>
        </p:txBody>
      </p:sp>
      <p:sp>
        <p:nvSpPr>
          <p:cNvPr id="26" name="Rectángulo redondeado 25"/>
          <p:cNvSpPr/>
          <p:nvPr/>
        </p:nvSpPr>
        <p:spPr>
          <a:xfrm>
            <a:off x="3000275" y="2258898"/>
            <a:ext cx="2058080" cy="2614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7 Doctores</a:t>
            </a:r>
          </a:p>
        </p:txBody>
      </p:sp>
      <p:sp>
        <p:nvSpPr>
          <p:cNvPr id="27" name="Rectángulo redondeado 26"/>
          <p:cNvSpPr/>
          <p:nvPr/>
        </p:nvSpPr>
        <p:spPr>
          <a:xfrm>
            <a:off x="3000275" y="2687896"/>
            <a:ext cx="2058080" cy="3948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5 Magister en formación doctoral</a:t>
            </a:r>
          </a:p>
        </p:txBody>
      </p:sp>
      <p:sp>
        <p:nvSpPr>
          <p:cNvPr id="28" name="Rectángulo redondeado 27"/>
          <p:cNvSpPr/>
          <p:nvPr/>
        </p:nvSpPr>
        <p:spPr>
          <a:xfrm>
            <a:off x="3000275" y="3321258"/>
            <a:ext cx="2058080" cy="26140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5 Magister</a:t>
            </a:r>
          </a:p>
        </p:txBody>
      </p:sp>
      <p:sp>
        <p:nvSpPr>
          <p:cNvPr id="32" name="Rectángulo 31"/>
          <p:cNvSpPr/>
          <p:nvPr/>
        </p:nvSpPr>
        <p:spPr>
          <a:xfrm>
            <a:off x="5128510" y="1631833"/>
            <a:ext cx="2058080" cy="3922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3 Docentes</a:t>
            </a:r>
          </a:p>
          <a:p>
            <a:pPr algn="ctr"/>
            <a:r>
              <a:rPr lang="es-CO" sz="1200" dirty="0"/>
              <a:t>Externos</a:t>
            </a:r>
          </a:p>
        </p:txBody>
      </p:sp>
      <p:sp>
        <p:nvSpPr>
          <p:cNvPr id="33" name="Rectángulo redondeado 32"/>
          <p:cNvSpPr/>
          <p:nvPr/>
        </p:nvSpPr>
        <p:spPr>
          <a:xfrm>
            <a:off x="5128510" y="2261586"/>
            <a:ext cx="2058080" cy="26140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rgbClr val="7F6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2 Doctores</a:t>
            </a:r>
          </a:p>
        </p:txBody>
      </p:sp>
      <p:sp>
        <p:nvSpPr>
          <p:cNvPr id="34" name="Rectángulo redondeado 33"/>
          <p:cNvSpPr/>
          <p:nvPr/>
        </p:nvSpPr>
        <p:spPr>
          <a:xfrm>
            <a:off x="5128510" y="2690583"/>
            <a:ext cx="2058080" cy="40206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1 Magister en formación doctoral</a:t>
            </a:r>
          </a:p>
        </p:txBody>
      </p:sp>
      <p:sp>
        <p:nvSpPr>
          <p:cNvPr id="35" name="Rectángulo redondeado 34"/>
          <p:cNvSpPr/>
          <p:nvPr/>
        </p:nvSpPr>
        <p:spPr>
          <a:xfrm>
            <a:off x="866309" y="2690679"/>
            <a:ext cx="2058080" cy="3948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1 Magister en  formación doctoral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2D6753D-CE7C-43F5-90CD-57EF880CB62A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86B30-2B4C-4A10-825C-FC52B57E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redondeado 16">
            <a:extLst>
              <a:ext uri="{FF2B5EF4-FFF2-40B4-BE49-F238E27FC236}">
                <a16:creationId xmlns:a16="http://schemas.microsoft.com/office/drawing/2014/main" id="{3379956F-D551-45E5-BD05-49F11D5A064D}"/>
              </a:ext>
            </a:extLst>
          </p:cNvPr>
          <p:cNvSpPr/>
          <p:nvPr/>
        </p:nvSpPr>
        <p:spPr>
          <a:xfrm>
            <a:off x="6811197" y="3822814"/>
            <a:ext cx="2460172" cy="222295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16 Doctores visitantes</a:t>
            </a:r>
          </a:p>
          <a:p>
            <a:pPr algn="ctr"/>
            <a:r>
              <a:rPr lang="es-CO" dirty="0"/>
              <a:t>(últimos 5 años)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632731D0-72DF-477A-9623-095E5378D1F2}"/>
              </a:ext>
            </a:extLst>
          </p:cNvPr>
          <p:cNvSpPr/>
          <p:nvPr/>
        </p:nvSpPr>
        <p:spPr>
          <a:xfrm>
            <a:off x="9352698" y="3794512"/>
            <a:ext cx="2460172" cy="25861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6 España</a:t>
            </a:r>
          </a:p>
        </p:txBody>
      </p:sp>
      <p:sp>
        <p:nvSpPr>
          <p:cNvPr id="20" name="Rectángulo redondeado 20">
            <a:extLst>
              <a:ext uri="{FF2B5EF4-FFF2-40B4-BE49-F238E27FC236}">
                <a16:creationId xmlns:a16="http://schemas.microsoft.com/office/drawing/2014/main" id="{AF9CB914-33AB-47AD-9865-53E92497CBD6}"/>
              </a:ext>
            </a:extLst>
          </p:cNvPr>
          <p:cNvSpPr/>
          <p:nvPr/>
        </p:nvSpPr>
        <p:spPr>
          <a:xfrm>
            <a:off x="9352698" y="4084572"/>
            <a:ext cx="2460172" cy="20644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 EEUU</a:t>
            </a:r>
          </a:p>
        </p:txBody>
      </p:sp>
      <p:sp>
        <p:nvSpPr>
          <p:cNvPr id="21" name="Rectángulo redondeado 21">
            <a:extLst>
              <a:ext uri="{FF2B5EF4-FFF2-40B4-BE49-F238E27FC236}">
                <a16:creationId xmlns:a16="http://schemas.microsoft.com/office/drawing/2014/main" id="{5F06D946-BA39-4E68-B64B-468AC11A8473}"/>
              </a:ext>
            </a:extLst>
          </p:cNvPr>
          <p:cNvSpPr/>
          <p:nvPr/>
        </p:nvSpPr>
        <p:spPr>
          <a:xfrm>
            <a:off x="9352698" y="4322755"/>
            <a:ext cx="2460172" cy="25248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Rep. Checa</a:t>
            </a:r>
          </a:p>
        </p:txBody>
      </p:sp>
      <p:sp>
        <p:nvSpPr>
          <p:cNvPr id="22" name="Rectángulo redondeado 22">
            <a:extLst>
              <a:ext uri="{FF2B5EF4-FFF2-40B4-BE49-F238E27FC236}">
                <a16:creationId xmlns:a16="http://schemas.microsoft.com/office/drawing/2014/main" id="{CA46F666-7A02-4D26-BC88-F07F07DC34F3}"/>
              </a:ext>
            </a:extLst>
          </p:cNvPr>
          <p:cNvSpPr/>
          <p:nvPr/>
        </p:nvSpPr>
        <p:spPr>
          <a:xfrm>
            <a:off x="9352698" y="4606976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Reino Unido</a:t>
            </a:r>
          </a:p>
        </p:txBody>
      </p:sp>
      <p:sp>
        <p:nvSpPr>
          <p:cNvPr id="23" name="Rectángulo redondeado 23">
            <a:extLst>
              <a:ext uri="{FF2B5EF4-FFF2-40B4-BE49-F238E27FC236}">
                <a16:creationId xmlns:a16="http://schemas.microsoft.com/office/drawing/2014/main" id="{F599B646-5B39-4339-B2D8-36EF2B1CE5B4}"/>
              </a:ext>
            </a:extLst>
          </p:cNvPr>
          <p:cNvSpPr/>
          <p:nvPr/>
        </p:nvSpPr>
        <p:spPr>
          <a:xfrm>
            <a:off x="9352698" y="4851295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Cuba</a:t>
            </a:r>
          </a:p>
        </p:txBody>
      </p:sp>
      <p:sp>
        <p:nvSpPr>
          <p:cNvPr id="24" name="Rectángulo redondeado 28">
            <a:extLst>
              <a:ext uri="{FF2B5EF4-FFF2-40B4-BE49-F238E27FC236}">
                <a16:creationId xmlns:a16="http://schemas.microsoft.com/office/drawing/2014/main" id="{FD48369C-9B66-4FA7-9D2F-9F7E73257310}"/>
              </a:ext>
            </a:extLst>
          </p:cNvPr>
          <p:cNvSpPr/>
          <p:nvPr/>
        </p:nvSpPr>
        <p:spPr>
          <a:xfrm>
            <a:off x="9358137" y="5096226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Colombia</a:t>
            </a:r>
          </a:p>
        </p:txBody>
      </p:sp>
      <p:sp>
        <p:nvSpPr>
          <p:cNvPr id="29" name="Rectángulo redondeado 29">
            <a:extLst>
              <a:ext uri="{FF2B5EF4-FFF2-40B4-BE49-F238E27FC236}">
                <a16:creationId xmlns:a16="http://schemas.microsoft.com/office/drawing/2014/main" id="{52DFB4EC-4DD1-4A10-A6F2-6FCD4DDC9CC0}"/>
              </a:ext>
            </a:extLst>
          </p:cNvPr>
          <p:cNvSpPr/>
          <p:nvPr/>
        </p:nvSpPr>
        <p:spPr>
          <a:xfrm>
            <a:off x="9352698" y="5337002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Chile</a:t>
            </a:r>
          </a:p>
        </p:txBody>
      </p:sp>
      <p:sp>
        <p:nvSpPr>
          <p:cNvPr id="30" name="Rectángulo redondeado 30">
            <a:extLst>
              <a:ext uri="{FF2B5EF4-FFF2-40B4-BE49-F238E27FC236}">
                <a16:creationId xmlns:a16="http://schemas.microsoft.com/office/drawing/2014/main" id="{5BE061EA-EC97-4351-B243-9B8A2B576D42}"/>
              </a:ext>
            </a:extLst>
          </p:cNvPr>
          <p:cNvSpPr/>
          <p:nvPr/>
        </p:nvSpPr>
        <p:spPr>
          <a:xfrm>
            <a:off x="9347248" y="5580638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Taiwán</a:t>
            </a:r>
          </a:p>
        </p:txBody>
      </p:sp>
      <p:sp>
        <p:nvSpPr>
          <p:cNvPr id="31" name="Rectángulo redondeado 35">
            <a:extLst>
              <a:ext uri="{FF2B5EF4-FFF2-40B4-BE49-F238E27FC236}">
                <a16:creationId xmlns:a16="http://schemas.microsoft.com/office/drawing/2014/main" id="{2F1B402D-EF67-43DD-B5CB-8341CE7EB1C5}"/>
              </a:ext>
            </a:extLst>
          </p:cNvPr>
          <p:cNvSpPr/>
          <p:nvPr/>
        </p:nvSpPr>
        <p:spPr>
          <a:xfrm>
            <a:off x="9347248" y="5825569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Francia</a:t>
            </a:r>
          </a:p>
        </p:txBody>
      </p:sp>
    </p:spTree>
    <p:extLst>
      <p:ext uri="{BB962C8B-B14F-4D97-AF65-F5344CB8AC3E}">
        <p14:creationId xmlns:p14="http://schemas.microsoft.com/office/powerpoint/2010/main" val="272928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redondeado 16"/>
          <p:cNvSpPr/>
          <p:nvPr/>
        </p:nvSpPr>
        <p:spPr>
          <a:xfrm>
            <a:off x="3184136" y="2548254"/>
            <a:ext cx="2460172" cy="222295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16 Doctores visitantes</a:t>
            </a:r>
          </a:p>
          <a:p>
            <a:pPr algn="ctr"/>
            <a:r>
              <a:rPr lang="es-CO" dirty="0"/>
              <a:t>(últimos 5 años)</a:t>
            </a:r>
          </a:p>
        </p:txBody>
      </p:sp>
      <p:sp>
        <p:nvSpPr>
          <p:cNvPr id="19" name="Rectángulo redondeado 18"/>
          <p:cNvSpPr/>
          <p:nvPr/>
        </p:nvSpPr>
        <p:spPr>
          <a:xfrm>
            <a:off x="5725637" y="2519952"/>
            <a:ext cx="2460172" cy="25861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6 España</a:t>
            </a:r>
          </a:p>
        </p:txBody>
      </p:sp>
      <p:sp>
        <p:nvSpPr>
          <p:cNvPr id="21" name="Rectángulo redondeado 20"/>
          <p:cNvSpPr/>
          <p:nvPr/>
        </p:nvSpPr>
        <p:spPr>
          <a:xfrm>
            <a:off x="5725637" y="2810012"/>
            <a:ext cx="2460172" cy="20644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 EEUU</a:t>
            </a:r>
          </a:p>
        </p:txBody>
      </p:sp>
      <p:sp>
        <p:nvSpPr>
          <p:cNvPr id="22" name="Rectángulo redondeado 21"/>
          <p:cNvSpPr/>
          <p:nvPr/>
        </p:nvSpPr>
        <p:spPr>
          <a:xfrm>
            <a:off x="5725637" y="3048195"/>
            <a:ext cx="2460172" cy="25248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Rep. Checa</a:t>
            </a:r>
          </a:p>
        </p:txBody>
      </p:sp>
      <p:sp>
        <p:nvSpPr>
          <p:cNvPr id="23" name="Rectángulo redondeado 22"/>
          <p:cNvSpPr/>
          <p:nvPr/>
        </p:nvSpPr>
        <p:spPr>
          <a:xfrm>
            <a:off x="5725637" y="3332416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Reino Unido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5725637" y="3576735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Cuba</a:t>
            </a:r>
          </a:p>
        </p:txBody>
      </p:sp>
      <p:sp>
        <p:nvSpPr>
          <p:cNvPr id="29" name="Rectángulo redondeado 28"/>
          <p:cNvSpPr/>
          <p:nvPr/>
        </p:nvSpPr>
        <p:spPr>
          <a:xfrm>
            <a:off x="5731076" y="3821666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Colombia</a:t>
            </a:r>
          </a:p>
        </p:txBody>
      </p:sp>
      <p:sp>
        <p:nvSpPr>
          <p:cNvPr id="30" name="Rectángulo redondeado 29"/>
          <p:cNvSpPr/>
          <p:nvPr/>
        </p:nvSpPr>
        <p:spPr>
          <a:xfrm>
            <a:off x="5725637" y="4062442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Chile</a:t>
            </a:r>
          </a:p>
        </p:txBody>
      </p:sp>
      <p:sp>
        <p:nvSpPr>
          <p:cNvPr id="31" name="Rectángulo redondeado 30"/>
          <p:cNvSpPr/>
          <p:nvPr/>
        </p:nvSpPr>
        <p:spPr>
          <a:xfrm>
            <a:off x="5720187" y="4306078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Taiwán</a:t>
            </a:r>
          </a:p>
        </p:txBody>
      </p:sp>
      <p:sp>
        <p:nvSpPr>
          <p:cNvPr id="36" name="Rectángulo redondeado 35"/>
          <p:cNvSpPr/>
          <p:nvPr/>
        </p:nvSpPr>
        <p:spPr>
          <a:xfrm>
            <a:off x="5720187" y="4551009"/>
            <a:ext cx="2460172" cy="22019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 Francia</a:t>
            </a: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2934696-AA7C-446A-9F74-31BACD6FB7B2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A2741-DAA3-4537-B3B8-98FC4C8D0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B3D51DE-EAB3-4F7F-8490-37AA3BB4C354}"/>
              </a:ext>
            </a:extLst>
          </p:cNvPr>
          <p:cNvSpPr txBox="1"/>
          <p:nvPr/>
        </p:nvSpPr>
        <p:spPr>
          <a:xfrm>
            <a:off x="678316" y="669518"/>
            <a:ext cx="7362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3.   ASPECTOS ACADÉMICOS - Docentes</a:t>
            </a:r>
          </a:p>
        </p:txBody>
      </p:sp>
    </p:spTree>
    <p:extLst>
      <p:ext uri="{BB962C8B-B14F-4D97-AF65-F5344CB8AC3E}">
        <p14:creationId xmlns:p14="http://schemas.microsoft.com/office/powerpoint/2010/main" val="3122167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/>
          <p:cNvSpPr txBox="1"/>
          <p:nvPr/>
        </p:nvSpPr>
        <p:spPr>
          <a:xfrm>
            <a:off x="179302" y="551514"/>
            <a:ext cx="9688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3.  ASPECTOS ACADÉMICOS – Proceso de admisión de estudiantes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911423B-B660-42D6-81FF-B91483CAD15B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5E8ED-D391-4AFE-B0D7-23DEE466E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pentágono 9">
            <a:extLst>
              <a:ext uri="{FF2B5EF4-FFF2-40B4-BE49-F238E27FC236}">
                <a16:creationId xmlns:a16="http://schemas.microsoft.com/office/drawing/2014/main" id="{B955C841-124C-4A21-9BDA-079A95679638}"/>
              </a:ext>
            </a:extLst>
          </p:cNvPr>
          <p:cNvSpPr/>
          <p:nvPr/>
        </p:nvSpPr>
        <p:spPr>
          <a:xfrm>
            <a:off x="1482979" y="2753311"/>
            <a:ext cx="2056960" cy="523220"/>
          </a:xfrm>
          <a:prstGeom prst="homePlate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Documentos</a:t>
            </a:r>
          </a:p>
        </p:txBody>
      </p:sp>
      <p:sp>
        <p:nvSpPr>
          <p:cNvPr id="11" name="Flecha: pentágono 10">
            <a:extLst>
              <a:ext uri="{FF2B5EF4-FFF2-40B4-BE49-F238E27FC236}">
                <a16:creationId xmlns:a16="http://schemas.microsoft.com/office/drawing/2014/main" id="{B2BEE6A7-0283-4E66-9000-2DCB57285F3D}"/>
              </a:ext>
            </a:extLst>
          </p:cNvPr>
          <p:cNvSpPr/>
          <p:nvPr/>
        </p:nvSpPr>
        <p:spPr>
          <a:xfrm>
            <a:off x="1482980" y="3318435"/>
            <a:ext cx="2066042" cy="523220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Formulación</a:t>
            </a:r>
          </a:p>
          <a:p>
            <a:pPr algn="ctr"/>
            <a:r>
              <a:rPr lang="es-CO" sz="1400" dirty="0"/>
              <a:t> propuesta inicial</a:t>
            </a:r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7184F2CA-F58F-4076-9ACC-199D893942E1}"/>
              </a:ext>
            </a:extLst>
          </p:cNvPr>
          <p:cNvSpPr/>
          <p:nvPr/>
        </p:nvSpPr>
        <p:spPr>
          <a:xfrm>
            <a:off x="3739021" y="2711317"/>
            <a:ext cx="1446544" cy="1209675"/>
          </a:xfrm>
          <a:prstGeom prst="homePlat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Oficialización</a:t>
            </a:r>
          </a:p>
          <a:p>
            <a:pPr algn="ctr"/>
            <a:r>
              <a:rPr lang="es-CO" sz="1400" dirty="0"/>
              <a:t>Inscripción</a:t>
            </a:r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84EEC8FA-9D1C-4896-8F8F-96514E5369E4}"/>
              </a:ext>
            </a:extLst>
          </p:cNvPr>
          <p:cNvSpPr/>
          <p:nvPr/>
        </p:nvSpPr>
        <p:spPr>
          <a:xfrm>
            <a:off x="5337061" y="2711317"/>
            <a:ext cx="1704978" cy="1209675"/>
          </a:xfrm>
          <a:prstGeom prst="homePlat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Entrevista y presentación de la propuesta inicial</a:t>
            </a:r>
          </a:p>
        </p:txBody>
      </p:sp>
      <p:sp>
        <p:nvSpPr>
          <p:cNvPr id="17" name="Flecha: pentágono 16">
            <a:extLst>
              <a:ext uri="{FF2B5EF4-FFF2-40B4-BE49-F238E27FC236}">
                <a16:creationId xmlns:a16="http://schemas.microsoft.com/office/drawing/2014/main" id="{42BF1539-15AC-4DF3-939C-8DBA47867175}"/>
              </a:ext>
            </a:extLst>
          </p:cNvPr>
          <p:cNvSpPr/>
          <p:nvPr/>
        </p:nvSpPr>
        <p:spPr>
          <a:xfrm>
            <a:off x="7251290" y="2711317"/>
            <a:ext cx="1704978" cy="1209675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Examen de inglés</a:t>
            </a:r>
          </a:p>
        </p:txBody>
      </p:sp>
      <p:sp>
        <p:nvSpPr>
          <p:cNvPr id="21" name="Flecha: pentágono 20">
            <a:extLst>
              <a:ext uri="{FF2B5EF4-FFF2-40B4-BE49-F238E27FC236}">
                <a16:creationId xmlns:a16="http://schemas.microsoft.com/office/drawing/2014/main" id="{9CC00F73-AA8F-4B49-A918-CC8F1280510F}"/>
              </a:ext>
            </a:extLst>
          </p:cNvPr>
          <p:cNvSpPr/>
          <p:nvPr/>
        </p:nvSpPr>
        <p:spPr>
          <a:xfrm>
            <a:off x="9133892" y="2711317"/>
            <a:ext cx="1704978" cy="1209675"/>
          </a:xfrm>
          <a:prstGeom prst="homePlat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Prueba de conocimiento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59EB070-D396-4CB1-BC5B-C1485471C09A}"/>
              </a:ext>
            </a:extLst>
          </p:cNvPr>
          <p:cNvSpPr txBox="1"/>
          <p:nvPr/>
        </p:nvSpPr>
        <p:spPr>
          <a:xfrm>
            <a:off x="7519965" y="401346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20%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3CF224D-8BF5-40E5-8F4D-13381403A7B2}"/>
              </a:ext>
            </a:extLst>
          </p:cNvPr>
          <p:cNvSpPr txBox="1"/>
          <p:nvPr/>
        </p:nvSpPr>
        <p:spPr>
          <a:xfrm>
            <a:off x="9402567" y="401346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30%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6F53771-B683-43BF-A73D-FF7E206B2715}"/>
              </a:ext>
            </a:extLst>
          </p:cNvPr>
          <p:cNvSpPr txBox="1"/>
          <p:nvPr/>
        </p:nvSpPr>
        <p:spPr>
          <a:xfrm>
            <a:off x="5423689" y="4104958"/>
            <a:ext cx="1647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HV: 20%</a:t>
            </a:r>
          </a:p>
          <a:p>
            <a:r>
              <a:rPr lang="es-CO" dirty="0"/>
              <a:t>Propuesta: 30%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42F5A48-8F6D-41A1-9D97-B05D4617148D}"/>
              </a:ext>
            </a:extLst>
          </p:cNvPr>
          <p:cNvSpPr/>
          <p:nvPr/>
        </p:nvSpPr>
        <p:spPr>
          <a:xfrm>
            <a:off x="2190198" y="2090553"/>
            <a:ext cx="386364" cy="4020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E81991B9-8115-43C6-AFF3-7C8FA7A74F61}"/>
              </a:ext>
            </a:extLst>
          </p:cNvPr>
          <p:cNvSpPr/>
          <p:nvPr/>
        </p:nvSpPr>
        <p:spPr>
          <a:xfrm>
            <a:off x="3958476" y="2090553"/>
            <a:ext cx="386364" cy="4020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9CA77031-2D31-49A5-923B-8C1B5C40B0FC}"/>
              </a:ext>
            </a:extLst>
          </p:cNvPr>
          <p:cNvSpPr/>
          <p:nvPr/>
        </p:nvSpPr>
        <p:spPr>
          <a:xfrm>
            <a:off x="5634688" y="2090553"/>
            <a:ext cx="386364" cy="402065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30D17692-CA3C-493D-BC56-12B69D1597BB}"/>
              </a:ext>
            </a:extLst>
          </p:cNvPr>
          <p:cNvSpPr/>
          <p:nvPr/>
        </p:nvSpPr>
        <p:spPr>
          <a:xfrm>
            <a:off x="7519965" y="2070367"/>
            <a:ext cx="386364" cy="402065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3D1C7B7C-C19E-49E5-B292-B880EFF26FDE}"/>
              </a:ext>
            </a:extLst>
          </p:cNvPr>
          <p:cNvSpPr/>
          <p:nvPr/>
        </p:nvSpPr>
        <p:spPr>
          <a:xfrm>
            <a:off x="9501944" y="2060380"/>
            <a:ext cx="386364" cy="402065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65FC89E-FB5F-4CCF-B71B-8849844C8689}"/>
              </a:ext>
            </a:extLst>
          </p:cNvPr>
          <p:cNvSpPr txBox="1"/>
          <p:nvPr/>
        </p:nvSpPr>
        <p:spPr>
          <a:xfrm>
            <a:off x="854144" y="4104958"/>
            <a:ext cx="37720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s-CO" sz="1400" dirty="0"/>
              <a:t>Acompañamiento de la coordinación</a:t>
            </a:r>
          </a:p>
          <a:p>
            <a:pPr marL="171450" indent="-171450">
              <a:buFontTx/>
              <a:buChar char="-"/>
            </a:pPr>
            <a:r>
              <a:rPr lang="es-CO" sz="1400" dirty="0"/>
              <a:t>Información de los grupos de investigación</a:t>
            </a:r>
          </a:p>
          <a:p>
            <a:pPr marL="171450" indent="-171450">
              <a:buFontTx/>
              <a:buChar char="-"/>
            </a:pPr>
            <a:r>
              <a:rPr lang="es-CO" sz="1400" dirty="0"/>
              <a:t>Información de proyectos potenciales</a:t>
            </a:r>
          </a:p>
          <a:p>
            <a:pPr marL="171450" indent="-171450">
              <a:buFontTx/>
              <a:buChar char="-"/>
            </a:pPr>
            <a:r>
              <a:rPr lang="es-CO" sz="1400" dirty="0"/>
              <a:t>Acompañamiento de los directores disponibles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3CB724A-6191-4AF7-B029-16C38C14C535}"/>
              </a:ext>
            </a:extLst>
          </p:cNvPr>
          <p:cNvSpPr txBox="1"/>
          <p:nvPr/>
        </p:nvSpPr>
        <p:spPr>
          <a:xfrm>
            <a:off x="10919792" y="2992988"/>
            <a:ext cx="1130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600" dirty="0"/>
              <a:t>Publicación</a:t>
            </a:r>
          </a:p>
          <a:p>
            <a:pPr algn="ctr"/>
            <a:r>
              <a:rPr lang="es-CO" sz="1600" dirty="0"/>
              <a:t>admitidos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B45049-B3EF-46AF-B831-62B0E433CDF8}"/>
              </a:ext>
            </a:extLst>
          </p:cNvPr>
          <p:cNvSpPr txBox="1"/>
          <p:nvPr/>
        </p:nvSpPr>
        <p:spPr>
          <a:xfrm>
            <a:off x="139184" y="3041041"/>
            <a:ext cx="1268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600" dirty="0"/>
              <a:t>Apertura</a:t>
            </a:r>
          </a:p>
          <a:p>
            <a:pPr algn="ctr"/>
            <a:r>
              <a:rPr lang="es-CO" sz="1600" dirty="0"/>
              <a:t>Inscripciones</a:t>
            </a:r>
          </a:p>
        </p:txBody>
      </p:sp>
    </p:spTree>
    <p:extLst>
      <p:ext uri="{BB962C8B-B14F-4D97-AF65-F5344CB8AC3E}">
        <p14:creationId xmlns:p14="http://schemas.microsoft.com/office/powerpoint/2010/main" val="3204422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C5883-A689-43E3-B6F0-8C0ECED6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de ingreso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D01054-EDC6-4157-A9CE-EAEF6231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30"/>
            <a:ext cx="10515600" cy="4762833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b="0" i="0" dirty="0">
                <a:solidFill>
                  <a:srgbClr val="000000"/>
                </a:solidFill>
                <a:effectLst/>
              </a:rPr>
              <a:t>La documentación requerida se tendrá que cargar en la plataforma:</a:t>
            </a:r>
          </a:p>
          <a:p>
            <a:pPr algn="l">
              <a:lnSpc>
                <a:spcPct val="120000"/>
              </a:lnSpc>
            </a:pPr>
            <a:endParaRPr lang="es-ES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Fotocopia legible del documento de identificación (cédula de ciudadanía) y de la Libreta Militar (para el caso de los hombres).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Fotocopia del diploma de pregrado y/o el acta de grado.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Fotocopia de la tarjeta profesional o documento de que se encuentra en trámite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Sabana de notas originales de pregrado.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Una foto reciente tamaño 3×4.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Hoja de vida del aspirante (Anexo: Información sobre publicaciones, participación en eventos científicos, vinculación con semilleros o grupos de investigación, entre otros. Esta información NO es de carácter obligatorio).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Consignación Bancaria ORIGINAL por el valor del formulario.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s-ES" b="0" i="0" dirty="0">
                <a:solidFill>
                  <a:srgbClr val="000000"/>
                </a:solidFill>
                <a:effectLst/>
              </a:rPr>
              <a:t>Documento con idea inicial del </a:t>
            </a:r>
            <a:r>
              <a:rPr lang="es-ES" b="1" i="0" u="sng" strike="noStrike" dirty="0">
                <a:solidFill>
                  <a:srgbClr val="000000"/>
                </a:solidFill>
                <a:effectLst/>
                <a:hlinkClick r:id="rId2"/>
              </a:rPr>
              <a:t>PROYECTO DE INVESTIGACIÓN. Usar la plantilla de anteproyecto </a:t>
            </a:r>
            <a:endParaRPr lang="es-ES" b="0" i="0" dirty="0">
              <a:solidFill>
                <a:srgbClr val="000000"/>
              </a:solidFill>
              <a:effectLst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s-ES" b="1" i="0" dirty="0">
              <a:solidFill>
                <a:srgbClr val="000000"/>
              </a:solidFill>
              <a:effectLst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s-ES" b="1" i="0" dirty="0">
                <a:solidFill>
                  <a:srgbClr val="000000"/>
                </a:solidFill>
                <a:effectLst/>
              </a:rPr>
              <a:t>Nota:</a:t>
            </a:r>
            <a:r>
              <a:rPr lang="es-ES" b="0" i="0" dirty="0">
                <a:solidFill>
                  <a:srgbClr val="000000"/>
                </a:solidFill>
                <a:effectLst/>
              </a:rPr>
              <a:t> Realiza únicamente los numerales 1, 2 y 3 de la Plantilla anteproyecto, para el desarrollo de la idea inicial del Proyecto de investigación.</a:t>
            </a:r>
          </a:p>
          <a:p>
            <a:pPr>
              <a:lnSpc>
                <a:spcPct val="120000"/>
              </a:lnSpc>
            </a:pP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D406B2-2864-4512-8867-4EBB2FAC7895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A34213-171E-4FD7-A939-AE714ACCE5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32FF9E4-140E-4417-93CB-76E8D0926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63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033C2-F2E5-401D-921D-FCFDE85E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COSTOS Y FINANCIACION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DAE5B7-535B-4BE1-BAFC-382E840F1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322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s-ES" sz="4800" b="0" i="0" dirty="0">
                <a:solidFill>
                  <a:srgbClr val="000000"/>
                </a:solidFill>
                <a:effectLst/>
              </a:rPr>
              <a:t>Actualmente, para obtener el título de Magíster, el estudiante debe cursar como mínimo cuarenta y cuatro (44) créditos académicos. Cada crédito académico equivale a 0,55 / SMMLV.</a:t>
            </a:r>
          </a:p>
          <a:p>
            <a:pPr algn="l"/>
            <a:endParaRPr lang="es-ES" sz="4800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sz="4800" b="0" i="0" dirty="0">
                <a:solidFill>
                  <a:srgbClr val="000000"/>
                </a:solidFill>
                <a:effectLst/>
              </a:rPr>
              <a:t>La duración de la Maestría en Ciencias de la Información y las Comunicaciones (Profundización) es de un (1) año y medio equivalente a cuarenta y cuatro (44) créditos académicos. </a:t>
            </a:r>
          </a:p>
          <a:p>
            <a:pPr marL="0" indent="0" algn="l">
              <a:buNone/>
            </a:pPr>
            <a:r>
              <a:rPr lang="es-ES" sz="4800" b="1" i="0" dirty="0">
                <a:solidFill>
                  <a:srgbClr val="000000"/>
                </a:solidFill>
                <a:effectLst/>
              </a:rPr>
              <a:t>Formas de pago: </a:t>
            </a:r>
            <a:endParaRPr lang="es-ES" sz="4800" b="0" i="0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Efectivo</a:t>
            </a:r>
          </a:p>
          <a:p>
            <a:pPr marL="0" indent="0" algn="l">
              <a:buNone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Cheque</a:t>
            </a:r>
          </a:p>
          <a:p>
            <a:pPr marL="0" indent="0" algn="l">
              <a:buNone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Crédito ICETEX - Oficina de Bienestar Institucional de la Universidad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Correo electrónico: </a:t>
            </a:r>
            <a:r>
              <a:rPr lang="es-ES" sz="4800" b="0" i="0" u="none" strike="noStrike" dirty="0">
                <a:solidFill>
                  <a:srgbClr val="000000"/>
                </a:solidFill>
                <a:effectLst/>
                <a:hlinkClick r:id="rId2"/>
              </a:rPr>
              <a:t>bienestarud@udistrital.edu.co</a:t>
            </a:r>
            <a:r>
              <a:rPr lang="es-ES" sz="4800" b="0" i="0" dirty="0">
                <a:solidFill>
                  <a:srgbClr val="000000"/>
                </a:solidFill>
                <a:effectLst/>
              </a:rPr>
              <a:t> teléfono 3239300 Ext. (1105 – 1104).</a:t>
            </a:r>
          </a:p>
          <a:p>
            <a:pPr marL="0" indent="0" algn="l">
              <a:buNone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Pago en Línea (PSE)</a:t>
            </a:r>
          </a:p>
          <a:p>
            <a:pPr marL="0" indent="0" algn="l">
              <a:buNone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Diferido a 3 Cuotas mensuales. (Pagaré)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Primera Cuota: 40%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Segunda Cuota: 30%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Tercera Cuota: 30%</a:t>
            </a:r>
          </a:p>
          <a:p>
            <a:pPr marL="0" indent="0" algn="l">
              <a:buNone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Diferido a 2 Cuotas mensuales. (Pagaré)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Primera Cuota: 60%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4800" b="0" i="0" dirty="0">
                <a:solidFill>
                  <a:srgbClr val="000000"/>
                </a:solidFill>
                <a:effectLst/>
              </a:rPr>
              <a:t>Segunda Cuota: 40%</a:t>
            </a:r>
          </a:p>
          <a:p>
            <a:pPr algn="l"/>
            <a:r>
              <a:rPr lang="es-ES" sz="4800" b="1" i="0" dirty="0">
                <a:solidFill>
                  <a:srgbClr val="000000"/>
                </a:solidFill>
                <a:effectLst/>
              </a:rPr>
              <a:t>Nota Aclaratoria</a:t>
            </a:r>
            <a:r>
              <a:rPr lang="es-ES" sz="4800" b="0" i="0" dirty="0">
                <a:solidFill>
                  <a:srgbClr val="000000"/>
                </a:solidFill>
                <a:effectLst/>
              </a:rPr>
              <a:t>: Normatividad vigente para Matrícula Diferida por medio de pagaré, Resolución No. 185 de 25 de Julio de 2006. [</a:t>
            </a:r>
            <a:r>
              <a:rPr lang="es-ES" sz="4800" b="0" i="0" u="none" strike="noStrike" dirty="0">
                <a:solidFill>
                  <a:srgbClr val="000000"/>
                </a:solidFill>
                <a:effectLst/>
                <a:hlinkClick r:id="rId3"/>
              </a:rPr>
              <a:t>https://sgral.udistrital.edu.co/xdata/rec/res_2006-185.pdf</a:t>
            </a:r>
            <a:r>
              <a:rPr lang="es-ES" sz="4800" b="0" i="0" dirty="0">
                <a:solidFill>
                  <a:srgbClr val="000000"/>
                </a:solidFill>
                <a:effectLst/>
              </a:rPr>
              <a:t>]</a:t>
            </a:r>
          </a:p>
          <a:p>
            <a:endParaRPr lang="es-CO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B6C810-5781-4572-901C-CDCF00B39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DCCBD1-7AC9-4288-BD82-0DA676FE78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2133252-54E3-42AD-B98C-557ED4970705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</p:spTree>
    <p:extLst>
      <p:ext uri="{BB962C8B-B14F-4D97-AF65-F5344CB8AC3E}">
        <p14:creationId xmlns:p14="http://schemas.microsoft.com/office/powerpoint/2010/main" val="325331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033C2-F2E5-401D-921D-FCFDE85E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FECHAS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DAE5B7-535B-4BE1-BAFC-382E840F1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535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Apertura de Inscripciones al Programa: 6 de marzo de 2024</a:t>
            </a:r>
            <a:endParaRPr lang="es-ES" sz="3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/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Cierre de inscripciones: 10 de julio de 2024</a:t>
            </a:r>
            <a:endParaRPr lang="es-ES" sz="3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/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</a:t>
            </a:r>
          </a:p>
          <a:p>
            <a:pPr algn="l"/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CORTE 2 - 15 de julio de 2024</a:t>
            </a:r>
            <a:endParaRPr lang="es-ES" sz="3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Publicación temas del ensayo: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19 de Julio de 2024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Examen de clasificación de Segunda lengua: 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22 al 25 de Julio</a:t>
            </a: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2024*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Realización presencial ensayo: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22 al 25 de Julio</a:t>
            </a: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2024*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Entrevista de admisión: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  22 al 25 de Julio</a:t>
            </a: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2024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Resultados de admisión:  29 de Julio de 2024</a:t>
            </a:r>
            <a:endParaRPr lang="es-ES" sz="3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/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</a:t>
            </a:r>
          </a:p>
          <a:p>
            <a:pPr algn="l"/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Inicio de Clases:</a:t>
            </a:r>
            <a:r>
              <a:rPr lang="es-ES" sz="3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05 de Agosto de 2024</a:t>
            </a:r>
          </a:p>
          <a:p>
            <a:pPr algn="l"/>
            <a:r>
              <a:rPr lang="es-ES" sz="36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*Nota: Para el examen de segunda lengua y el ensayo se citarán a los aspirantes por grupos y la realización de esas pruebas se hará en un sólo día.</a:t>
            </a:r>
            <a:endParaRPr lang="es-ES" sz="3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B6C810-5781-4572-901C-CDCF00B39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DCCBD1-7AC9-4288-BD82-0DA676FE7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2133252-54E3-42AD-B98C-557ED4970705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</p:spTree>
    <p:extLst>
      <p:ext uri="{BB962C8B-B14F-4D97-AF65-F5344CB8AC3E}">
        <p14:creationId xmlns:p14="http://schemas.microsoft.com/office/powerpoint/2010/main" val="894653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CB6C810-5781-4572-901C-CDCF00B39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9" y="6107034"/>
            <a:ext cx="761069" cy="76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DCCBD1-7AC9-4288-BD82-0DA676FE7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98" y="116017"/>
            <a:ext cx="2058800" cy="87099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2133252-54E3-42AD-B98C-557ED4970705}"/>
              </a:ext>
            </a:extLst>
          </p:cNvPr>
          <p:cNvSpPr/>
          <p:nvPr/>
        </p:nvSpPr>
        <p:spPr>
          <a:xfrm>
            <a:off x="1152525" y="6294349"/>
            <a:ext cx="11039475" cy="4020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PRESENTACIÓN GENERAL DEL PROYECTO CURRICULAR – UNIVERSIDAD DISTRITAL FRANCISCO JOSÉ DE CALDAS, 2024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990BF7C-CCD9-4585-B5DD-801337760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99879"/>
              </p:ext>
            </p:extLst>
          </p:nvPr>
        </p:nvGraphicFramePr>
        <p:xfrm>
          <a:off x="997608" y="2148656"/>
          <a:ext cx="9771380" cy="1867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80610">
                  <a:extLst>
                    <a:ext uri="{9D8B030D-6E8A-4147-A177-3AD203B41FA5}">
                      <a16:colId xmlns:a16="http://schemas.microsoft.com/office/drawing/2014/main" val="470587226"/>
                    </a:ext>
                  </a:extLst>
                </a:gridCol>
                <a:gridCol w="4890770">
                  <a:extLst>
                    <a:ext uri="{9D8B030D-6E8A-4147-A177-3AD203B41FA5}">
                      <a16:colId xmlns:a16="http://schemas.microsoft.com/office/drawing/2014/main" val="4155143043"/>
                    </a:ext>
                  </a:extLst>
                </a:gridCol>
              </a:tblGrid>
              <a:tr h="317448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Coordinador(a): Leonardo Plazas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</a:rPr>
                        <a:t>Nossa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Dirección: Carrera 7 # 40B - 53 Piso 9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PBX: (+57) 6013239300 Ext: 1418 - 1425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s-ES" sz="1400" u="sng" dirty="0">
                          <a:solidFill>
                            <a:schemeClr val="tx1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mcic.profundizacion@udistrital.edu.co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Lunes a viernes de 8:00 a.m. a 12:00 m.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Coordinador(a): Leonardo Plazas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</a:rPr>
                        <a:t>Nossa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Dirección: Carrera 7 # 40B - 53 Piso 9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PBX: (+57) 6013239300 Ext: 1418 - 1425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s-ES" sz="1400" u="sng" dirty="0">
                          <a:solidFill>
                            <a:schemeClr val="tx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mcic.investigacion@udistrital.edu.co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Lunes a viernes de 8:00 a.m. a 12:00 m.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4162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7635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29911</TotalTime>
  <Words>2227</Words>
  <Application>Microsoft Office PowerPoint</Application>
  <PresentationFormat>Panorámica</PresentationFormat>
  <Paragraphs>504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Stencil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Documentación de ingreso</vt:lpstr>
      <vt:lpstr>COSTOS Y FINANCIACION</vt:lpstr>
      <vt:lpstr>FECHAS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Nelson</dc:creator>
  <cp:lastModifiedBy>MAESTRIA EN CIENCIAS DE LA INFORMACION Y LAS COMUNICACIONES - PROFUNDIZACION</cp:lastModifiedBy>
  <cp:revision>435</cp:revision>
  <cp:lastPrinted>2020-03-04T20:34:47Z</cp:lastPrinted>
  <dcterms:created xsi:type="dcterms:W3CDTF">2019-07-14T20:41:47Z</dcterms:created>
  <dcterms:modified xsi:type="dcterms:W3CDTF">2024-06-19T22:17:24Z</dcterms:modified>
</cp:coreProperties>
</file>