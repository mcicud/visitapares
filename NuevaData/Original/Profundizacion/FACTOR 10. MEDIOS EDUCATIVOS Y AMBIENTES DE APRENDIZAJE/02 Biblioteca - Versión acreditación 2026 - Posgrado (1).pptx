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438" r:id="rId3"/>
    <p:sldId id="289" r:id="rId4"/>
    <p:sldId id="471" r:id="rId5"/>
    <p:sldId id="472" r:id="rId6"/>
    <p:sldId id="563" r:id="rId7"/>
    <p:sldId id="564" r:id="rId8"/>
    <p:sldId id="523" r:id="rId9"/>
    <p:sldId id="558" r:id="rId10"/>
    <p:sldId id="535" r:id="rId11"/>
    <p:sldId id="559" r:id="rId12"/>
    <p:sldId id="453" r:id="rId13"/>
    <p:sldId id="466" r:id="rId14"/>
    <p:sldId id="560" r:id="rId15"/>
    <p:sldId id="561" r:id="rId16"/>
    <p:sldId id="566" r:id="rId17"/>
    <p:sldId id="348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jandra Rodriguez Romero" initials="ARR" lastIdx="3" clrIdx="0">
    <p:extLst>
      <p:ext uri="{19B8F6BF-5375-455C-9EA6-DF929625EA0E}">
        <p15:presenceInfo xmlns:p15="http://schemas.microsoft.com/office/powerpoint/2012/main" userId="S-1-5-21-2052111302-1606980848-1060284298-70775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6"/>
    <a:srgbClr val="9900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61" autoAdjust="0"/>
    <p:restoredTop sz="95574"/>
  </p:normalViewPr>
  <p:slideViewPr>
    <p:cSldViewPr>
      <p:cViewPr varScale="1">
        <p:scale>
          <a:sx n="78" d="100"/>
          <a:sy n="78" d="100"/>
        </p:scale>
        <p:origin x="40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0B18C-F0BE-4DFC-AF6D-81EBDC07B4F7}" type="datetimeFigureOut">
              <a:rPr lang="es-CO" smtClean="0"/>
              <a:t>15/09/2026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F6774-F5A0-43FE-BC66-EA6A75062C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118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3151" y="996070"/>
            <a:ext cx="932116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5487" y="2267711"/>
            <a:ext cx="170815" cy="170815"/>
          </a:xfrm>
          <a:custGeom>
            <a:avLst/>
            <a:gdLst/>
            <a:ahLst/>
            <a:cxnLst/>
            <a:rect l="l" t="t" r="r" b="b"/>
            <a:pathLst>
              <a:path w="170815" h="170814">
                <a:moveTo>
                  <a:pt x="170687" y="0"/>
                </a:moveTo>
                <a:lnTo>
                  <a:pt x="0" y="0"/>
                </a:lnTo>
                <a:lnTo>
                  <a:pt x="0" y="170687"/>
                </a:lnTo>
                <a:lnTo>
                  <a:pt x="170687" y="170687"/>
                </a:lnTo>
                <a:lnTo>
                  <a:pt x="17068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2635" y="710082"/>
            <a:ext cx="10846729" cy="986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36898" y="1933271"/>
            <a:ext cx="9006840" cy="3665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://biblioteca.udistrital.edu.co/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biblioteca.udistrital.edu.co/" TargetMode="External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hyperlink" Target="http://biblioteca.udistrital.edu.co/" TargetMode="External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jpeg"/><Relationship Id="rId2" Type="http://schemas.openxmlformats.org/officeDocument/2006/relationships/hyperlink" Target="http://www.udistrital.edu.co/" TargetMode="Externa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biblioteca.udistrital.edu.co/" TargetMode="External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://www.udistrital.edu.co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4" Type="http://schemas.openxmlformats.org/officeDocument/2006/relationships/image" Target="../media/image5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0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786127" y="1606296"/>
            <a:ext cx="8674735" cy="3700779"/>
            <a:chOff x="1786127" y="1606296"/>
            <a:chExt cx="8674735" cy="3700779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6127" y="1609344"/>
              <a:ext cx="3227831" cy="36972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12035" y="1635252"/>
              <a:ext cx="3121660" cy="3590925"/>
            </a:xfrm>
            <a:custGeom>
              <a:avLst/>
              <a:gdLst/>
              <a:ahLst/>
              <a:cxnLst/>
              <a:rect l="l" t="t" r="r" b="b"/>
              <a:pathLst>
                <a:path w="3121660" h="3590925">
                  <a:moveTo>
                    <a:pt x="3121152" y="0"/>
                  </a:moveTo>
                  <a:lnTo>
                    <a:pt x="0" y="0"/>
                  </a:lnTo>
                  <a:lnTo>
                    <a:pt x="0" y="3590544"/>
                  </a:lnTo>
                  <a:lnTo>
                    <a:pt x="3121152" y="3590544"/>
                  </a:lnTo>
                  <a:lnTo>
                    <a:pt x="31211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7280" y="1606296"/>
              <a:ext cx="5553455" cy="36972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33188" y="1632204"/>
              <a:ext cx="5447030" cy="3590925"/>
            </a:xfrm>
            <a:custGeom>
              <a:avLst/>
              <a:gdLst/>
              <a:ahLst/>
              <a:cxnLst/>
              <a:rect l="l" t="t" r="r" b="b"/>
              <a:pathLst>
                <a:path w="5447030" h="3590925">
                  <a:moveTo>
                    <a:pt x="5446775" y="0"/>
                  </a:moveTo>
                  <a:lnTo>
                    <a:pt x="0" y="0"/>
                  </a:lnTo>
                  <a:lnTo>
                    <a:pt x="0" y="3590544"/>
                  </a:lnTo>
                  <a:lnTo>
                    <a:pt x="5446775" y="3590544"/>
                  </a:lnTo>
                  <a:lnTo>
                    <a:pt x="5446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9403" y="2186940"/>
              <a:ext cx="2563367" cy="248411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52719" y="232741"/>
            <a:ext cx="45408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"/>
                <a:cs typeface="Cambria"/>
              </a:rPr>
              <a:t>“</a:t>
            </a:r>
            <a:r>
              <a:rPr sz="1400" i="1" dirty="0">
                <a:latin typeface="Cambria"/>
                <a:cs typeface="Cambria"/>
              </a:rPr>
              <a:t>Universidad</a:t>
            </a:r>
            <a:r>
              <a:rPr sz="1400" i="1" spc="-4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orientada</a:t>
            </a:r>
            <a:r>
              <a:rPr sz="1400" i="1" spc="-3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a</a:t>
            </a:r>
            <a:r>
              <a:rPr sz="1400" i="1" spc="-25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la</a:t>
            </a:r>
            <a:r>
              <a:rPr sz="1400" i="1" spc="-2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acción</a:t>
            </a:r>
            <a:r>
              <a:rPr sz="1400" i="1" spc="-3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con</a:t>
            </a:r>
            <a:r>
              <a:rPr sz="1400" i="1" spc="-30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ideas</a:t>
            </a:r>
            <a:r>
              <a:rPr sz="1400" i="1" spc="-25" dirty="0">
                <a:latin typeface="Cambria"/>
                <a:cs typeface="Cambria"/>
              </a:rPr>
              <a:t> </a:t>
            </a:r>
            <a:r>
              <a:rPr sz="1400" i="1" dirty="0">
                <a:latin typeface="Cambria"/>
                <a:cs typeface="Cambria"/>
              </a:rPr>
              <a:t>que</a:t>
            </a:r>
            <a:r>
              <a:rPr sz="1400" i="1" spc="-40" dirty="0">
                <a:latin typeface="Cambria"/>
                <a:cs typeface="Cambria"/>
              </a:rPr>
              <a:t> </a:t>
            </a:r>
            <a:r>
              <a:rPr sz="1400" i="1" spc="-10" dirty="0">
                <a:latin typeface="Cambria"/>
                <a:cs typeface="Cambria"/>
              </a:rPr>
              <a:t>construyen</a:t>
            </a:r>
            <a:r>
              <a:rPr sz="1400" spc="-10" dirty="0">
                <a:latin typeface="Cambria"/>
                <a:cs typeface="Cambria"/>
              </a:rPr>
              <a:t>”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423912" y="3131169"/>
            <a:ext cx="5062731" cy="894476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35"/>
              </a:spcBef>
            </a:pPr>
            <a:r>
              <a:rPr lang="es-ES" sz="2700" dirty="0">
                <a:solidFill>
                  <a:srgbClr val="000000"/>
                </a:solidFill>
              </a:rPr>
              <a:t>Unidad de Biblioteca</a:t>
            </a:r>
            <a:endParaRPr sz="2700" dirty="0"/>
          </a:p>
          <a:p>
            <a:pPr marL="1270">
              <a:lnSpc>
                <a:spcPct val="100000"/>
              </a:lnSpc>
              <a:spcBef>
                <a:spcPts val="459"/>
              </a:spcBef>
            </a:pPr>
            <a:r>
              <a:rPr lang="es-ES" sz="2000" b="0" spc="-10" dirty="0">
                <a:solidFill>
                  <a:srgbClr val="000000"/>
                </a:solidFill>
                <a:latin typeface="Cambria"/>
                <a:cs typeface="Cambria"/>
              </a:rPr>
              <a:t>Vicerrectoría Académica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66537" y="4038599"/>
            <a:ext cx="4158463" cy="45719"/>
          </a:xfrm>
          <a:custGeom>
            <a:avLst/>
            <a:gdLst/>
            <a:ahLst/>
            <a:cxnLst/>
            <a:rect l="l" t="t" r="r" b="b"/>
            <a:pathLst>
              <a:path w="3980815">
                <a:moveTo>
                  <a:pt x="0" y="0"/>
                </a:moveTo>
                <a:lnTo>
                  <a:pt x="3980332" y="0"/>
                </a:lnTo>
              </a:path>
            </a:pathLst>
          </a:custGeom>
          <a:ln w="12192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26" name="Picture 2" descr="by-nc-sa">
            <a:extLst>
              <a:ext uri="{FF2B5EF4-FFF2-40B4-BE49-F238E27FC236}">
                <a16:creationId xmlns:a16="http://schemas.microsoft.com/office/drawing/2014/main" id="{9C3FE051-E789-33DF-777D-AF04C3B67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DD21-264C-5FBB-DB72-73DBCAD4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5A1FFF4-A5B0-B23C-030B-187FFD06F7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0" cy="685799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8ECD9AFE-B503-0D37-AEBC-EDE3BA295519}"/>
              </a:ext>
            </a:extLst>
          </p:cNvPr>
          <p:cNvSpPr txBox="1"/>
          <p:nvPr/>
        </p:nvSpPr>
        <p:spPr>
          <a:xfrm>
            <a:off x="533400" y="4150554"/>
            <a:ext cx="490808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es-ES" sz="2800" b="1" spc="-10" dirty="0">
                <a:solidFill>
                  <a:srgbClr val="FF0000"/>
                </a:solidFill>
                <a:latin typeface="Cambria"/>
                <a:cs typeface="Cambria"/>
              </a:rPr>
              <a:t>Biblioteca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A226FD4-2891-988E-4273-4B563AF10FD6}"/>
              </a:ext>
            </a:extLst>
          </p:cNvPr>
          <p:cNvSpPr txBox="1"/>
          <p:nvPr/>
        </p:nvSpPr>
        <p:spPr>
          <a:xfrm>
            <a:off x="3186271" y="4827351"/>
            <a:ext cx="22536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es-ES" sz="1600" b="1" i="1" spc="-10" dirty="0">
                <a:latin typeface="Cambria"/>
                <a:cs typeface="Cambria"/>
              </a:rPr>
              <a:t>Unidad de Biblioteca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DBBA4BE-2FA2-8629-4CD0-0F64F1469244}"/>
              </a:ext>
            </a:extLst>
          </p:cNvPr>
          <p:cNvSpPr txBox="1"/>
          <p:nvPr/>
        </p:nvSpPr>
        <p:spPr>
          <a:xfrm>
            <a:off x="4330251" y="2968123"/>
            <a:ext cx="122936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1" spc="-25" dirty="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lang="es-ES" sz="8000" b="1" spc="-25" dirty="0">
                <a:solidFill>
                  <a:srgbClr val="7E7E7E"/>
                </a:solidFill>
                <a:latin typeface="Cambria"/>
                <a:cs typeface="Cambria"/>
              </a:rPr>
              <a:t>1</a:t>
            </a:r>
            <a:endParaRPr sz="8000" dirty="0">
              <a:latin typeface="Cambria"/>
              <a:cs typeface="Cambri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A973418-090A-989C-EF2C-1ADCF369FDE6}"/>
              </a:ext>
            </a:extLst>
          </p:cNvPr>
          <p:cNvSpPr/>
          <p:nvPr/>
        </p:nvSpPr>
        <p:spPr>
          <a:xfrm>
            <a:off x="2914650" y="4725161"/>
            <a:ext cx="2537460" cy="0"/>
          </a:xfrm>
          <a:custGeom>
            <a:avLst/>
            <a:gdLst/>
            <a:ahLst/>
            <a:cxnLst/>
            <a:rect l="l" t="t" r="r" b="b"/>
            <a:pathLst>
              <a:path w="2537460">
                <a:moveTo>
                  <a:pt x="0" y="0"/>
                </a:moveTo>
                <a:lnTo>
                  <a:pt x="2537015" y="0"/>
                </a:lnTo>
              </a:path>
            </a:pathLst>
          </a:custGeom>
          <a:ln w="3175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2" descr="by-nc-sa">
            <a:extLst>
              <a:ext uri="{FF2B5EF4-FFF2-40B4-BE49-F238E27FC236}">
                <a16:creationId xmlns:a16="http://schemas.microsoft.com/office/drawing/2014/main" id="{2524C100-F2DF-495C-9D4C-35FD0AE9A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8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 rot="16200000">
            <a:off x="-735828" y="3797771"/>
            <a:ext cx="3899365" cy="722023"/>
          </a:xfrm>
          <a:prstGeom prst="rect">
            <a:avLst/>
          </a:prstGeom>
        </p:spPr>
        <p:txBody>
          <a:bodyPr vert="horz" wrap="square" lIns="0" tIns="227360" rIns="0" bIns="0" rtlCol="0">
            <a:spAutoFit/>
          </a:bodyPr>
          <a:lstStyle/>
          <a:p>
            <a:pPr marL="1141095">
              <a:lnSpc>
                <a:spcPct val="100000"/>
              </a:lnSpc>
              <a:spcBef>
                <a:spcPts val="105"/>
              </a:spcBef>
            </a:pPr>
            <a:r>
              <a:rPr lang="es-ES" sz="3200" dirty="0"/>
              <a:t>Sedes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4038599" y="6578132"/>
            <a:ext cx="41148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Fuente: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Unidad </a:t>
            </a:r>
            <a:r>
              <a:rPr sz="900" spc="-10" dirty="0">
                <a:latin typeface="Calibri"/>
                <a:cs typeface="Calibri"/>
              </a:rPr>
              <a:t>Biblioteca.</a:t>
            </a:r>
            <a:r>
              <a:rPr sz="900" dirty="0">
                <a:latin typeface="Calibri"/>
                <a:cs typeface="Calibri"/>
              </a:rPr>
              <a:t> </a:t>
            </a:r>
            <a:r>
              <a:rPr lang="es-ES" sz="900" dirty="0">
                <a:latin typeface="Calibri"/>
                <a:cs typeface="Calibri"/>
              </a:rPr>
              <a:t>30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lang="es-ES" sz="900" spc="5" dirty="0">
                <a:latin typeface="Calibri"/>
                <a:cs typeface="Calibri"/>
              </a:rPr>
              <a:t>agosto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202</a:t>
            </a:r>
            <a:r>
              <a:rPr lang="es-ES" sz="900" dirty="0">
                <a:latin typeface="Calibri"/>
                <a:cs typeface="Calibri"/>
              </a:rPr>
              <a:t>4 </a:t>
            </a:r>
            <a:r>
              <a:rPr sz="900" spc="-45" dirty="0"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http</a:t>
            </a:r>
            <a:r>
              <a:rPr lang="es-ES" sz="900" spc="-10" dirty="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s</a:t>
            </a:r>
            <a:r>
              <a:rPr sz="900" spc="-10" dirty="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://biblioteca.udistrital.edu.co/</a:t>
            </a:r>
            <a:endParaRPr sz="900" dirty="0">
              <a:latin typeface="Calibri"/>
              <a:cs typeface="Calibri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414F13FA-26E5-4B59-88DF-75DCA15D6A3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4098" y="228600"/>
            <a:ext cx="8420102" cy="5757607"/>
          </a:xfrm>
          <a:prstGeom prst="rect">
            <a:avLst/>
          </a:prstGeom>
        </p:spPr>
      </p:pic>
      <p:pic>
        <p:nvPicPr>
          <p:cNvPr id="4" name="Picture 2" descr="by-nc-sa">
            <a:extLst>
              <a:ext uri="{FF2B5EF4-FFF2-40B4-BE49-F238E27FC236}">
                <a16:creationId xmlns:a16="http://schemas.microsoft.com/office/drawing/2014/main" id="{C256728C-7AA9-F485-1828-B6DD1EB58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1A8454F-2C93-5BAD-D95C-30E239ECFB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293" y="5989232"/>
            <a:ext cx="431799" cy="43179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D267CD8-D10B-47B3-DF41-548ABA8CB0B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877" y="6010822"/>
            <a:ext cx="431799" cy="43179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7AD9DAA-1D6D-6B9D-2562-AAD99705550B}"/>
              </a:ext>
            </a:extLst>
          </p:cNvPr>
          <p:cNvSpPr txBox="1"/>
          <p:nvPr/>
        </p:nvSpPr>
        <p:spPr>
          <a:xfrm>
            <a:off x="6181792" y="6062037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@</a:t>
            </a:r>
            <a:r>
              <a:rPr lang="es-CO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bibliotecaud</a:t>
            </a:r>
            <a:endParaRPr lang="es-CO" sz="1400" dirty="0">
              <a:solidFill>
                <a:schemeClr val="tx1">
                  <a:lumMod val="50000"/>
                  <a:lumOff val="5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81FD56C-A57F-8FCF-DC24-44E1FA54E40A}"/>
              </a:ext>
            </a:extLst>
          </p:cNvPr>
          <p:cNvSpPr txBox="1"/>
          <p:nvPr/>
        </p:nvSpPr>
        <p:spPr>
          <a:xfrm>
            <a:off x="8074094" y="6062037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Bibliotecas UD</a:t>
            </a:r>
          </a:p>
        </p:txBody>
      </p:sp>
      <p:pic>
        <p:nvPicPr>
          <p:cNvPr id="15" name="Picture 2" descr="Chat para captar la atención">
            <a:extLst>
              <a:ext uri="{FF2B5EF4-FFF2-40B4-BE49-F238E27FC236}">
                <a16:creationId xmlns:a16="http://schemas.microsoft.com/office/drawing/2014/main" id="{E4AB3D98-99C7-8EB7-49C8-0C7D77EBD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716" y="6010822"/>
            <a:ext cx="431799" cy="41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877A9E1-62DB-54B0-9968-499EF1C02FAB}"/>
              </a:ext>
            </a:extLst>
          </p:cNvPr>
          <p:cNvSpPr txBox="1"/>
          <p:nvPr/>
        </p:nvSpPr>
        <p:spPr>
          <a:xfrm>
            <a:off x="4495800" y="6062037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</a:rPr>
              <a:t>ChatBUD</a:t>
            </a:r>
            <a:endParaRPr lang="es-CO" sz="1400" dirty="0">
              <a:solidFill>
                <a:schemeClr val="tx1">
                  <a:lumMod val="50000"/>
                  <a:lumOff val="50000"/>
                </a:schemeClr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CC27-73C7-83EB-2F08-B33C56E8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B7A9F3-6630-9AE3-A392-5BF43570615C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F44CF39-CDFC-23BA-51D2-B1DD04084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389529" cy="560501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Espacios, colecciones y dotación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2D152C85-72F6-F1B2-98B0-33A9E6950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67F07F-9373-B516-DCCA-0B07020876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216E2A8-5C2C-E6DA-D0F3-2BE9157EC7A3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12CA99C-BC61-9091-B2EF-EC4D46612A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5B0F184-1B93-9742-22E5-25C91BCF6351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2378C99-D5DB-9C42-0D2F-CA7598F6DB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054" y="3212363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0EC66A5B-A41A-8D31-8667-A48A44837E4F}"/>
              </a:ext>
            </a:extLst>
          </p:cNvPr>
          <p:cNvSpPr txBox="1"/>
          <p:nvPr/>
        </p:nvSpPr>
        <p:spPr>
          <a:xfrm>
            <a:off x="5825300" y="4234072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C43F15F-BEAE-8DB0-8856-28FB30EBF47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52EDB0F-B06D-644B-2969-B190EDA84EDE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FD6F06B-11BD-FB42-B4F3-71D5FBBD47E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D56B4F11-D3AD-3A5D-5B1F-9903D485257A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175A5E6-DE8D-C5EB-4DCF-4E2F10E9F1B8}"/>
              </a:ext>
            </a:extLst>
          </p:cNvPr>
          <p:cNvSpPr txBox="1"/>
          <p:nvPr/>
        </p:nvSpPr>
        <p:spPr>
          <a:xfrm>
            <a:off x="1393840" y="4350391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5489</a:t>
            </a:r>
            <a:r>
              <a:rPr lang="es-CO" sz="20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36E0917-0248-4304-7EB4-ECE09F50F60F}"/>
              </a:ext>
            </a:extLst>
          </p:cNvPr>
          <p:cNvSpPr txBox="1"/>
          <p:nvPr/>
        </p:nvSpPr>
        <p:spPr>
          <a:xfrm>
            <a:off x="2894221" y="4350391"/>
            <a:ext cx="1928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375.000+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210.000k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91k documentos en RIUD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45k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30k revistas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47 bases de datos suscritas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1A50C7A-C00B-C14F-7633-FA43DF137210}"/>
              </a:ext>
            </a:extLst>
          </p:cNvPr>
          <p:cNvSpPr txBox="1"/>
          <p:nvPr/>
        </p:nvSpPr>
        <p:spPr>
          <a:xfrm>
            <a:off x="5081767" y="4393942"/>
            <a:ext cx="19742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2370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62 equipos funcionarios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29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497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1675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9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14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TVs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84 audífonos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4999E98-1336-AB0A-3BA6-16D4B504220E}"/>
              </a:ext>
            </a:extLst>
          </p:cNvPr>
          <p:cNvSpPr txBox="1"/>
          <p:nvPr/>
        </p:nvSpPr>
        <p:spPr>
          <a:xfrm>
            <a:off x="7455827" y="4350391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1426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2458A28-0349-E8F8-3257-2691BB586AD5}"/>
              </a:ext>
            </a:extLst>
          </p:cNvPr>
          <p:cNvSpPr txBox="1"/>
          <p:nvPr/>
        </p:nvSpPr>
        <p:spPr>
          <a:xfrm>
            <a:off x="9144000" y="4350391"/>
            <a:ext cx="1974216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88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16 sala de lectura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6 auditorios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teatro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9 salas grupales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5 salas expositivas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sala multifuncional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 salas de informática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4 salas multimedia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 </a:t>
            </a:r>
            <a:r>
              <a:rPr lang="es-CO" sz="800" dirty="0" err="1">
                <a:solidFill>
                  <a:srgbClr val="990000"/>
                </a:solidFill>
                <a:latin typeface="Cambria" panose="02040503050406030204" pitchFamily="18" charset="0"/>
              </a:rPr>
              <a:t>maker</a:t>
            </a:r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800" dirty="0" err="1">
                <a:solidFill>
                  <a:srgbClr val="990000"/>
                </a:solidFill>
                <a:latin typeface="Cambria" panose="02040503050406030204" pitchFamily="18" charset="0"/>
              </a:rPr>
              <a:t>spaces</a:t>
            </a:r>
            <a:endParaRPr lang="es-CO" sz="8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21 mediatecas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 salas de capacitación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13 </a:t>
            </a:r>
            <a:r>
              <a:rPr lang="es-CO" sz="800" dirty="0" err="1">
                <a:solidFill>
                  <a:srgbClr val="990000"/>
                </a:solidFill>
                <a:latin typeface="Cambria" panose="02040503050406030204" pitchFamily="18" charset="0"/>
              </a:rPr>
              <a:t>coworkings</a:t>
            </a:r>
            <a:endParaRPr lang="es-CO" sz="8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sala plurilingüe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FABLAB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café libro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2 salones</a:t>
            </a:r>
          </a:p>
          <a:p>
            <a:pPr algn="r"/>
            <a:r>
              <a:rPr lang="es-CO" sz="800" dirty="0">
                <a:solidFill>
                  <a:srgbClr val="990000"/>
                </a:solidFill>
                <a:latin typeface="Cambria" panose="02040503050406030204" pitchFamily="18" charset="0"/>
              </a:rPr>
              <a:t>1 biblioteca inclusiva</a:t>
            </a:r>
            <a:endParaRPr lang="es-CO" sz="9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0D8F5C4B-24CA-40A8-7360-D7B9C9A9E7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9" t="6648" b="613"/>
          <a:stretch/>
        </p:blipFill>
        <p:spPr>
          <a:xfrm>
            <a:off x="2683287" y="843954"/>
            <a:ext cx="2655151" cy="199440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DA8EFC19-24E0-0649-2007-43E7AF71B1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6" t="10370" r="212" b="5537"/>
          <a:stretch/>
        </p:blipFill>
        <p:spPr>
          <a:xfrm>
            <a:off x="5105400" y="967717"/>
            <a:ext cx="2573587" cy="177548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6B27A04E-9589-3C43-404C-ECF47ABCB3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54" t="8701" r="-467" b="9449"/>
          <a:stretch/>
        </p:blipFill>
        <p:spPr>
          <a:xfrm>
            <a:off x="7716260" y="918408"/>
            <a:ext cx="2573587" cy="173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4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46DF7-22BD-9099-14E8-10203275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458E01-2CF2-63C1-474D-4A651ABA3EB0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7A5992C-4065-28FF-0A0B-0FBF174A0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234" y="304800"/>
            <a:ext cx="10389529" cy="560501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 algn="ctr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Biblioteca </a:t>
            </a:r>
            <a:r>
              <a:rPr lang="es-ES" dirty="0" err="1"/>
              <a:t>Vytautas</a:t>
            </a:r>
            <a:r>
              <a:rPr lang="es-ES" dirty="0"/>
              <a:t> </a:t>
            </a:r>
            <a:r>
              <a:rPr lang="es-ES" dirty="0" err="1"/>
              <a:t>Gabriunas</a:t>
            </a:r>
            <a:r>
              <a:rPr lang="es-ES" dirty="0"/>
              <a:t> – Sede Facultad de Ingeniería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8E87F1EF-86BC-034D-8FB9-6EACB639B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CBC8B-321B-5E99-B272-44F686B96F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87" y="2971321"/>
            <a:ext cx="990600" cy="990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32D5AA1-1FEC-3611-7A53-AE63763D51A2}"/>
              </a:ext>
            </a:extLst>
          </p:cNvPr>
          <p:cNvSpPr txBox="1"/>
          <p:nvPr/>
        </p:nvSpPr>
        <p:spPr>
          <a:xfrm>
            <a:off x="1512335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Infraestructura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DFE6704-2F16-661A-EA4A-E4F8183D15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7" y="3100463"/>
            <a:ext cx="990600" cy="9906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2F7AE6B-4AEE-7CAC-93CD-8B8EA02643A2}"/>
              </a:ext>
            </a:extLst>
          </p:cNvPr>
          <p:cNvSpPr txBox="1"/>
          <p:nvPr/>
        </p:nvSpPr>
        <p:spPr>
          <a:xfrm>
            <a:off x="3539354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Colecciones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3109285-5D53-AA25-A71F-642DFAFF71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7" y="3161821"/>
            <a:ext cx="838200" cy="8382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F01FDAB-FE52-3B59-1232-51E4247D6055}"/>
              </a:ext>
            </a:extLst>
          </p:cNvPr>
          <p:cNvSpPr txBox="1"/>
          <p:nvPr/>
        </p:nvSpPr>
        <p:spPr>
          <a:xfrm>
            <a:off x="5566373" y="418353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Tecnología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F41831A-8A0D-0DDC-0543-31AED5371A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511" y="3155239"/>
            <a:ext cx="838200" cy="8382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D54525B-B975-092C-1629-50F842D0537A}"/>
              </a:ext>
            </a:extLst>
          </p:cNvPr>
          <p:cNvSpPr txBox="1"/>
          <p:nvPr/>
        </p:nvSpPr>
        <p:spPr>
          <a:xfrm>
            <a:off x="9144000" y="4190520"/>
            <a:ext cx="202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Auditorios y otros espacios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DACA90A-2EA2-587E-EEB4-1893455821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819" y="3212363"/>
            <a:ext cx="838200" cy="8382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1ECE8AA4-B7F1-07C6-757A-83B69CCBB9D5}"/>
              </a:ext>
            </a:extLst>
          </p:cNvPr>
          <p:cNvSpPr txBox="1"/>
          <p:nvPr/>
        </p:nvSpPr>
        <p:spPr>
          <a:xfrm>
            <a:off x="7327047" y="4183529"/>
            <a:ext cx="1629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Puestos de lectura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4B6845E-DB7D-06E0-E34A-82A45E7084C2}"/>
              </a:ext>
            </a:extLst>
          </p:cNvPr>
          <p:cNvSpPr txBox="1"/>
          <p:nvPr/>
        </p:nvSpPr>
        <p:spPr>
          <a:xfrm>
            <a:off x="1393840" y="4467519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rgbClr val="990000"/>
                </a:solidFill>
                <a:latin typeface="Cambria" panose="02040503050406030204" pitchFamily="18" charset="0"/>
              </a:rPr>
              <a:t>261</a:t>
            </a:r>
            <a:r>
              <a:rPr lang="es-CO" sz="20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  <a:p>
            <a:pPr algn="r"/>
            <a:r>
              <a:rPr lang="es-CO" sz="1600" dirty="0">
                <a:solidFill>
                  <a:srgbClr val="990000"/>
                </a:solidFill>
                <a:latin typeface="Cambria" panose="02040503050406030204" pitchFamily="18" charset="0"/>
              </a:rPr>
              <a:t>mt</a:t>
            </a:r>
            <a:r>
              <a:rPr lang="es-CO" sz="1600" baseline="30000" dirty="0">
                <a:solidFill>
                  <a:srgbClr val="990000"/>
                </a:solidFill>
                <a:latin typeface="Cambria" panose="02040503050406030204" pitchFamily="18" charset="0"/>
              </a:rPr>
              <a:t>2</a:t>
            </a:r>
            <a:endParaRPr lang="es-CO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732146E-7CA2-E365-1C89-4813B72C16E2}"/>
              </a:ext>
            </a:extLst>
          </p:cNvPr>
          <p:cNvSpPr txBox="1"/>
          <p:nvPr/>
        </p:nvSpPr>
        <p:spPr>
          <a:xfrm>
            <a:off x="3451240" y="4467519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24.000+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14k libros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500 audiovisual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10k trabajos de grado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2140A5F-D043-BAD1-DDAD-C245BB327013}"/>
              </a:ext>
            </a:extLst>
          </p:cNvPr>
          <p:cNvSpPr txBox="1"/>
          <p:nvPr/>
        </p:nvSpPr>
        <p:spPr>
          <a:xfrm>
            <a:off x="4822840" y="4460528"/>
            <a:ext cx="1974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321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equipos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catálogos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43 portátiles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272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tablets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cartelera digital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</a:t>
            </a:r>
            <a:r>
              <a:rPr lang="es-CO" sz="1200" dirty="0" err="1">
                <a:solidFill>
                  <a:srgbClr val="990000"/>
                </a:solidFill>
                <a:latin typeface="Cambria" panose="02040503050406030204" pitchFamily="18" charset="0"/>
              </a:rPr>
              <a:t>TVs</a:t>
            </a:r>
            <a:endParaRPr lang="es-CO" sz="1200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2 audífonos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5B4A282-1EC1-0EC4-A0F3-1B505D446D79}"/>
              </a:ext>
            </a:extLst>
          </p:cNvPr>
          <p:cNvSpPr txBox="1"/>
          <p:nvPr/>
        </p:nvSpPr>
        <p:spPr>
          <a:xfrm>
            <a:off x="7455827" y="4467519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72</a:t>
            </a:r>
            <a:r>
              <a:rPr lang="es-CO" sz="1600" b="1" dirty="0">
                <a:solidFill>
                  <a:srgbClr val="99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837A5B9-E8E8-7449-89E8-E9D0C9D00309}"/>
              </a:ext>
            </a:extLst>
          </p:cNvPr>
          <p:cNvSpPr txBox="1"/>
          <p:nvPr/>
        </p:nvSpPr>
        <p:spPr>
          <a:xfrm>
            <a:off x="9144000" y="4467519"/>
            <a:ext cx="197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rgbClr val="990000"/>
                </a:solidFill>
                <a:latin typeface="Cambria" panose="02040503050406030204" pitchFamily="18" charset="0"/>
              </a:rPr>
              <a:t>2 </a:t>
            </a:r>
            <a:r>
              <a:rPr lang="es-CO" b="1" dirty="0">
                <a:solidFill>
                  <a:srgbClr val="990000"/>
                </a:solidFill>
                <a:latin typeface="Cambria" panose="02040503050406030204" pitchFamily="18" charset="0"/>
              </a:rPr>
              <a:t>espacios</a:t>
            </a:r>
            <a:endParaRPr lang="es-CO" sz="1600" b="1" dirty="0">
              <a:solidFill>
                <a:srgbClr val="990000"/>
              </a:solidFill>
              <a:latin typeface="Cambria" panose="02040503050406030204" pitchFamily="18" charset="0"/>
            </a:endParaRP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de lectura</a:t>
            </a:r>
          </a:p>
          <a:p>
            <a:pPr algn="r"/>
            <a:r>
              <a:rPr lang="es-CO" sz="1200" dirty="0">
                <a:solidFill>
                  <a:srgbClr val="990000"/>
                </a:solidFill>
                <a:latin typeface="Cambria" panose="02040503050406030204" pitchFamily="18" charset="0"/>
              </a:rPr>
              <a:t>1 sala grupal</a:t>
            </a:r>
            <a:endParaRPr lang="es-CO" sz="1400" dirty="0">
              <a:solidFill>
                <a:srgbClr val="990000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2974D5-FBC6-D9E3-6DB7-8D9BEC858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973" y="883355"/>
            <a:ext cx="7772400" cy="208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5E575-E92B-237A-426E-919FB42E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710082"/>
            <a:ext cx="9690564" cy="369332"/>
          </a:xfrm>
        </p:spPr>
        <p:txBody>
          <a:bodyPr/>
          <a:lstStyle/>
          <a:p>
            <a:r>
              <a:rPr lang="es-CO" dirty="0"/>
              <a:t>Equipo Biblioteca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26C6CB-D3AF-73BF-314F-06A0E2F4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40304"/>
            <a:ext cx="10591800" cy="469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9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6400" y="6400800"/>
            <a:ext cx="2406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>
                <a:latin typeface="Calibri"/>
                <a:cs typeface="Calibri"/>
              </a:rPr>
              <a:t>Fuente: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Unidad </a:t>
            </a:r>
            <a:r>
              <a:rPr sz="900" spc="-10">
                <a:latin typeface="Calibri"/>
                <a:cs typeface="Calibri"/>
              </a:rPr>
              <a:t>Biblioteca.</a:t>
            </a:r>
            <a:r>
              <a:rPr sz="900" spc="-5">
                <a:latin typeface="Calibri"/>
                <a:cs typeface="Calibri"/>
              </a:rPr>
              <a:t> </a:t>
            </a:r>
            <a:r>
              <a:rPr sz="900" spc="500">
                <a:latin typeface="Calibri"/>
                <a:cs typeface="Calibri"/>
              </a:rPr>
              <a:t> </a:t>
            </a:r>
            <a:r>
              <a:rPr sz="900" spc="-10">
                <a:solidFill>
                  <a:srgbClr val="006FC0"/>
                </a:solidFill>
                <a:latin typeface="Calibri"/>
                <a:cs typeface="Calibri"/>
                <a:hlinkClick r:id="rId3"/>
              </a:rPr>
              <a:t>http://biblioteca.udistrital.edu.co/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57E7CD47-EFF5-4892-B979-3470AB083D05}"/>
              </a:ext>
            </a:extLst>
          </p:cNvPr>
          <p:cNvSpPr txBox="1">
            <a:spLocks/>
          </p:cNvSpPr>
          <p:nvPr/>
        </p:nvSpPr>
        <p:spPr>
          <a:xfrm>
            <a:off x="672635" y="544088"/>
            <a:ext cx="10846729" cy="765624"/>
          </a:xfrm>
          <a:prstGeom prst="rect">
            <a:avLst/>
          </a:prstGeom>
        </p:spPr>
        <p:txBody>
          <a:bodyPr vert="horz" wrap="square" lIns="0" tIns="227360" rIns="0" bIns="0" rtlCol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141095">
              <a:spcBef>
                <a:spcPts val="105"/>
              </a:spcBef>
            </a:pPr>
            <a:r>
              <a:rPr lang="es-ES" sz="2000"/>
              <a:t>CRAI+</a:t>
            </a:r>
          </a:p>
          <a:p>
            <a:pPr marL="1141095">
              <a:spcBef>
                <a:spcPts val="105"/>
              </a:spcBef>
            </a:pPr>
            <a:r>
              <a:rPr lang="es-ES" sz="1400"/>
              <a:t>Centro de Recursos para el Aprendizaje y la Investigación + (Innovación, Creación, Cultura y Proyección Social)</a:t>
            </a:r>
            <a:endParaRPr lang="es-ES" sz="1600"/>
          </a:p>
        </p:txBody>
      </p:sp>
      <p:pic>
        <p:nvPicPr>
          <p:cNvPr id="1026" name="Picture 2" descr="banner">
            <a:extLst>
              <a:ext uri="{FF2B5EF4-FFF2-40B4-BE49-F238E27FC236}">
                <a16:creationId xmlns:a16="http://schemas.microsoft.com/office/drawing/2014/main" id="{6668F188-ED9A-CEC6-EF43-71729D3B7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2" y="2802128"/>
            <a:ext cx="11448288" cy="238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F5A7925-C596-4C63-7D04-EFAB69B36F96}"/>
              </a:ext>
            </a:extLst>
          </p:cNvPr>
          <p:cNvCxnSpPr>
            <a:cxnSpLocks/>
          </p:cNvCxnSpPr>
          <p:nvPr/>
        </p:nvCxnSpPr>
        <p:spPr>
          <a:xfrm flipV="1">
            <a:off x="3804412" y="2414016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F7AD4B7-0144-E417-612F-8392D6BA5B9E}"/>
              </a:ext>
            </a:extLst>
          </p:cNvPr>
          <p:cNvCxnSpPr>
            <a:cxnSpLocks/>
          </p:cNvCxnSpPr>
          <p:nvPr/>
        </p:nvCxnSpPr>
        <p:spPr>
          <a:xfrm>
            <a:off x="2157984" y="5187188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D9A5E01-59A4-F551-4118-BD09D9BBFC51}"/>
              </a:ext>
            </a:extLst>
          </p:cNvPr>
          <p:cNvSpPr txBox="1"/>
          <p:nvPr/>
        </p:nvSpPr>
        <p:spPr>
          <a:xfrm>
            <a:off x="3207004" y="1730614"/>
            <a:ext cx="119481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/>
                <a:ea typeface="Cambria"/>
              </a:rPr>
              <a:t>Feria de Servicios</a:t>
            </a:r>
            <a:endParaRPr lang="en-US"/>
          </a:p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/>
                <a:ea typeface="Cambria"/>
              </a:rPr>
              <a:t>Inducciones </a:t>
            </a:r>
            <a:endParaRPr lang="es-CO"/>
          </a:p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/>
                <a:ea typeface="Cambria"/>
              </a:rPr>
              <a:t>La Biblioteca U en el colegio</a:t>
            </a:r>
            <a:endParaRPr lang="es-CO"/>
          </a:p>
          <a:p>
            <a:pPr algn="ctr"/>
            <a:endParaRPr lang="es-CO" sz="80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/>
            </a:endParaRPr>
          </a:p>
        </p:txBody>
      </p:sp>
      <p:sp>
        <p:nvSpPr>
          <p:cNvPr id="17" name="Abrir llave 16">
            <a:extLst>
              <a:ext uri="{FF2B5EF4-FFF2-40B4-BE49-F238E27FC236}">
                <a16:creationId xmlns:a16="http://schemas.microsoft.com/office/drawing/2014/main" id="{35F0F2C2-F369-E0FF-3E79-8135AA9CC2F6}"/>
              </a:ext>
            </a:extLst>
          </p:cNvPr>
          <p:cNvSpPr/>
          <p:nvPr/>
        </p:nvSpPr>
        <p:spPr>
          <a:xfrm rot="16200000">
            <a:off x="3739515" y="1929510"/>
            <a:ext cx="129794" cy="804164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00F766D2-1D7E-6768-D888-9A7F7868627F}"/>
              </a:ext>
            </a:extLst>
          </p:cNvPr>
          <p:cNvSpPr/>
          <p:nvPr/>
        </p:nvSpPr>
        <p:spPr>
          <a:xfrm rot="5400000">
            <a:off x="2093087" y="5262573"/>
            <a:ext cx="129794" cy="804164"/>
          </a:xfrm>
          <a:prstGeom prst="leftBrac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84F6AC2-AEEB-7F34-373D-404044D0A995}"/>
              </a:ext>
            </a:extLst>
          </p:cNvPr>
          <p:cNvSpPr txBox="1"/>
          <p:nvPr/>
        </p:nvSpPr>
        <p:spPr>
          <a:xfrm>
            <a:off x="1560576" y="5680457"/>
            <a:ext cx="119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Préstamos de colecciones, portátiles, tecnologías.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E34FC08-BB70-F746-C205-51A689352C0D}"/>
              </a:ext>
            </a:extLst>
          </p:cNvPr>
          <p:cNvCxnSpPr>
            <a:cxnSpLocks/>
          </p:cNvCxnSpPr>
          <p:nvPr/>
        </p:nvCxnSpPr>
        <p:spPr>
          <a:xfrm>
            <a:off x="3738254" y="5166438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E6C2DBBC-B01A-71BD-71CB-97A1073C7DD2}"/>
              </a:ext>
            </a:extLst>
          </p:cNvPr>
          <p:cNvSpPr txBox="1"/>
          <p:nvPr/>
        </p:nvSpPr>
        <p:spPr>
          <a:xfrm>
            <a:off x="4749995" y="1983754"/>
            <a:ext cx="1030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Tablets</a:t>
            </a:r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audífonos, </a:t>
            </a:r>
            <a:r>
              <a:rPr lang="es-CO" sz="80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TVs</a:t>
            </a:r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pantallas.</a:t>
            </a:r>
          </a:p>
        </p:txBody>
      </p:sp>
      <p:sp>
        <p:nvSpPr>
          <p:cNvPr id="5" name="Abrir llave 4">
            <a:extLst>
              <a:ext uri="{FF2B5EF4-FFF2-40B4-BE49-F238E27FC236}">
                <a16:creationId xmlns:a16="http://schemas.microsoft.com/office/drawing/2014/main" id="{94C370C5-E78C-EE16-7A9B-6D9C1D3CFC64}"/>
              </a:ext>
            </a:extLst>
          </p:cNvPr>
          <p:cNvSpPr/>
          <p:nvPr/>
        </p:nvSpPr>
        <p:spPr>
          <a:xfrm rot="5400000">
            <a:off x="3673357" y="5255225"/>
            <a:ext cx="129794" cy="8041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45347AC-8C91-ED21-B2DC-0DC7E3C17B03}"/>
              </a:ext>
            </a:extLst>
          </p:cNvPr>
          <p:cNvCxnSpPr>
            <a:cxnSpLocks/>
          </p:cNvCxnSpPr>
          <p:nvPr/>
        </p:nvCxnSpPr>
        <p:spPr>
          <a:xfrm flipV="1">
            <a:off x="5265107" y="2414016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Abrir llave 7">
            <a:extLst>
              <a:ext uri="{FF2B5EF4-FFF2-40B4-BE49-F238E27FC236}">
                <a16:creationId xmlns:a16="http://schemas.microsoft.com/office/drawing/2014/main" id="{D76A86EE-A6CF-E000-878D-FC0EE13D6CE7}"/>
              </a:ext>
            </a:extLst>
          </p:cNvPr>
          <p:cNvSpPr/>
          <p:nvPr/>
        </p:nvSpPr>
        <p:spPr>
          <a:xfrm rot="16200000">
            <a:off x="5200210" y="1943910"/>
            <a:ext cx="129794" cy="804164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9D5676-5249-FE8F-47D7-9B848EEBA95B}"/>
              </a:ext>
            </a:extLst>
          </p:cNvPr>
          <p:cNvSpPr txBox="1"/>
          <p:nvPr/>
        </p:nvSpPr>
        <p:spPr>
          <a:xfrm>
            <a:off x="3140846" y="5681036"/>
            <a:ext cx="119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Sala de </a:t>
            </a:r>
            <a:r>
              <a:rPr lang="es-CO" sz="80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Plurilingüísmo</a:t>
            </a:r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Cine foros, promoción de lectura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59D7E29-FE9C-D0B9-010B-0F170BB10BF4}"/>
              </a:ext>
            </a:extLst>
          </p:cNvPr>
          <p:cNvCxnSpPr>
            <a:cxnSpLocks/>
          </p:cNvCxnSpPr>
          <p:nvPr/>
        </p:nvCxnSpPr>
        <p:spPr>
          <a:xfrm flipV="1">
            <a:off x="6718769" y="2414016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2430D57-4045-2C27-C5FD-FFF13EB94AB1}"/>
              </a:ext>
            </a:extLst>
          </p:cNvPr>
          <p:cNvSpPr txBox="1"/>
          <p:nvPr/>
        </p:nvSpPr>
        <p:spPr>
          <a:xfrm>
            <a:off x="6203657" y="1548639"/>
            <a:ext cx="10302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Agencia Pública de Empleo, técnicas de estudio, habilidades blandas.</a:t>
            </a:r>
          </a:p>
        </p:txBody>
      </p:sp>
      <p:sp>
        <p:nvSpPr>
          <p:cNvPr id="14" name="Abrir llave 13">
            <a:extLst>
              <a:ext uri="{FF2B5EF4-FFF2-40B4-BE49-F238E27FC236}">
                <a16:creationId xmlns:a16="http://schemas.microsoft.com/office/drawing/2014/main" id="{F6BD4231-4F38-8046-4B43-47D239D977E8}"/>
              </a:ext>
            </a:extLst>
          </p:cNvPr>
          <p:cNvSpPr/>
          <p:nvPr/>
        </p:nvSpPr>
        <p:spPr>
          <a:xfrm rot="16200000">
            <a:off x="6653872" y="1904527"/>
            <a:ext cx="129794" cy="804164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6F55EC15-D2AF-8564-FAA9-620941C38919}"/>
              </a:ext>
            </a:extLst>
          </p:cNvPr>
          <p:cNvCxnSpPr>
            <a:cxnSpLocks/>
          </p:cNvCxnSpPr>
          <p:nvPr/>
        </p:nvCxnSpPr>
        <p:spPr>
          <a:xfrm>
            <a:off x="5265107" y="5187188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3991202-1D55-01EE-DB69-EC2B9E9EC1EC}"/>
              </a:ext>
            </a:extLst>
          </p:cNvPr>
          <p:cNvSpPr txBox="1"/>
          <p:nvPr/>
        </p:nvSpPr>
        <p:spPr>
          <a:xfrm>
            <a:off x="4682609" y="5664655"/>
            <a:ext cx="116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BDigital</a:t>
            </a:r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RIUD, Repositorio de Datos, paz y salvos.</a:t>
            </a:r>
          </a:p>
        </p:txBody>
      </p:sp>
      <p:sp>
        <p:nvSpPr>
          <p:cNvPr id="22" name="Abrir llave 21">
            <a:extLst>
              <a:ext uri="{FF2B5EF4-FFF2-40B4-BE49-F238E27FC236}">
                <a16:creationId xmlns:a16="http://schemas.microsoft.com/office/drawing/2014/main" id="{5E2FF7CA-6F43-A81E-7DB3-131DB38EF99A}"/>
              </a:ext>
            </a:extLst>
          </p:cNvPr>
          <p:cNvSpPr/>
          <p:nvPr/>
        </p:nvSpPr>
        <p:spPr>
          <a:xfrm rot="5400000">
            <a:off x="5200210" y="5277724"/>
            <a:ext cx="129794" cy="8041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A20CB1E-D493-5404-BD5A-8515EB6FC6E3}"/>
              </a:ext>
            </a:extLst>
          </p:cNvPr>
          <p:cNvCxnSpPr>
            <a:cxnSpLocks/>
          </p:cNvCxnSpPr>
          <p:nvPr/>
        </p:nvCxnSpPr>
        <p:spPr>
          <a:xfrm flipV="1">
            <a:off x="8079767" y="2414016"/>
            <a:ext cx="0" cy="3881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Abrir llave 23">
            <a:extLst>
              <a:ext uri="{FF2B5EF4-FFF2-40B4-BE49-F238E27FC236}">
                <a16:creationId xmlns:a16="http://schemas.microsoft.com/office/drawing/2014/main" id="{ADF2343F-F823-C7CB-8A65-1EF3B9835383}"/>
              </a:ext>
            </a:extLst>
          </p:cNvPr>
          <p:cNvSpPr/>
          <p:nvPr/>
        </p:nvSpPr>
        <p:spPr>
          <a:xfrm rot="16200000">
            <a:off x="8014870" y="1905081"/>
            <a:ext cx="129794" cy="804164"/>
          </a:xfrm>
          <a:prstGeom prst="leftBrac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8145572-875B-AD1C-A549-47ECCEED9404}"/>
              </a:ext>
            </a:extLst>
          </p:cNvPr>
          <p:cNvSpPr txBox="1"/>
          <p:nvPr/>
        </p:nvSpPr>
        <p:spPr>
          <a:xfrm>
            <a:off x="7582056" y="1844943"/>
            <a:ext cx="1030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Mediateca, </a:t>
            </a:r>
            <a:r>
              <a:rPr lang="es-CO" sz="80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MediaLab</a:t>
            </a:r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, FABLAB, talleres.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7473CA9-AFBD-E995-EB0A-F0E699F3E1CA}"/>
              </a:ext>
            </a:extLst>
          </p:cNvPr>
          <p:cNvCxnSpPr>
            <a:cxnSpLocks/>
          </p:cNvCxnSpPr>
          <p:nvPr/>
        </p:nvCxnSpPr>
        <p:spPr>
          <a:xfrm>
            <a:off x="6586349" y="5187188"/>
            <a:ext cx="0" cy="38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brir llave 27">
            <a:extLst>
              <a:ext uri="{FF2B5EF4-FFF2-40B4-BE49-F238E27FC236}">
                <a16:creationId xmlns:a16="http://schemas.microsoft.com/office/drawing/2014/main" id="{683DE683-1138-5C09-1876-CB6D636F8472}"/>
              </a:ext>
            </a:extLst>
          </p:cNvPr>
          <p:cNvSpPr/>
          <p:nvPr/>
        </p:nvSpPr>
        <p:spPr>
          <a:xfrm rot="5400000">
            <a:off x="6521452" y="5238115"/>
            <a:ext cx="129794" cy="8041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8C4F53-5777-E1CA-2609-FA74A18E9A56}"/>
              </a:ext>
            </a:extLst>
          </p:cNvPr>
          <p:cNvSpPr txBox="1"/>
          <p:nvPr/>
        </p:nvSpPr>
        <p:spPr>
          <a:xfrm>
            <a:off x="6028021" y="5664655"/>
            <a:ext cx="1164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Podcast, mapas mentales, póster.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D559F64-3C09-D5FA-4204-CA3374C50763}"/>
              </a:ext>
            </a:extLst>
          </p:cNvPr>
          <p:cNvCxnSpPr>
            <a:cxnSpLocks/>
          </p:cNvCxnSpPr>
          <p:nvPr/>
        </p:nvCxnSpPr>
        <p:spPr>
          <a:xfrm flipV="1">
            <a:off x="9432814" y="2414016"/>
            <a:ext cx="0" cy="3881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Abrir llave 30">
            <a:extLst>
              <a:ext uri="{FF2B5EF4-FFF2-40B4-BE49-F238E27FC236}">
                <a16:creationId xmlns:a16="http://schemas.microsoft.com/office/drawing/2014/main" id="{F535B961-1152-55D6-8AA5-A0E801E1A2FD}"/>
              </a:ext>
            </a:extLst>
          </p:cNvPr>
          <p:cNvSpPr/>
          <p:nvPr/>
        </p:nvSpPr>
        <p:spPr>
          <a:xfrm rot="16200000">
            <a:off x="9367917" y="1904527"/>
            <a:ext cx="129794" cy="804164"/>
          </a:xfrm>
          <a:prstGeom prst="leftBrac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A018C69-EA9D-B448-6566-7A05A98BE100}"/>
              </a:ext>
            </a:extLst>
          </p:cNvPr>
          <p:cNvSpPr txBox="1"/>
          <p:nvPr/>
        </p:nvSpPr>
        <p:spPr>
          <a:xfrm>
            <a:off x="8929425" y="1510780"/>
            <a:ext cx="115917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/>
                <a:ea typeface="Cambria"/>
              </a:rPr>
              <a:t>Exposiciones, Música, artes pláticas, desfiles de moda, promoción de lectura, biblioteca ciudad-región.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BA885D8-24E7-EABF-2593-E1F7D5154199}"/>
              </a:ext>
            </a:extLst>
          </p:cNvPr>
          <p:cNvCxnSpPr>
            <a:cxnSpLocks/>
          </p:cNvCxnSpPr>
          <p:nvPr/>
        </p:nvCxnSpPr>
        <p:spPr>
          <a:xfrm>
            <a:off x="7987104" y="5189828"/>
            <a:ext cx="0" cy="38811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brir llave 34">
            <a:extLst>
              <a:ext uri="{FF2B5EF4-FFF2-40B4-BE49-F238E27FC236}">
                <a16:creationId xmlns:a16="http://schemas.microsoft.com/office/drawing/2014/main" id="{300CA9DF-0D4E-1A7B-CFDF-D084323A7CD4}"/>
              </a:ext>
            </a:extLst>
          </p:cNvPr>
          <p:cNvSpPr/>
          <p:nvPr/>
        </p:nvSpPr>
        <p:spPr>
          <a:xfrm rot="5400000">
            <a:off x="7922207" y="5255225"/>
            <a:ext cx="129794" cy="804164"/>
          </a:xfrm>
          <a:prstGeom prst="lef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4F89F7F-B6EE-1D99-5E07-DD3513AB6164}"/>
              </a:ext>
            </a:extLst>
          </p:cNvPr>
          <p:cNvSpPr txBox="1"/>
          <p:nvPr/>
        </p:nvSpPr>
        <p:spPr>
          <a:xfrm>
            <a:off x="7373433" y="5664655"/>
            <a:ext cx="1164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Colecciones, especiales, museos, centros de documentación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90DB119-8C65-4EE8-ADF8-AE3AE977D429}"/>
              </a:ext>
            </a:extLst>
          </p:cNvPr>
          <p:cNvCxnSpPr>
            <a:cxnSpLocks/>
          </p:cNvCxnSpPr>
          <p:nvPr/>
        </p:nvCxnSpPr>
        <p:spPr>
          <a:xfrm flipV="1">
            <a:off x="10778820" y="2414016"/>
            <a:ext cx="0" cy="38811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Abrir llave 37">
            <a:extLst>
              <a:ext uri="{FF2B5EF4-FFF2-40B4-BE49-F238E27FC236}">
                <a16:creationId xmlns:a16="http://schemas.microsoft.com/office/drawing/2014/main" id="{CC38F051-A4DE-96F6-2617-AF8447795C80}"/>
              </a:ext>
            </a:extLst>
          </p:cNvPr>
          <p:cNvSpPr/>
          <p:nvPr/>
        </p:nvSpPr>
        <p:spPr>
          <a:xfrm rot="16200000">
            <a:off x="10703563" y="1912796"/>
            <a:ext cx="129794" cy="804164"/>
          </a:xfrm>
          <a:prstGeom prst="leftBrac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EE7D2D2-DEC3-DFD7-8D17-4B57CCE6EF13}"/>
              </a:ext>
            </a:extLst>
          </p:cNvPr>
          <p:cNvSpPr txBox="1"/>
          <p:nvPr/>
        </p:nvSpPr>
        <p:spPr>
          <a:xfrm>
            <a:off x="10253348" y="1518621"/>
            <a:ext cx="1030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Recursos de información, estrategias y búsqueda de información, </a:t>
            </a:r>
            <a:r>
              <a:rPr lang="es-CO" sz="80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Turnitin</a:t>
            </a:r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.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411B267-4FF8-6ACD-C63B-54FE632924D5}"/>
              </a:ext>
            </a:extLst>
          </p:cNvPr>
          <p:cNvCxnSpPr>
            <a:cxnSpLocks/>
          </p:cNvCxnSpPr>
          <p:nvPr/>
        </p:nvCxnSpPr>
        <p:spPr>
          <a:xfrm>
            <a:off x="9333110" y="5187188"/>
            <a:ext cx="0" cy="38811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brir llave 40">
            <a:extLst>
              <a:ext uri="{FF2B5EF4-FFF2-40B4-BE49-F238E27FC236}">
                <a16:creationId xmlns:a16="http://schemas.microsoft.com/office/drawing/2014/main" id="{99D5E42D-D8C9-AA96-B6E1-F30245A7E5D7}"/>
              </a:ext>
            </a:extLst>
          </p:cNvPr>
          <p:cNvSpPr/>
          <p:nvPr/>
        </p:nvSpPr>
        <p:spPr>
          <a:xfrm rot="5400000">
            <a:off x="9268213" y="5262118"/>
            <a:ext cx="129794" cy="804164"/>
          </a:xfrm>
          <a:prstGeom prst="lef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39F1ED1-C498-88ED-8095-FEDAD878D8FC}"/>
              </a:ext>
            </a:extLst>
          </p:cNvPr>
          <p:cNvSpPr txBox="1"/>
          <p:nvPr/>
        </p:nvSpPr>
        <p:spPr>
          <a:xfrm>
            <a:off x="8704960" y="5664655"/>
            <a:ext cx="1164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Perfil de investigadores, publicación de alto impacto, RIUD, Repositorio de Datos.</a:t>
            </a:r>
          </a:p>
        </p:txBody>
      </p:sp>
    </p:spTree>
    <p:extLst>
      <p:ext uri="{BB962C8B-B14F-4D97-AF65-F5344CB8AC3E}">
        <p14:creationId xmlns:p14="http://schemas.microsoft.com/office/powerpoint/2010/main" val="2526382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94EA8E70-8302-4FCB-BA26-63BA9C5B7F18}"/>
              </a:ext>
            </a:extLst>
          </p:cNvPr>
          <p:cNvSpPr txBox="1">
            <a:spLocks/>
          </p:cNvSpPr>
          <p:nvPr/>
        </p:nvSpPr>
        <p:spPr>
          <a:xfrm>
            <a:off x="672635" y="544088"/>
            <a:ext cx="10846729" cy="598912"/>
          </a:xfrm>
          <a:prstGeom prst="rect">
            <a:avLst/>
          </a:prstGeom>
        </p:spPr>
        <p:txBody>
          <a:bodyPr vert="horz" wrap="square" lIns="0" tIns="227360" rIns="0" bIns="0" rtlCol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141095">
              <a:spcBef>
                <a:spcPts val="105"/>
              </a:spcBef>
            </a:pPr>
            <a:r>
              <a:rPr lang="es-ES" dirty="0"/>
              <a:t>Más de 40 alianzas Interbibliotecarias*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F0CE67-561D-4324-A4CF-B0BDCCA504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06" t="28380" r="20132" b="8334"/>
          <a:stretch/>
        </p:blipFill>
        <p:spPr>
          <a:xfrm>
            <a:off x="1142999" y="1810449"/>
            <a:ext cx="4953000" cy="328568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6D7F95F-9AE1-4B77-9D15-613C4EBD8B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56" t="20176" r="19765" b="15868"/>
          <a:stretch/>
        </p:blipFill>
        <p:spPr>
          <a:xfrm>
            <a:off x="6207370" y="1845980"/>
            <a:ext cx="5593478" cy="38490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06F4529-753A-466D-A81C-0841331A38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56" t="88159" r="19765" b="6250"/>
          <a:stretch/>
        </p:blipFill>
        <p:spPr>
          <a:xfrm>
            <a:off x="1078522" y="5316079"/>
            <a:ext cx="4953000" cy="29876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2696FE6-2112-44EE-960A-BED11243841E}"/>
              </a:ext>
            </a:extLst>
          </p:cNvPr>
          <p:cNvSpPr txBox="1"/>
          <p:nvPr/>
        </p:nvSpPr>
        <p:spPr>
          <a:xfrm>
            <a:off x="1147481" y="6398021"/>
            <a:ext cx="990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900" dirty="0">
                <a:solidFill>
                  <a:schemeClr val="tx1"/>
                </a:solidFill>
                <a:latin typeface="Cambria" panose="02040503050406030204" pitchFamily="18" charset="0"/>
              </a:rPr>
              <a:t>*Préstamos de recursos bibliográficos, uso de los espacios y servicios de las Bibliotecas e instituciones aliadas.</a:t>
            </a:r>
          </a:p>
        </p:txBody>
      </p:sp>
    </p:spTree>
    <p:extLst>
      <p:ext uri="{BB962C8B-B14F-4D97-AF65-F5344CB8AC3E}">
        <p14:creationId xmlns:p14="http://schemas.microsoft.com/office/powerpoint/2010/main" val="3881031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4309" y="6589476"/>
            <a:ext cx="4027804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" panose="02040503050406030204" pitchFamily="18" charset="0"/>
                <a:cs typeface="Times New Roman" panose="02020603050405020304" pitchFamily="18" charset="0"/>
              </a:rPr>
              <a:t>Fuente:</a:t>
            </a:r>
            <a:r>
              <a:rPr sz="900" spc="5" dirty="0">
                <a:latin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900" dirty="0">
                <a:latin typeface="Cambria" panose="02040503050406030204" pitchFamily="18" charset="0"/>
                <a:cs typeface="Times New Roman" panose="02020603050405020304" pitchFamily="18" charset="0"/>
              </a:rPr>
              <a:t>Unidad </a:t>
            </a:r>
            <a:r>
              <a:rPr sz="900" spc="-10" dirty="0">
                <a:latin typeface="Cambria" panose="02040503050406030204" pitchFamily="18" charset="0"/>
                <a:cs typeface="Times New Roman" panose="02020603050405020304" pitchFamily="18" charset="0"/>
              </a:rPr>
              <a:t>Biblioteca.</a:t>
            </a:r>
            <a:r>
              <a:rPr sz="900" dirty="0">
                <a:latin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900" spc="-40" dirty="0">
                <a:latin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http</a:t>
            </a:r>
            <a:r>
              <a:rPr lang="es-419"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s</a:t>
            </a:r>
            <a:r>
              <a:rPr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://biblioteca</a:t>
            </a:r>
            <a:r>
              <a:rPr lang="es-419"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s</a:t>
            </a:r>
            <a:r>
              <a:rPr sz="900" spc="-10" dirty="0">
                <a:solidFill>
                  <a:srgbClr val="006FC0"/>
                </a:solidFill>
                <a:latin typeface="Cambria" panose="02040503050406030204" pitchFamily="18" charset="0"/>
                <a:cs typeface="Times New Roman" panose="02020603050405020304" pitchFamily="18" charset="0"/>
                <a:hlinkClick r:id="rId3"/>
              </a:rPr>
              <a:t>.udistrital.edu.co/</a:t>
            </a:r>
            <a:endParaRPr sz="900" dirty="0"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4" descr="Acta farmacológica sínica"/>
          <p:cNvSpPr>
            <a:spLocks noChangeAspect="1" noChangeArrowheads="1"/>
          </p:cNvSpPr>
          <p:nvPr/>
        </p:nvSpPr>
        <p:spPr bwMode="auto">
          <a:xfrm>
            <a:off x="7404566" y="3176262"/>
            <a:ext cx="609600" cy="60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8" descr="data:image/jpeg;base64,/9j/4AAQSkZJRgABAQAAAQABAAD/2wCEAAkGBxITEBUSEBIVFhUWGBUVFxUVFxcVFxcVFRUYGhUXFhYYHSggGBolHRcVITIhJikrLi4uGB8zODMuNygtLi0BCgoKDg0OGRAQGi8lICUtLTc3Ky0yLy0tKy8rKy0tLS0tLS8tLS0tLS0rKy0tKysrLS0tLS0rLSstLS0tLS0tLf/AABEIAHIBuwMBIgACEQEDEQH/xAAcAAEAAgIDAQAAAAAAAAAAAAAABgcBBQMECAL/xABNEAACAQMBBAcDBggMBAcAAAABAgMABBESBQYhMQcTIkFRYXEygZEUI0JyobEzRVJzdYKSshc0Q0RUYmOTs8HR0iRToqMVFiU1g+Lx/8QAGQEBAQADAQAAAAAAAAAAAAAAAAECAwQF/8QAKhEBAAICAQMDBAAHAAAAAAAAAAECAxEEEhMxIUFRIjJhgRQjM1JxkfD/2gAMAwEAAhEDEQA/ALxpSlApSlApSlApSlApSlApSlApSlApSlApSlApSlApSlApWDTNBmlYzWM0H1SsA1mgUrBNZoFKUoFKUoFKUoFKUoFKUoFKUoFKUoFKUoFKUoFKUoFKUoFKUoFKUoFKUoFKUoFRbpD3ieyszJEVErOiR6hqGSctkfVVvsqUGqW6Zdq9ZeJbqciFcsP7STB+IXT+0aNHIydFJmHzs/pUvTNGJup6vWgk0xkHQWAbBLHHDNXUpryqa9DdHW1/lOzoXJy6Dqn8dUfDJ9V0t76rn4ea1pmtpSalKVHeVoN82vhAP/DQDLrGc6PYw2ca+Gc6a39KJaNxpTO0t7du2wzcR6V/KaFSvvdDitf/AApbS/Kh/uv/ALVd95bLIjRuAVYFWB5EEYNeW2TSdJ7jj4cKrzuTOTFrVpT2y6QdrztpgVZG7xHAWwPE8eHvruzbx7wqMmBwPK3B+7JrY9ByfNXJ/tIx8EP+tWfijbhx3vSLTeVFnpM2ojaXMeRzSSHSR6jINbzZXS+2QLq3GO94Tx/Yf/dVj7a2Fb3UfV3ESuO4kdpT4qw4qfSqH323XewuNGS0T5MTnmQOat/WGR6gg+IBry97D9UW3C+tjbZhuohLbyB1PDhwIPgynip8jXfBrzdupvDJZXCzRklTgSxg8HTPHh+UMkg+PkTXoyzuFkjWRDlXUMpHerDIPwqOnj5+7H5c1da/vY4Y2llcIijLMeQFdg1SfS5vC0t18kRvmocawOTSkZ4+IUEAeZbyozzZYx127m8PSlPK3V7PTQpOkOy65XJOBoTiFz3DifTlS13H2vdDXdXbR6uOl5ZHYf8AxoQi+gNdjoY2CjdZeSAEq3VRZ+icAyMPPtKM93Hxq2AKrnxY7ZY67z59lPXXRftBBmG7Rz4FpYifTGRn1qLXV/tOyl6uSe5iccdLSsykeK5JVh5jNei6hvSlsZZ9nyPjtwDrUPeAvtj0K54eIHhQy8aIiZpMwj3RfvVfXV20VxKHjWJnJKIG1akC9pQPE/CrTqpeg2Dt3UngIkHvLk/5VbQpLbxZmccTMorv5tGWH5F1LlOsvYInxjtRtr1KcjkcDlxqUioZ0l/i/wDSFt9z1MxRsrP12/Qahe9u+D2t7bxKoMJaMXDkewJmKxYOeB7DsefAeYqZSuApJOABknwA51VW0Ouu7G6/9PuXN05nSYNBoCIFFvgNKHC6EXI083bxqJltMR6eVrg0zUd3E2yLnZ8MrHLBdEn14+DE+ow3vrW7FL7Tt2uGnmhjd3WFIH6ooiMVDOw4s5IJxnSOAxzJL17iNe6S7a2xFaxGWdsLkKMDJZm4Kqgcya7wNVp0h7Llj2bAst1LKyzRqWIQa9bnSzcM6lGADn1zUvOy7iOJkhupHd3TMk+hjHHkB+rCoF1adRGQRk8eHChF56pjTe5rNV/bXbW+2IYI7yS4iuFl6yOSQS9VJGuQQR7Gcez6+WJ+KLW3UzSlKMylKUClKUClKUClKUClKUClKUClKUClKUClKUClKUHBfXKxRtI5wqKzsfAKMmqV6PbZr7a7XMoyEL3DA8RqfKxofTPD83U06Ydr9VYiFT2rhgvn1adpz6eyv61Y6Htk9VYmZh2p2LfqJ2U9xwzfrUcmT68sV9o9VU727K+S3s8GOyrkp9R+0mPQHHuNTHoV2tpnltWPCQCRB/XTg3vK4/Yrs9NuysNDdKOeYX+1oz++PhVe7B2kba5hnH8m6sfNeTj3qWFVxz/JzvTlK44ZQyhlOQQCD4gjIrkqPXKUpQYNeW74fOyfXf8AeNepDXlu/wDwsn13/eNWHn8/xVbHQd+Aufzq/uCrNqs+g7+L3P51f8MVZlJdPG/pVKhfSxs4S7NkfGWhZZV8sHS//QzfCppUf3+YDZl3n/kv9owKjZljdJh50q+uie6L7LiBOTG0kfuVyVHuBA91ULir26IrcrstCR7byv7tWkH/AKasvN4O+5P+E0NeYtuylrqdjzM0p/7jV6drzlvzs42+0LiMjALmVfNJSWB+JYfqmkN/OiemJWd0L3IawdB7STPkeTBWB+8e6p/mvO25G9DWFxrwWicBZUHMgZ0sv9Zcn1BI86v3ZW04riJZYHDo3Ij7QQeII7weIo2cXLFqRHvDu11tpWvWwyRH6aMnH+spH+ddnNYqOpEejrdSSwilSWRHaRw2UBAAVQB7XHxqX1jFZoxrWKxqEL6S/wAX/pC2+56mYqGdJf4v/SFt9z1MxVYV++36RjfiO8mt5La0hz1q6WkaRUARjiRVHtaiuRngBq763FjI4gGYCjKpAi1IT2RhQGB08cDGSPPFd6hqM9eu0C3P2Ve2k9wDbD5NPJ1iqJYy0Wo4JI4AjTjIB+iMZrh2Js3aezne3t7dLm1Z2eMmVYmj1dzauJ9AD49+KsMkVhGBGRxHiOVGHahD98Ni3d1s7R818oWRJgikhOweCBm5kA+0cZI7hy4t5bS/vdnsvUiCYPG/U9cG6xV4ujMuFAOeWcHHHGam+KYos49q9utn35ubG5jsYVEKyoYUmQCPrFUZJ0gY8lDcvOrBSs4oKLWnSzSlKMylKUClKUClM18NKBjJAzwGe8+A8aD7pSlApSlApWM1mgUpSgUpSgUpSgVis1qt6NrC1tJbg/QU6R4ueCD3sRRJnUbU90hXjX21uoiOQjLbJ39st843uYkfqVd1haLFEkSDCxqqL6KMD7q87bp7YS2vUup0aTTrbskAmRwRqOeB9pveQe6rH/hgtv6NP/2/91VwYM1Im1rT6ylW/OyflVhPEB2tOtPrxkMo95GPfXnOriPTBbf0af8A7f8AuqptpSo80jxKVRnZlU4JUMSQDjwzijVy70vqayvHoq2v1+zkVjl4CYW9FwYz+yVHqDUyqj+h7a3VXrQMezOuB+cjyV+I1j4VeFR28a/XjiSlKUdDBry3f/hZPrv+8a9SGvLd/wDhZPrv+8asPP5/iq2eg7+L3P51f8MVZlVp0ID/AIa4P9sP8Na2snSfs9WZGMoZWZSOqPAqSDy8xSW/BetcVdym1V90w7YWOyFuD252Xh3iNGDMT5EhV95rq7X6XIFUi1hd27jJhEHmQCWPpw9aryO2vtqXLSBWldjgvjESAcl1ckUeHPnzPNprz8iJjpp6zLWbL2fJcTJDCMvI2keXix8gMk+leldkWCwQRwJ7Maqg89Ixk+Z51HNxdy47FSzESTuMNJjAVfyIx3DxPMnw4AS4UlnxcHbjc+ZDUN6Rdz/lsQeLAnjB0E8A68zGx7vI9x9TUzrBFR0XpF41LyzPC6OySKUdThlYYZSO4g13dh7cuLSTrLaQoTjUOaMB3Oh4H15juNXrvbuZbXy5cFJQMLMgGoeAYfTXyPuIqmN59z7qyJMqao+6ZMlD4au9D5H3E1Xk5OPfFPVXwsndnpRt5sJdgQSctXOFj9bmn63DzqwEkUgFSCDxBHEEeINeV6kO6m+FzYsBG2uHPahY9nHeUP0G8xw8QaTDdh5s+L/7eis0rU7ubdhvIRNAcjkyn2kYc1cdx/8A2tsKj0YmJjcIX0l/i/8ASFt9z1MxUM6S/wAX/pC2+56mYqtdfvt+mn3riY2kzpJJG0cckitGxU6lQkZ7mGe41Gd1LCe72ZHMb25Sdw5EgcFQVkYLmMjSVwBnv58alm8/8RufzE3+G1RPcVbttkW62rQoCkg6yQO7I3XScQi4DcPFhxolvv8A019ttV77Yl412oM1sJ11js5eOLUr4GADxwRy4edTHcsquzrNcgfMRYHLPYHKtVfbBjsti3cMZLfMXDu7Y1PI0Z1McegHoBWjuN2baXYS3DITOloJUlLMWVki1AKc9leGMDh7+NGEdVZ9fOlnZr5WVTyIOOBwe+ora3KzbKtZbu46pWSBpXLaOs7OSmrII1HGccTxHfWk2TDDDtqIWUbxRTwSl0KNEjshGHVGAPvxjjw5mo2zk8flY2seNBIMZBGPHPD41XNzsWOXb0sLtJ1b2ZkdRI/a1TKGQHOUQnSdK4HZxyJB4t7934bYbMigMiqLlIvwjeySz5x7OrVk6sZox7k6mdeFliQZxkZHMZ4/CsLKpJAIyOY7x6iq23u2FDa3dlNa64nmnEErI7BnR/aLMSSW58efHPMA1y7f2NDZbQsJ7RTGZZjDIAzEOrrzfJOTz4+ODzAos5Jjfp4WKzgDJIA8TwrIYHlUY3ht7N59N4/W5jwlphpD7R1SiFMsxPZGrHZ08OZrSbgXpgs9oABjHazXHVI57SoiBxGfDj95os31bSwHlUe0wHqcV9aqhG7mxLe/sI571FnlnDO0jcShJPYiP8mq4wAuORJySTXDvAgjudnbLRmFu+rrO0dUixLlY2fmVJ9od/LlQ69Rv2TpZVOcMDjng5qC7xWaLtzZzquC4uCxyTkrHgHB4A4Y8q6vSFs2OxWLaFkohkjkRXEYCrLG30XUcG5AZ8/TGx3l/wDedl+l1+4tVhe2/SfmE1LgcScUSQEZBBHiONQeBhebYuYLgaorWOPq4W4ozyAM0jLyZhwAzy9TXVNqLDbVvHajTBeJJrhHsB4wTrVeSn2eXnUZdz39trBeVQMlgPU4r4uCxRurIDYOkniA2OBI7xnFQHYIgurjaKbRCPIkzIElxiO2A7BjDeyOZLDxBPdXBuLsCNtmyyydYxcTLE7SSA9QrZiZBnsZ0qcqBnA7qHcmfEJzsBbgW6C8dHm462jGEJ1HGB5DA9Qa75lUEAkZPIZ4n3VWWx9tPa7sJPH+Ew6qTxw0lyy6jnnjJPrUmk3JsZoU62PU+EYz6j1zNwJYyjic/DwxwoVvuPT4Sh5ABkkAeJ4VkHPKopt60snmZLtuuJRQlqA0jIozmQRplskn8IRwxz51wdFMrGykQlisVxNFHr4sI1IKqfTJoy6/q0mdKUozKUpQYNVV017Z4Q2in+2k49wysYPv1H9UVacjgAknAAJJ8AOdeeLqVtp7U4fy8oVfFYRy94jUn1zVhycu8xXpjzKZ7k9HNvPZRz3XWa5cuAr6QEJ7HLnkYb31vv4KtneE394amlvCEVUUYVQFA8ABgCuWjbXj44jWkG/gq2d4Tf3h/wBKhfSTuTFZJFNba+rZijhjqwxGVIPcDgj4VdtaXe/ZHyqymg+kykp5SL2kP7QFGGXj0msxEerznZ3TRSJKntRsrr6oQQPThXpzZt6s0Mc0Zysiq49GGa8vfZVz9DO2OstHtmPagbK/mpMlfg2sfCkuThX1aaSsSlKVHqMGvLNz7b/Wb7zXqY15YnPab6x+81Yefz/FVu9CH8VuPzw/w1qT7R3HsJ5GkltwXY5ZlZ01HxOkgE1GOg/+LXH54f4a1ZdJdGCsWxV3CM2u4WzYzkWqEj8vVJ9jkipDDCqKFRQqjkFAAHoBXLSo3RSI8QClKUZFKje/m8b2NsJkiEhLhMFioXIJ1HAOeWMcOdd7dXa4u7SK4wAXXtAcQrg4cDyBBox646un3baviSMMCCAQRgg8QR4EV90oyVdvp0YqQ02zxpbiTb/Rb80fon+ry8MVUzoQSCCCCQQRggjmCDyPlXqqqZ6ZdiLHPHcoMddqWTHLrEA0t6lSf2asPO5fHiI66tN0Z7ca2v0Un5uciJx3aj+Db1DYHoxq/hXlzZ2eui08+sjx661x9teoxSWfBtM0mPhDOkv8X/pC2+56mYqGdJf4v/SFt9z1MxR01++36areOymngeGB406xWRmdWfCspB0gMO1xPPhXR3N2JcWcK28ksUkaatBWNkftMW7WXII4nw7qkbGuA3kerTrXV+TqGr4ZzUZzWN9Tob0bOkuLWSCJ0TrVKMzqXwjAhtIDDte+tWm79yNmmx6+HPVmASdU/wCCKafY1+355x5VKc19USaRM7Qe83Mnk2dDam4QSWzxtDKsbAfNjC60LHJx3jy4d1clxu1fNdW90buHrY0aN/mCE0sRnQmvOfMtzwcY4VNKxmiduv8A34RE7u3f/iTXyzwcY+o6sxPjqtQYdoSe3kc8Y8q5d7N3ri6lgaOaKNYJFmUNGzlpF/KIdQFx5ZqU1mi9uNaRPebd65unt2WaFPk7pNgxO+qVef0xhPt86bybvXNzJbSLNCnydllAMTtqkAGcnWMJ5c+POpZSh0RO0Rv927k3y3tvcRxuYlhmV4zIpAOcoNQI4+fd38Qc7ubsz28tyJJ45IJ3kkKGMiQvIAGywbSFwCMBfhyqW0oduN7QTZO6N9aForO+RbYsWVJYeseMHmFwwBPwHfjnnZbwbo/KIYdNw63Fu2uO4YBm15y2tRgEEgcBjGB3cKlNKJGOutIvLsG4uTEL+WJkidZOrhRlEkieyXZ2OFB46QOfMkcK4tubuXU19DdxzwoLfV1aNE7ZDjD62Eg92Bw86ltKLNIlFNsbrym8W+s5lim09XIsil45U4cGAIIPAcfIe/t2Ww3N0Lu6kV5VQxxqilY4lPFyNRJZz+UccOAHfUgrDCh0QrG+2fdXO0Jrm0FncxoREpuo+zG6e2kbKMsQc5flxx3Vttl7avbh7iwniiguFjDBwGkiMbkqSFDA+na48eWK57Tda7tZJPkF3EsMjtJ1M8LS9WzHLaGWRDjyPhW+2TsgRM8ruZJpdPWSkBchfZRVHsoMnAyeZJJJzRrrSd7aPY257Js5tnXMqSREEKyIUcZcvk5ZgSGIIPlXHsbdzaMKrAdoIYF7IIh+e0DkquzELjhxIblU0pRn26+iIz7sXC7Ra8tblEEqIkyyRmUnQAAUOoccAc+RyeOcVybn7v3Fm0yvOkkLyPIqiMrJqcgku+rHIcgvMk+AqVUosY4idlKUozKVwXl0sUbSSNpRFLMfBVGSfhUI2l0q2KL80JZm7gqaF97Pjh6A0YXyVp90ubpY271FkYkPzlxmMeIjx863wwvq4qIdC+zNd3LcEcIU0r9eTvHoqkfrVD95NvS3s5mmxy0qg9lE7lHifE95+Fbzo+30FgZFliZ45CrEpjWrAY4BiAwI8xyq6ed363zxafEL6FZqL7E38srqRYYZGEj50o6MpOlSxGcY5A9/dUnBqPSraLRuJZpWDUe3g31s7N+rnkbrNIbQqMxwcgcQMdx76La0VjcqZ6Q9l/J9ozIBhXPXJ9WTif8AqDj3Vno9238kv43Y4jf5qTwCuRhj6NpPpmuXpB3njv50kijZFRCmXwHbLZ4hSQAO7j3moqRWTxL2iuXqr8vVYrNVJul0pCKFYb1JGKAKJkwxKjl1ikg5HiM58KmEXSHs5o2kE+FUqDmOQEF9RUY08c6G5eHpWL1qZ8do3tKXPCvKqtkZ8ePxq4d5OlO26l0tBI8jKVDldCLqGNR1HUcc8AcfEVTwGOHhWUOHm5K2mIrK3+g4/MXI/tVPxQf6VZtefNw97js+VyU6yKQDWoIDArnSy54HmQQcevDjZlr0pbOYdp5Iz4PG3D1Kah9tSXRxs1OiImfVN6V8RvkZHI8R76+6jsKUpQRDpWtdey5cc0McnuWRdX2E1Eehnb4VpLKQ+2TLF9bHzifABh+tVm7fsevtZof+ZFIg9WUgH415mhkZGDKSroQQQcMrqfHuII+yq4OTaceSt3qgVmqx3X6VYyojvwUccOuRSyN5so7Sn0BHpyqZW+91g4yt5B75FB94JyKjqpmpaNxLeVVvTfdL1dtD9Is8noqrp+0t9hqR7a6RbCBTplEz9yQ9rJ839lR76qab5Zte8Z0TU5wMDIjhjzwDN3AZJ8SScDuqtHJyxNeivrMuTo42QbjaMXDsRHrnPcAh7A9S+n3A+FegxUf3M3YjsIOrU6nbDSSYxqby8FHcP8yakIpLZx8XbpqfKF9Jf4v/AEhbfc9TMVDOkv8AF/6QtvuepmKM6/fb9I30j3c0WzLh7ckOAo1LzVWdQ7A9xCknPdz7q1sWwtn3+yzFbJDh4yFfQGeOYr7T/S1hjk5OTk+NSraF5GhRJf5ZuqUEZBYozYbuAIU8+fLvqu9791DYq20NmSNAUw0kQPzbLnuHIgZ9g8McsVGOTcT1eYSzeUQ4gje9NqVkjcBHCNKFOBHpzkqTW3u9rQROsckyK7kKqFgGYscABedQffqfrrPZ07KFd7i1bHeusZIB54/0rn6RLWNrzZmtFOq40NkA6lOnsnxXPdyoTfW9fhKLDeWzmlMMNzE8gzlVYE8OeO4478cq6e0GhbaFv/xxR01j5KrjEpZM5dAc8Bk8vCtJvzaol9suVFCv8o6ssoAJQ47JxzHP4nxr63nQDbmzCAASLnJ7ziM4ye/GT8TQm8+/zCY3+0YoV1zSKi8ssQMnwHifKuvsnb9rchjbzpJp9rSeK5/KB4jkfhUb2XdCTbt0k3tRQxrbg/RRgDMyeBJKZI8B4VutvW1nFBcSzqqJImJ3QYd1HZAJTtMe1j30ZxaZ9Yc1nvNZyzGCK5ieUZ7CsCeHPHcceVbYVW29NwZJdmTJbGFflMaxuxQSGNgeARM6YyozxIPIFeeLJFClt7ZpSlGwpSlApSlApSlBjFZpSgUpSgUpSgUpSg4bu2WSNo5BlHUqw8VYYI4eVR+LcDZq8rVD6l2+9qk1KMZpWfMI9/5H2d/Q4v2a+TuJs3+iR+7I/wA6kdKJ26fENBs3c2xgmWaC3VJFzhgznGoEHgWxyJHvrfYrNKMorEeCtJtbdOyuZetuIA7hQuolh2QSQMA47zW7pQmInyji7ibNH80j9+T95r6/8j7O/ocP7NSGlGPbp8QjbbibNP8ANI/dkfcawu4ezgjILZdLMrEan4lAwU51dwd/jUlpQ7dPhGU3A2aP5qnvLn72rkG4+zf6HF+zUipQ7dPiEcbcTZp/mkXuBH3GuFujzZh/mq/tSf7qlNKHbp8Q+UTAwOQ4V9UpRmUpSgVpNsbpWVySZ7dGY/TA0P8Atpgn41u6USaxPlXV50RWjHMU00fllXH2jP211B0OR994/wDdr/uq0KUaf4bF/agezuimxQgymWbHc7aV+CAffUzsLCKFBHDGkaDkqKFHwHfXZpRsrjrT7YYrNKUZtJvNsL5V8n+c0dRcRXHs6tXV57PMYznnW6xWaUSIiJ21m8GxI7uHqpGdcMrq8Z0ujocqynuINdCXdcyoI7u6mniBUmNhEivpIKiQxoC4yBwyAe8GpFSh0xvbQbw7rJdlOsmlRYyrIkZRVDrnD8VJzxxjOOA4VxbW3SFw8Ly3U+qDBjI6oYkGPnMCPBY4HPhw5c6klKJNKyj22t1VuXieS4mBhIaPR1YCyD+U9jix4cDw8q+NobpCW4juWupxJFwjK9UAmQA+F6vB1cc5zz7qklKHREo3vFubBdyJMXlhnQYE0DaHx4E48z8TX3FujB1EkMrzTdauh5JpGeQgcgpPBADxwoAzxqQ0odFfhDpOj6IwxRG7uyYWVo5DINSaeAVV06QOXHGeA444VLbeHQirlm0gDUxyxwObHvJrkpQisR4KUpRkUpSgUpSgUpSgUpSgUpSgUpSgUpSgUpSgUpSgUpSgUpSgUpSgUpSgUpSgUpSgUpSgUpSgUpSgUpSgUpSgUpSgUpSgUpSgUpSgUpSgUpSgUpSgUpSgUpSgUpSgUpSgUpSgUpSgUpSgUpSg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399" y="2414232"/>
            <a:ext cx="1815634" cy="363127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5"/>
          <a:srcRect r="62093"/>
          <a:stretch/>
        </p:blipFill>
        <p:spPr>
          <a:xfrm>
            <a:off x="8706408" y="2732128"/>
            <a:ext cx="1471013" cy="451231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238" y="4566441"/>
            <a:ext cx="1085050" cy="267646"/>
          </a:xfrm>
          <a:prstGeom prst="rect">
            <a:avLst/>
          </a:prstGeom>
        </p:spPr>
      </p:pic>
      <p:pic>
        <p:nvPicPr>
          <p:cNvPr id="40" name="Imagen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2238" y="3494906"/>
            <a:ext cx="1037186" cy="244516"/>
          </a:xfrm>
          <a:prstGeom prst="rect">
            <a:avLst/>
          </a:prstGeom>
        </p:spPr>
      </p:pic>
      <p:sp>
        <p:nvSpPr>
          <p:cNvPr id="38" name="object 3">
            <a:extLst>
              <a:ext uri="{FF2B5EF4-FFF2-40B4-BE49-F238E27FC236}">
                <a16:creationId xmlns:a16="http://schemas.microsoft.com/office/drawing/2014/main" id="{A3E3EF55-F0E6-4400-96AB-7820A1E22755}"/>
              </a:ext>
            </a:extLst>
          </p:cNvPr>
          <p:cNvSpPr txBox="1">
            <a:spLocks/>
          </p:cNvSpPr>
          <p:nvPr/>
        </p:nvSpPr>
        <p:spPr>
          <a:xfrm>
            <a:off x="672635" y="544088"/>
            <a:ext cx="10846729" cy="598912"/>
          </a:xfrm>
          <a:prstGeom prst="rect">
            <a:avLst/>
          </a:prstGeom>
        </p:spPr>
        <p:txBody>
          <a:bodyPr vert="horz" wrap="square" lIns="0" tIns="227360" rIns="0" bIns="0" rtlCol="0" anchor="t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141095">
              <a:spcBef>
                <a:spcPts val="105"/>
              </a:spcBef>
            </a:pPr>
            <a:r>
              <a:rPr lang="es-ES" dirty="0"/>
              <a:t>Bases de datos bibliográficas suscritas</a:t>
            </a:r>
          </a:p>
        </p:txBody>
      </p:sp>
      <p:sp>
        <p:nvSpPr>
          <p:cNvPr id="4" name="AutoShape 4" descr="Inicio - IEEE Xplore - Biblioguías at Universidad Autónoma de Madrid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813" y="1969203"/>
            <a:ext cx="1459411" cy="34975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5170" y="3937708"/>
            <a:ext cx="949191" cy="41719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4096" y="3236211"/>
            <a:ext cx="996475" cy="83039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2238" y="3982960"/>
            <a:ext cx="996475" cy="339943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2255" b="24183"/>
          <a:stretch>
            <a:fillRect/>
          </a:stretch>
        </p:blipFill>
        <p:spPr>
          <a:xfrm>
            <a:off x="5372310" y="4362218"/>
            <a:ext cx="1815635" cy="5496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AE60452-1362-79E9-485F-8D93929F1EFA}"/>
              </a:ext>
            </a:extLst>
          </p:cNvPr>
          <p:cNvSpPr txBox="1"/>
          <p:nvPr/>
        </p:nvSpPr>
        <p:spPr>
          <a:xfrm>
            <a:off x="1692238" y="1332557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  <a:latin typeface="Cambria" panose="02040503050406030204" pitchFamily="18" charset="0"/>
              </a:rPr>
              <a:t>Consorcio Colombia</a:t>
            </a:r>
          </a:p>
          <a:p>
            <a:r>
              <a:rPr lang="es-CO" sz="1400" i="1" dirty="0">
                <a:solidFill>
                  <a:srgbClr val="C00000"/>
                </a:solidFill>
                <a:latin typeface="Cambria"/>
                <a:ea typeface="Cambria"/>
              </a:rPr>
              <a:t>08 recursos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6CAF160-A1C3-3DB1-BE57-A72A23AD1AC0}"/>
              </a:ext>
            </a:extLst>
          </p:cNvPr>
          <p:cNvSpPr txBox="1"/>
          <p:nvPr/>
        </p:nvSpPr>
        <p:spPr>
          <a:xfrm>
            <a:off x="8706408" y="1355510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  <a:latin typeface="Cambria" panose="02040503050406030204" pitchFamily="18" charset="0"/>
              </a:rPr>
              <a:t>Multidisciplinares</a:t>
            </a:r>
          </a:p>
          <a:p>
            <a:r>
              <a:rPr lang="es-CO" sz="1400" i="1" dirty="0">
                <a:solidFill>
                  <a:srgbClr val="C00000"/>
                </a:solidFill>
                <a:latin typeface="Cambria"/>
                <a:ea typeface="Cambria"/>
              </a:rPr>
              <a:t>15 recursos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F87ECA-D2FE-E3D9-6408-5F0264FDF695}"/>
              </a:ext>
            </a:extLst>
          </p:cNvPr>
          <p:cNvSpPr txBox="1"/>
          <p:nvPr/>
        </p:nvSpPr>
        <p:spPr>
          <a:xfrm>
            <a:off x="5410773" y="1329273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  <a:latin typeface="Cambria" panose="02040503050406030204" pitchFamily="18" charset="0"/>
              </a:rPr>
              <a:t>Especializadas</a:t>
            </a:r>
          </a:p>
          <a:p>
            <a:r>
              <a:rPr lang="es-CO" sz="1400" i="1" dirty="0">
                <a:solidFill>
                  <a:srgbClr val="C00000"/>
                </a:solidFill>
                <a:latin typeface="Cambria"/>
                <a:ea typeface="Cambria"/>
              </a:rPr>
              <a:t>23 recursos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2433F17-69C1-A148-082C-BF9659132B84}"/>
              </a:ext>
            </a:extLst>
          </p:cNvPr>
          <p:cNvSpPr txBox="1"/>
          <p:nvPr/>
        </p:nvSpPr>
        <p:spPr>
          <a:xfrm>
            <a:off x="8724337" y="4281521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i="1">
                <a:latin typeface="Cambria"/>
                <a:ea typeface="Cambria"/>
              </a:rPr>
              <a:t>y otras 12 bases de datos bibliográficas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A4926AB0-5CE3-B69C-EEE6-157960810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38" y="2873989"/>
            <a:ext cx="2371743" cy="37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A613D79-E21A-577E-4A6F-8FF4A1454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38" y="2196416"/>
            <a:ext cx="1355035" cy="43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86B52A4-B35F-A99F-F107-57933FCC6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74" y="5555212"/>
            <a:ext cx="1160824" cy="39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BSCO host - Maastricht University Library">
            <a:extLst>
              <a:ext uri="{FF2B5EF4-FFF2-40B4-BE49-F238E27FC236}">
                <a16:creationId xmlns:a16="http://schemas.microsoft.com/office/drawing/2014/main" id="{A881A6D6-F30D-4C0D-CDF3-BF162DD3D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096" y="2233902"/>
            <a:ext cx="1815634" cy="28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962D65E-823F-28DE-59F5-0C47F2E15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0" t="16911" r="4118" b="32075"/>
          <a:stretch>
            <a:fillRect/>
          </a:stretch>
        </p:blipFill>
        <p:spPr bwMode="auto">
          <a:xfrm>
            <a:off x="5375862" y="3383563"/>
            <a:ext cx="1229816" cy="41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F5DF85F-EFE1-C7B7-0DE9-0A73B7848429}"/>
              </a:ext>
            </a:extLst>
          </p:cNvPr>
          <p:cNvSpPr txBox="1"/>
          <p:nvPr/>
        </p:nvSpPr>
        <p:spPr>
          <a:xfrm>
            <a:off x="5310399" y="4856225"/>
            <a:ext cx="229859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400" i="1" dirty="0">
                <a:latin typeface="Cambria"/>
                <a:ea typeface="Cambria"/>
              </a:rPr>
              <a:t>y otras 17  bases de datos bibliográficas.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403254-D70E-C91B-F120-E79EC25C9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668" y="5077625"/>
            <a:ext cx="2406313" cy="23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0558" y="2782680"/>
            <a:ext cx="1895475" cy="51574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3568BAD-5B96-7A5C-8D76-16E92868FB4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47273" y="5540801"/>
            <a:ext cx="8613520" cy="103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5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726E2-38B7-FE39-C368-644C7799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1B9FB3E-DC7E-D85B-785E-1A72E96C70CB}"/>
              </a:ext>
            </a:extLst>
          </p:cNvPr>
          <p:cNvSpPr txBox="1"/>
          <p:nvPr/>
        </p:nvSpPr>
        <p:spPr>
          <a:xfrm>
            <a:off x="2133600" y="372578"/>
            <a:ext cx="10253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Colecciones digitales: </a:t>
            </a:r>
            <a:r>
              <a:rPr lang="es-E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Consorcio Colombia</a:t>
            </a:r>
            <a:endParaRPr lang="es-ES" sz="11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68A228-AED6-4D1A-87D9-1B553D2F1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928" y="908537"/>
            <a:ext cx="2826086" cy="30655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F086E2F-2F24-468D-8CE2-BE85C85E9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43" y="1674005"/>
            <a:ext cx="6799385" cy="24187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AABC45-34C9-4AD1-A28F-36D85ABC90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158" y="2150802"/>
            <a:ext cx="764557" cy="837604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5D0953C-5ACB-4367-9921-1A2F22E31FA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9403384" y="2569604"/>
            <a:ext cx="1547774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3659EDDB-6128-47D6-95B9-23B32C294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978" y="4602386"/>
            <a:ext cx="4769827" cy="132636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3FEF967-B666-49F1-B343-CBC560AB7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815" y="4162275"/>
            <a:ext cx="5660752" cy="2333335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E40D961-6E06-434E-9731-DBFC54AF0A29}"/>
              </a:ext>
            </a:extLst>
          </p:cNvPr>
          <p:cNvSpPr/>
          <p:nvPr/>
        </p:nvSpPr>
        <p:spPr>
          <a:xfrm>
            <a:off x="6166338" y="5070010"/>
            <a:ext cx="5549377" cy="1547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004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C54D971-D16E-C6C3-18B4-BA931C824D0A}"/>
              </a:ext>
            </a:extLst>
          </p:cNvPr>
          <p:cNvSpPr txBox="1"/>
          <p:nvPr/>
        </p:nvSpPr>
        <p:spPr>
          <a:xfrm>
            <a:off x="4525781" y="1303138"/>
            <a:ext cx="68240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Somos el Centro de Acopio </a:t>
            </a:r>
            <a:r>
              <a:rPr lang="es-CO" sz="1600" b="1" dirty="0" err="1">
                <a:latin typeface="Cambria" panose="02040503050406030204" pitchFamily="18" charset="0"/>
              </a:rPr>
              <a:t>Latindex</a:t>
            </a:r>
            <a:r>
              <a:rPr lang="es-CO" sz="1600" b="1" dirty="0">
                <a:latin typeface="Cambria" panose="02040503050406030204" pitchFamily="18" charset="0"/>
              </a:rPr>
              <a:t> </a:t>
            </a:r>
            <a:r>
              <a:rPr lang="es-CO" sz="1600" dirty="0">
                <a:latin typeface="Cambria" panose="02040503050406030204" pitchFamily="18" charset="0"/>
              </a:rPr>
              <a:t>Colombia.</a:t>
            </a:r>
          </a:p>
          <a:p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Somos la coordinación del sistema </a:t>
            </a:r>
            <a:r>
              <a:rPr lang="es-CO" sz="1600" b="1" dirty="0">
                <a:latin typeface="Cambria" panose="02040503050406030204" pitchFamily="18" charset="0"/>
              </a:rPr>
              <a:t>AGRIS</a:t>
            </a:r>
            <a:r>
              <a:rPr lang="es-CO" sz="1600" dirty="0">
                <a:latin typeface="Cambria" panose="02040503050406030204" pitchFamily="18" charset="0"/>
              </a:rPr>
              <a:t> de la </a:t>
            </a:r>
            <a:r>
              <a:rPr lang="es-CO" sz="1600" dirty="0" err="1">
                <a:latin typeface="Cambria" panose="02040503050406030204" pitchFamily="18" charset="0"/>
              </a:rPr>
              <a:t>Food</a:t>
            </a:r>
            <a:r>
              <a:rPr lang="es-CO" sz="1600" dirty="0">
                <a:latin typeface="Cambria" panose="02040503050406030204" pitchFamily="18" charset="0"/>
              </a:rPr>
              <a:t> and </a:t>
            </a:r>
            <a:r>
              <a:rPr lang="es-CO" sz="1600" dirty="0" err="1">
                <a:latin typeface="Cambria" panose="02040503050406030204" pitchFamily="18" charset="0"/>
              </a:rPr>
              <a:t>Agriculture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Organization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of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the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United</a:t>
            </a:r>
            <a:r>
              <a:rPr lang="es-CO" sz="1600" dirty="0">
                <a:latin typeface="Cambria" panose="02040503050406030204" pitchFamily="18" charset="0"/>
              </a:rPr>
              <a:t> </a:t>
            </a:r>
            <a:r>
              <a:rPr lang="es-CO" sz="1600" dirty="0" err="1">
                <a:latin typeface="Cambria" panose="02040503050406030204" pitchFamily="18" charset="0"/>
              </a:rPr>
              <a:t>Nations</a:t>
            </a:r>
            <a:r>
              <a:rPr lang="es-CO" sz="1600" dirty="0">
                <a:latin typeface="Cambria" panose="02040503050406030204" pitchFamily="18" charset="0"/>
              </a:rPr>
              <a:t> (FAO).</a:t>
            </a:r>
          </a:p>
          <a:p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Lideramos las comisiones de </a:t>
            </a:r>
            <a:r>
              <a:rPr lang="es-CO" sz="1600" b="1" dirty="0">
                <a:latin typeface="Cambria" panose="02040503050406030204" pitchFamily="18" charset="0"/>
              </a:rPr>
              <a:t>Negociación</a:t>
            </a:r>
            <a:r>
              <a:rPr lang="es-CO" sz="1600" dirty="0">
                <a:latin typeface="Cambria" panose="02040503050406030204" pitchFamily="18" charset="0"/>
              </a:rPr>
              <a:t> y </a:t>
            </a:r>
            <a:r>
              <a:rPr lang="es-CO" sz="1600" b="1" dirty="0">
                <a:latin typeface="Cambria" panose="02040503050406030204" pitchFamily="18" charset="0"/>
              </a:rPr>
              <a:t>Portal de Visibilidad </a:t>
            </a:r>
            <a:r>
              <a:rPr lang="es-CO" sz="1600" b="1" dirty="0" err="1">
                <a:latin typeface="Cambria" panose="02040503050406030204" pitchFamily="18" charset="0"/>
              </a:rPr>
              <a:t>WidoCol</a:t>
            </a:r>
            <a:r>
              <a:rPr lang="es-CO" sz="1600" b="1" dirty="0">
                <a:latin typeface="Cambria" panose="02040503050406030204" pitchFamily="18" charset="0"/>
              </a:rPr>
              <a:t> </a:t>
            </a:r>
            <a:r>
              <a:rPr lang="es-CO" sz="1600" dirty="0">
                <a:latin typeface="Cambria" panose="02040503050406030204" pitchFamily="18" charset="0"/>
              </a:rPr>
              <a:t>– </a:t>
            </a:r>
            <a:r>
              <a:rPr lang="es-CO" sz="1600" b="1" dirty="0">
                <a:latin typeface="Cambria" panose="02040503050406030204" pitchFamily="18" charset="0"/>
              </a:rPr>
              <a:t>Observatorio de Syllabus</a:t>
            </a:r>
            <a:r>
              <a:rPr lang="es-CO" sz="1600" dirty="0">
                <a:latin typeface="Cambria" panose="02040503050406030204" pitchFamily="18" charset="0"/>
              </a:rPr>
              <a:t>.</a:t>
            </a:r>
          </a:p>
          <a:p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Nuestro </a:t>
            </a:r>
            <a:r>
              <a:rPr lang="es-CO" sz="1600" b="1" dirty="0">
                <a:latin typeface="Cambria" panose="02040503050406030204" pitchFamily="18" charset="0"/>
              </a:rPr>
              <a:t>Repositorio Institucional UD es el más grande Colombia </a:t>
            </a:r>
            <a:r>
              <a:rPr lang="es-CO" sz="1600" dirty="0">
                <a:latin typeface="Cambria" panose="02040503050406030204" pitchFamily="18" charset="0"/>
              </a:rPr>
              <a:t>con más de 91.000 documentos.</a:t>
            </a:r>
          </a:p>
          <a:p>
            <a:pPr marL="285750" indent="-285750">
              <a:buFont typeface="Wingdings" pitchFamily="2" charset="2"/>
              <a:buChar char="ü"/>
            </a:pPr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Bibliotecas </a:t>
            </a:r>
            <a:r>
              <a:rPr lang="es-CO" sz="1600" b="1" dirty="0">
                <a:latin typeface="Cambria" panose="02040503050406030204" pitchFamily="18" charset="0"/>
              </a:rPr>
              <a:t>inclusivas y accesibles</a:t>
            </a:r>
            <a:r>
              <a:rPr lang="es-CO" sz="1600" dirty="0">
                <a:latin typeface="Cambria" panose="02040503050406030204" pitchFamily="18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Somos parte del Sistema de Bibliotecas de Bogotá (</a:t>
            </a:r>
            <a:r>
              <a:rPr lang="es-CO" sz="1600" b="1" dirty="0">
                <a:latin typeface="Cambria" panose="02040503050406030204" pitchFamily="18" charset="0"/>
              </a:rPr>
              <a:t>SIBIBO</a:t>
            </a:r>
            <a:r>
              <a:rPr lang="es-CO" sz="1600" dirty="0">
                <a:latin typeface="Cambria" panose="02040503050406030204" pitchFamily="18" charset="0"/>
              </a:rPr>
              <a:t>): formación en cárcel, colegios distritales.</a:t>
            </a:r>
          </a:p>
          <a:p>
            <a:pPr marL="285750" indent="-285750">
              <a:buFont typeface="Wingdings" pitchFamily="2" charset="2"/>
              <a:buChar char="ü"/>
            </a:pPr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CO" sz="1600" dirty="0">
                <a:latin typeface="Cambria" panose="02040503050406030204" pitchFamily="18" charset="0"/>
              </a:rPr>
              <a:t>Gestión Cultural: más de 61.000 personas asistieron a nuestras actividades culturales.</a:t>
            </a:r>
          </a:p>
          <a:p>
            <a:endParaRPr lang="es-CO" sz="16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s-ES" sz="1600" dirty="0">
                <a:latin typeface="Cambria" panose="02040503050406030204" pitchFamily="18" charset="0"/>
              </a:rPr>
              <a:t>ERICCA, somos parte activa en los  Encuentro de Gestores de Repositorios Institucionales de Colombia y Ciencia Abierta </a:t>
            </a:r>
            <a:endParaRPr lang="es-CO" sz="1600" dirty="0">
              <a:latin typeface="Cambria" panose="02040503050406030204" pitchFamily="18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57E7CD47-EFF5-4892-B979-3470AB083D05}"/>
              </a:ext>
            </a:extLst>
          </p:cNvPr>
          <p:cNvSpPr txBox="1">
            <a:spLocks/>
          </p:cNvSpPr>
          <p:nvPr/>
        </p:nvSpPr>
        <p:spPr>
          <a:xfrm>
            <a:off x="672635" y="544088"/>
            <a:ext cx="10846729" cy="598912"/>
          </a:xfrm>
          <a:prstGeom prst="rect">
            <a:avLst/>
          </a:prstGeom>
        </p:spPr>
        <p:txBody>
          <a:bodyPr vert="horz" wrap="square" lIns="0" tIns="227360" rIns="0" bIns="0" rtlCol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141095">
              <a:spcBef>
                <a:spcPts val="105"/>
              </a:spcBef>
            </a:pPr>
            <a:r>
              <a:rPr lang="es-ES" dirty="0"/>
              <a:t>Liderazgos y datos destacados</a:t>
            </a:r>
          </a:p>
        </p:txBody>
      </p:sp>
      <p:pic>
        <p:nvPicPr>
          <p:cNvPr id="1028" name="Picture 4" descr="Fao Design system">
            <a:extLst>
              <a:ext uri="{FF2B5EF4-FFF2-40B4-BE49-F238E27FC236}">
                <a16:creationId xmlns:a16="http://schemas.microsoft.com/office/drawing/2014/main" id="{669598FB-998C-56C0-4883-5E9072706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274" y="1943871"/>
            <a:ext cx="1212323" cy="33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tindex - Sistema regional de información en línea para Revistas  científicas de América Latina, el Caribe, España y Portugal">
            <a:extLst>
              <a:ext uri="{FF2B5EF4-FFF2-40B4-BE49-F238E27FC236}">
                <a16:creationId xmlns:a16="http://schemas.microsoft.com/office/drawing/2014/main" id="{CE4CAD0B-3519-67E1-9DF0-D7BEE6CEA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574" y="1143660"/>
            <a:ext cx="1499803" cy="54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3405698-0AAC-9AE4-ACF9-E0DC9367D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953" y="2653233"/>
            <a:ext cx="1212323" cy="42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F3E8C24-49F4-8BE9-613D-CB62D4EEC57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755" y="3441079"/>
            <a:ext cx="1765261" cy="664697"/>
          </a:xfrm>
          <a:prstGeom prst="rect">
            <a:avLst/>
          </a:prstGeom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17C6253-8E96-2534-5E56-6B113C399B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0419" y="4559332"/>
            <a:ext cx="1784112" cy="530730"/>
          </a:xfrm>
          <a:prstGeom prst="rect">
            <a:avLst/>
          </a:prstGeom>
        </p:spPr>
      </p:pic>
      <p:sp>
        <p:nvSpPr>
          <p:cNvPr id="4" name="object 7">
            <a:extLst>
              <a:ext uri="{FF2B5EF4-FFF2-40B4-BE49-F238E27FC236}">
                <a16:creationId xmlns:a16="http://schemas.microsoft.com/office/drawing/2014/main" id="{A8B35D75-7F07-8A5C-E3C3-E59C1E138870}"/>
              </a:ext>
            </a:extLst>
          </p:cNvPr>
          <p:cNvSpPr txBox="1"/>
          <p:nvPr/>
        </p:nvSpPr>
        <p:spPr>
          <a:xfrm>
            <a:off x="9869956" y="6379884"/>
            <a:ext cx="2406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Fuente:</a:t>
            </a:r>
            <a:r>
              <a:rPr sz="900" spc="5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z="9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Unidad</a:t>
            </a:r>
            <a:r>
              <a:rPr sz="9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z="900" spc="-1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Biblioteca</a:t>
            </a:r>
            <a:r>
              <a:rPr sz="900" spc="-1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r>
              <a:rPr sz="900" spc="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z="900" spc="-10" dirty="0">
                <a:solidFill>
                  <a:srgbClr val="006F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hlinkClick r:id="rId8"/>
              </a:rPr>
              <a:t>http://biblioteca.udistrital.edu.co/</a:t>
            </a:r>
            <a:endParaRPr sz="9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AutoShape 2" descr="blob:https://web.whatsapp.com/49ce1a64-1f07-4761-8236-05ae10585de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4629" y="5448943"/>
            <a:ext cx="1028087" cy="104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73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8E30C-E485-68FA-A396-C01A36473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7EFDAC-33A4-17A0-E9C1-BDD68C4CEC34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60FCEDC-7418-D75D-ED30-43F86E51B4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635" y="710082"/>
            <a:ext cx="10846729" cy="560501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Página web y </a:t>
            </a:r>
            <a:r>
              <a:rPr lang="es-ES" dirty="0" err="1"/>
              <a:t>ChatBUD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11B96E1B-C004-727A-65C4-8E4B7B3FE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CC6E2EB-15FD-EA14-076E-684D664DBA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855102"/>
            <a:ext cx="7436764" cy="3962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C24D87E-5C81-2C5D-8920-AB1697A9CF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288" y="1855102"/>
            <a:ext cx="2746017" cy="4564326"/>
          </a:xfrm>
          <a:prstGeom prst="rect">
            <a:avLst/>
          </a:prstGeom>
        </p:spPr>
      </p:pic>
      <p:pic>
        <p:nvPicPr>
          <p:cNvPr id="4098" name="Picture 2" descr="Chat para captar la atención">
            <a:extLst>
              <a:ext uri="{FF2B5EF4-FFF2-40B4-BE49-F238E27FC236}">
                <a16:creationId xmlns:a16="http://schemas.microsoft.com/office/drawing/2014/main" id="{8A279D17-88DA-D0DC-575F-BF6ED0D90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078" y="5002898"/>
            <a:ext cx="1800157" cy="171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0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14A3-1A79-7E7E-288C-76743487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52D631-BE40-E648-8CF4-D1E1BF6ED6CA}"/>
              </a:ext>
            </a:extLst>
          </p:cNvPr>
          <p:cNvSpPr txBox="1"/>
          <p:nvPr/>
        </p:nvSpPr>
        <p:spPr>
          <a:xfrm>
            <a:off x="531207" y="5015558"/>
            <a:ext cx="152400" cy="1168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10" dirty="0">
                <a:solidFill>
                  <a:srgbClr val="585858"/>
                </a:solidFill>
                <a:latin typeface="Calibri"/>
                <a:cs typeface="Calibri"/>
                <a:hlinkClick r:id="rId2"/>
              </a:rPr>
              <a:t>www.udistrital.edu.co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2F7D132-6526-9AB1-DD54-A4D5320D7B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635" y="710082"/>
            <a:ext cx="10846729" cy="560501"/>
          </a:xfrm>
          <a:prstGeom prst="rect">
            <a:avLst/>
          </a:prstGeom>
        </p:spPr>
        <p:txBody>
          <a:bodyPr vert="horz" wrap="square" lIns="0" tIns="189320" rIns="0" bIns="0" rtlCol="0">
            <a:spAutoFit/>
          </a:bodyPr>
          <a:lstStyle/>
          <a:p>
            <a:pPr marL="1102995">
              <a:lnSpc>
                <a:spcPct val="100000"/>
              </a:lnSpc>
              <a:spcBef>
                <a:spcPts val="105"/>
              </a:spcBef>
            </a:pPr>
            <a:r>
              <a:rPr lang="es-ES" dirty="0"/>
              <a:t>Redes sociales: Instagram, LinkedIn</a:t>
            </a:r>
            <a:endParaRPr dirty="0"/>
          </a:p>
        </p:txBody>
      </p:sp>
      <p:pic>
        <p:nvPicPr>
          <p:cNvPr id="3" name="Picture 2" descr="by-nc-sa">
            <a:extLst>
              <a:ext uri="{FF2B5EF4-FFF2-40B4-BE49-F238E27FC236}">
                <a16:creationId xmlns:a16="http://schemas.microsoft.com/office/drawing/2014/main" id="{2D8ADF4E-C4F4-B8F6-055F-20E5917D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58BF723-98B5-C677-8E4C-58810E9F3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6" b="26866"/>
          <a:stretch/>
        </p:blipFill>
        <p:spPr>
          <a:xfrm>
            <a:off x="1371600" y="1700078"/>
            <a:ext cx="3998890" cy="387255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C9E93E3-9D01-D5EB-6FF2-6553DD9422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839804"/>
            <a:ext cx="5880563" cy="455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286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347A1-E5C8-07AB-CB11-E45A6767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10082"/>
            <a:ext cx="9842964" cy="369332"/>
          </a:xfrm>
        </p:spPr>
        <p:txBody>
          <a:bodyPr/>
          <a:lstStyle/>
          <a:p>
            <a:r>
              <a:rPr lang="es-CO" dirty="0"/>
              <a:t>Servicios - Gestión de colecciones – Repositorios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4E0F4A1-71EE-B761-9498-BC87EA35B1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834"/>
          <a:stretch>
            <a:fillRect/>
          </a:stretch>
        </p:blipFill>
        <p:spPr>
          <a:xfrm>
            <a:off x="775164" y="1676400"/>
            <a:ext cx="10744200" cy="40031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5A90C3C-469F-6539-9D92-A65D3C08C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64" y="5739240"/>
            <a:ext cx="10744200" cy="10986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F6B30D-DF71-CF3A-3E10-6DD2954CF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296383"/>
            <a:ext cx="3399711" cy="338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58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43A3E-F5A7-DFFF-498D-BC12FDAD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710082"/>
            <a:ext cx="9385764" cy="369332"/>
          </a:xfrm>
        </p:spPr>
        <p:txBody>
          <a:bodyPr/>
          <a:lstStyle/>
          <a:p>
            <a:r>
              <a:rPr lang="es-CO" dirty="0"/>
              <a:t>Asesorías orientadas al Investigador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FB18DC-734E-E6CF-3D98-C4E9D1ACB8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470" t="16569" r="20596" b="2803"/>
          <a:stretch>
            <a:fillRect/>
          </a:stretch>
        </p:blipFill>
        <p:spPr>
          <a:xfrm>
            <a:off x="457200" y="1371600"/>
            <a:ext cx="10287000" cy="466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99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7BABDB6-1526-E898-F845-9573C6A40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15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9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1047" y="4525310"/>
            <a:ext cx="2326640" cy="9702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065" marR="5080" indent="-1270" algn="ctr">
              <a:lnSpc>
                <a:spcPct val="90000"/>
              </a:lnSpc>
              <a:spcBef>
                <a:spcPts val="229"/>
              </a:spcBef>
            </a:pP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“Cuando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el</a:t>
            </a:r>
            <a:r>
              <a:rPr sz="1050" spc="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patriotismo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está</a:t>
            </a:r>
            <a:r>
              <a:rPr sz="1050" spc="5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acompañado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de sabiduría,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es 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invencible,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uno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otro</a:t>
            </a:r>
            <a:r>
              <a:rPr sz="1050" spc="-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será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siempre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el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fruto</a:t>
            </a:r>
            <a:r>
              <a:rPr sz="1050" spc="-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de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una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 educación</a:t>
            </a:r>
            <a:r>
              <a:rPr sz="1050" spc="-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pública,</a:t>
            </a:r>
            <a:r>
              <a:rPr sz="1050" spc="-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gratuita,</a:t>
            </a:r>
            <a:r>
              <a:rPr sz="1050" spc="-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igual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1050" spc="-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bien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dirigida</a:t>
            </a:r>
            <a:r>
              <a:rPr sz="1050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1050" spc="-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todos</a:t>
            </a:r>
            <a:r>
              <a:rPr sz="1050" spc="-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404040"/>
                </a:solidFill>
                <a:latin typeface="Cambria"/>
                <a:cs typeface="Cambria"/>
              </a:rPr>
              <a:t>los</a:t>
            </a:r>
            <a:r>
              <a:rPr sz="1050" spc="-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404040"/>
                </a:solidFill>
                <a:latin typeface="Cambria"/>
                <a:cs typeface="Cambria"/>
              </a:rPr>
              <a:t>jóvenes”</a:t>
            </a:r>
            <a:endParaRPr sz="10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050" i="1" dirty="0">
                <a:solidFill>
                  <a:srgbClr val="404040"/>
                </a:solidFill>
                <a:latin typeface="Cambria"/>
                <a:cs typeface="Cambria"/>
              </a:rPr>
              <a:t>Francisco</a:t>
            </a:r>
            <a:r>
              <a:rPr sz="1050" i="1" spc="-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404040"/>
                </a:solidFill>
                <a:latin typeface="Cambria"/>
                <a:cs typeface="Cambria"/>
              </a:rPr>
              <a:t>José</a:t>
            </a:r>
            <a:r>
              <a:rPr sz="1050" i="1" spc="-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404040"/>
                </a:solidFill>
                <a:latin typeface="Cambria"/>
                <a:cs typeface="Cambria"/>
              </a:rPr>
              <a:t>de</a:t>
            </a:r>
            <a:r>
              <a:rPr sz="1050" i="1" spc="-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050" i="1" spc="-10" dirty="0">
                <a:solidFill>
                  <a:srgbClr val="404040"/>
                </a:solidFill>
                <a:latin typeface="Cambria"/>
                <a:cs typeface="Cambria"/>
              </a:rPr>
              <a:t>Caldas</a:t>
            </a:r>
            <a:endParaRPr sz="1050">
              <a:latin typeface="Cambria"/>
              <a:cs typeface="Cambria"/>
            </a:endParaRPr>
          </a:p>
        </p:txBody>
      </p:sp>
      <p:pic>
        <p:nvPicPr>
          <p:cNvPr id="4" name="Picture 2" descr="by-nc-sa">
            <a:extLst>
              <a:ext uri="{FF2B5EF4-FFF2-40B4-BE49-F238E27FC236}">
                <a16:creationId xmlns:a16="http://schemas.microsoft.com/office/drawing/2014/main" id="{BB60B912-8601-E739-5C5F-97184C5FC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78132"/>
            <a:ext cx="762000" cy="26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6800</TotalTime>
  <Words>700</Words>
  <Application>Microsoft Office PowerPoint</Application>
  <PresentationFormat>Panorámica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Wingdings</vt:lpstr>
      <vt:lpstr>Office Theme</vt:lpstr>
      <vt:lpstr>Unidad de Biblioteca Vicerrectoría Académica</vt:lpstr>
      <vt:lpstr>Presentación de PowerPoint</vt:lpstr>
      <vt:lpstr>Sedes</vt:lpstr>
      <vt:lpstr>Espacios, colecciones y dotación</vt:lpstr>
      <vt:lpstr>Biblioteca Vytautas Gabriunas – Sede Facultad de Ingeniería</vt:lpstr>
      <vt:lpstr>Equipo Biblioteca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Página web y ChatBUD</vt:lpstr>
      <vt:lpstr>Redes sociales: Instagram, LinkedIn</vt:lpstr>
      <vt:lpstr>Servicios - Gestión de colecciones – Repositorios </vt:lpstr>
      <vt:lpstr>Asesorías orientadas al Investigador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jhon alexander mancera varela</dc:creator>
  <cp:lastModifiedBy>PROCESOS - UNIDAD BIBLIOTECA</cp:lastModifiedBy>
  <cp:revision>525</cp:revision>
  <dcterms:created xsi:type="dcterms:W3CDTF">2023-11-20T14:40:11Z</dcterms:created>
  <dcterms:modified xsi:type="dcterms:W3CDTF">2026-09-15T21:48:11Z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2023-11-17T00:00:00Z</vt:filetime>
  </property>
  <property fmtid="{D5CDD505-2E9C-101B-9397-08002B2CF9AE}" pid="3" name="Creator">
    <vt:lpwstr>Acrobat PDFMaker 23 para PowerPoint</vt:lpwstr>
  </property>
  <property fmtid="{D5CDD505-2E9C-101B-9397-08002B2CF9AE}" pid="4" name="LastSaved">
    <vt:filetime>2023-11-20T00:00:00Z</vt:filetime>
  </property>
  <property fmtid="{D5CDD505-2E9C-101B-9397-08002B2CF9AE}" pid="5" name="Producer">
    <vt:lpwstr>Adobe PDF Library 23.6.156</vt:lpwstr>
  </property>
</Properties>
</file>