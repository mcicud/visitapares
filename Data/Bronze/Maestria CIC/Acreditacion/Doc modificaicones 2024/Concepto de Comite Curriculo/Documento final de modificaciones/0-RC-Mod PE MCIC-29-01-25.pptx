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72" r:id="rId4"/>
    <p:sldId id="274" r:id="rId5"/>
    <p:sldId id="271" r:id="rId6"/>
    <p:sldId id="275" r:id="rId7"/>
    <p:sldId id="276" r:id="rId8"/>
    <p:sldId id="279" r:id="rId9"/>
    <p:sldId id="278" r:id="rId10"/>
    <p:sldId id="280" r:id="rId11"/>
    <p:sldId id="277" r:id="rId12"/>
    <p:sldId id="281" r:id="rId13"/>
    <p:sldId id="282" r:id="rId14"/>
    <p:sldId id="273" r:id="rId15"/>
    <p:sldId id="258" r:id="rId16"/>
  </p:sldIdLst>
  <p:sldSz cx="12192000" cy="6858000"/>
  <p:notesSz cx="6858000" cy="9144000"/>
  <p:defaultTextStyle>
    <a:defPPr>
      <a:defRPr lang="es-CO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2812"/>
    <a:srgbClr val="FFF9F7"/>
    <a:srgbClr val="69180B"/>
    <a:srgbClr val="FDE2D9"/>
    <a:srgbClr val="D1FFFF"/>
    <a:srgbClr val="FFFFFF"/>
    <a:srgbClr val="FAFA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FA854D-21EB-EFEC-422E-FE24793400D5}" v="175" dt="2024-03-07T22:10:41.2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50" autoAdjust="0"/>
    <p:restoredTop sz="94660"/>
  </p:normalViewPr>
  <p:slideViewPr>
    <p:cSldViewPr snapToGrid="0">
      <p:cViewPr varScale="1">
        <p:scale>
          <a:sx n="68" d="100"/>
          <a:sy n="68" d="100"/>
        </p:scale>
        <p:origin x="7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errectoría Académica Universidad Distrital" userId="S::vicerrecacad@udistrital.edu.co::d468315b-024c-49af-b47f-4b2ad044f97d" providerId="AD" clId="Web-{E1FA854D-21EB-EFEC-422E-FE24793400D5}"/>
    <pc:docChg chg="modSld">
      <pc:chgData name="Vicerrectoría Académica Universidad Distrital" userId="S::vicerrecacad@udistrital.edu.co::d468315b-024c-49af-b47f-4b2ad044f97d" providerId="AD" clId="Web-{E1FA854D-21EB-EFEC-422E-FE24793400D5}" dt="2024-03-07T22:10:41.242" v="96" actId="14100"/>
      <pc:docMkLst>
        <pc:docMk/>
      </pc:docMkLst>
      <pc:sldChg chg="modSp">
        <pc:chgData name="Vicerrectoría Académica Universidad Distrital" userId="S::vicerrecacad@udistrital.edu.co::d468315b-024c-49af-b47f-4b2ad044f97d" providerId="AD" clId="Web-{E1FA854D-21EB-EFEC-422E-FE24793400D5}" dt="2024-03-07T22:04:54.325" v="20" actId="1076"/>
        <pc:sldMkLst>
          <pc:docMk/>
          <pc:sldMk cId="44815353" sldId="267"/>
        </pc:sldMkLst>
        <pc:picChg chg="mod">
          <ac:chgData name="Vicerrectoría Académica Universidad Distrital" userId="S::vicerrecacad@udistrital.edu.co::d468315b-024c-49af-b47f-4b2ad044f97d" providerId="AD" clId="Web-{E1FA854D-21EB-EFEC-422E-FE24793400D5}" dt="2024-03-07T22:04:54.325" v="20" actId="1076"/>
          <ac:picMkLst>
            <pc:docMk/>
            <pc:sldMk cId="44815353" sldId="267"/>
            <ac:picMk id="5" creationId="{B135CBB8-CEED-4709-8D09-9F6AF98C157D}"/>
          </ac:picMkLst>
        </pc:picChg>
      </pc:sldChg>
      <pc:sldChg chg="modSp">
        <pc:chgData name="Vicerrectoría Académica Universidad Distrital" userId="S::vicerrecacad@udistrital.edu.co::d468315b-024c-49af-b47f-4b2ad044f97d" providerId="AD" clId="Web-{E1FA854D-21EB-EFEC-422E-FE24793400D5}" dt="2024-03-07T22:10:41.242" v="96" actId="14100"/>
        <pc:sldMkLst>
          <pc:docMk/>
          <pc:sldMk cId="404699501" sldId="270"/>
        </pc:sldMkLst>
        <pc:spChg chg="mod">
          <ac:chgData name="Vicerrectoría Académica Universidad Distrital" userId="S::vicerrecacad@udistrital.edu.co::d468315b-024c-49af-b47f-4b2ad044f97d" providerId="AD" clId="Web-{E1FA854D-21EB-EFEC-422E-FE24793400D5}" dt="2024-03-07T22:10:01.194" v="78" actId="14100"/>
          <ac:spMkLst>
            <pc:docMk/>
            <pc:sldMk cId="404699501" sldId="270"/>
            <ac:spMk id="23" creationId="{B06DC756-382D-46A2-87E5-102AAFAB16DB}"/>
          </ac:spMkLst>
        </pc:spChg>
        <pc:spChg chg="mod">
          <ac:chgData name="Vicerrectoría Académica Universidad Distrital" userId="S::vicerrecacad@udistrital.edu.co::d468315b-024c-49af-b47f-4b2ad044f97d" providerId="AD" clId="Web-{E1FA854D-21EB-EFEC-422E-FE24793400D5}" dt="2024-03-07T22:10:08.507" v="81" actId="14100"/>
          <ac:spMkLst>
            <pc:docMk/>
            <pc:sldMk cId="404699501" sldId="270"/>
            <ac:spMk id="38" creationId="{C4A289D6-9006-4C69-8432-7C8F6C7E9292}"/>
          </ac:spMkLst>
        </pc:spChg>
        <pc:spChg chg="mod">
          <ac:chgData name="Vicerrectoría Académica Universidad Distrital" userId="S::vicerrecacad@udistrital.edu.co::d468315b-024c-49af-b47f-4b2ad044f97d" providerId="AD" clId="Web-{E1FA854D-21EB-EFEC-422E-FE24793400D5}" dt="2024-03-07T22:10:41.242" v="96" actId="14100"/>
          <ac:spMkLst>
            <pc:docMk/>
            <pc:sldMk cId="404699501" sldId="270"/>
            <ac:spMk id="42" creationId="{C9A2D631-F2D7-41EA-B308-5CE92D8376E8}"/>
          </ac:spMkLst>
        </pc:spChg>
      </pc:sldChg>
      <pc:sldChg chg="modSp">
        <pc:chgData name="Vicerrectoría Académica Universidad Distrital" userId="S::vicerrecacad@udistrital.edu.co::d468315b-024c-49af-b47f-4b2ad044f97d" providerId="AD" clId="Web-{E1FA854D-21EB-EFEC-422E-FE24793400D5}" dt="2024-03-07T22:04:09.324" v="18" actId="1076"/>
        <pc:sldMkLst>
          <pc:docMk/>
          <pc:sldMk cId="3704677487" sldId="288"/>
        </pc:sldMkLst>
        <pc:spChg chg="mod">
          <ac:chgData name="Vicerrectoría Académica Universidad Distrital" userId="S::vicerrecacad@udistrital.edu.co::d468315b-024c-49af-b47f-4b2ad044f97d" providerId="AD" clId="Web-{E1FA854D-21EB-EFEC-422E-FE24793400D5}" dt="2024-03-07T22:03:59.714" v="16" actId="1076"/>
          <ac:spMkLst>
            <pc:docMk/>
            <pc:sldMk cId="3704677487" sldId="288"/>
            <ac:spMk id="6" creationId="{A1D9E919-5029-4DCC-9BCB-D580F2F946F5}"/>
          </ac:spMkLst>
        </pc:spChg>
        <pc:spChg chg="mod">
          <ac:chgData name="Vicerrectoría Académica Universidad Distrital" userId="S::vicerrecacad@udistrital.edu.co::d468315b-024c-49af-b47f-4b2ad044f97d" providerId="AD" clId="Web-{E1FA854D-21EB-EFEC-422E-FE24793400D5}" dt="2024-03-07T22:03:18.994" v="7" actId="20577"/>
          <ac:spMkLst>
            <pc:docMk/>
            <pc:sldMk cId="3704677487" sldId="288"/>
            <ac:spMk id="20" creationId="{4750B82D-C58B-4CF5-BC0E-6DF507071F2A}"/>
          </ac:spMkLst>
        </pc:spChg>
        <pc:spChg chg="mod">
          <ac:chgData name="Vicerrectoría Académica Universidad Distrital" userId="S::vicerrecacad@udistrital.edu.co::d468315b-024c-49af-b47f-4b2ad044f97d" providerId="AD" clId="Web-{E1FA854D-21EB-EFEC-422E-FE24793400D5}" dt="2024-03-07T22:03:25.572" v="9" actId="20577"/>
          <ac:spMkLst>
            <pc:docMk/>
            <pc:sldMk cId="3704677487" sldId="288"/>
            <ac:spMk id="23" creationId="{B1AA2CB9-D584-49F6-8769-8512745AA065}"/>
          </ac:spMkLst>
        </pc:spChg>
        <pc:spChg chg="mod">
          <ac:chgData name="Vicerrectoría Académica Universidad Distrital" userId="S::vicerrecacad@udistrital.edu.co::d468315b-024c-49af-b47f-4b2ad044f97d" providerId="AD" clId="Web-{E1FA854D-21EB-EFEC-422E-FE24793400D5}" dt="2024-03-07T22:03:05.587" v="5" actId="20577"/>
          <ac:spMkLst>
            <pc:docMk/>
            <pc:sldMk cId="3704677487" sldId="288"/>
            <ac:spMk id="25" creationId="{F04416D6-D6E2-4306-B7CD-A038BED66B07}"/>
          </ac:spMkLst>
        </pc:spChg>
        <pc:spChg chg="mod">
          <ac:chgData name="Vicerrectoría Académica Universidad Distrital" userId="S::vicerrecacad@udistrital.edu.co::d468315b-024c-49af-b47f-4b2ad044f97d" providerId="AD" clId="Web-{E1FA854D-21EB-EFEC-422E-FE24793400D5}" dt="2024-03-07T22:03:44.323" v="15" actId="20577"/>
          <ac:spMkLst>
            <pc:docMk/>
            <pc:sldMk cId="3704677487" sldId="288"/>
            <ac:spMk id="27" creationId="{232F8AEC-E794-44F0-AE51-305FB343C234}"/>
          </ac:spMkLst>
        </pc:spChg>
        <pc:spChg chg="mod">
          <ac:chgData name="Vicerrectoría Académica Universidad Distrital" userId="S::vicerrecacad@udistrital.edu.co::d468315b-024c-49af-b47f-4b2ad044f97d" providerId="AD" clId="Web-{E1FA854D-21EB-EFEC-422E-FE24793400D5}" dt="2024-03-07T22:04:04.027" v="17" actId="1076"/>
          <ac:spMkLst>
            <pc:docMk/>
            <pc:sldMk cId="3704677487" sldId="288"/>
            <ac:spMk id="29" creationId="{92F9FC5E-E1A9-493C-AF61-42B9912F5E2A}"/>
          </ac:spMkLst>
        </pc:spChg>
        <pc:spChg chg="mod">
          <ac:chgData name="Vicerrectoría Académica Universidad Distrital" userId="S::vicerrecacad@udistrital.edu.co::d468315b-024c-49af-b47f-4b2ad044f97d" providerId="AD" clId="Web-{E1FA854D-21EB-EFEC-422E-FE24793400D5}" dt="2024-03-07T22:03:31.744" v="11" actId="20577"/>
          <ac:spMkLst>
            <pc:docMk/>
            <pc:sldMk cId="3704677487" sldId="288"/>
            <ac:spMk id="33" creationId="{F1A97A35-7DF5-487B-AE4E-08AF0AE08610}"/>
          </ac:spMkLst>
        </pc:spChg>
        <pc:spChg chg="mod">
          <ac:chgData name="Vicerrectoría Académica Universidad Distrital" userId="S::vicerrecacad@udistrital.edu.co::d468315b-024c-49af-b47f-4b2ad044f97d" providerId="AD" clId="Web-{E1FA854D-21EB-EFEC-422E-FE24793400D5}" dt="2024-03-07T22:04:09.324" v="18" actId="1076"/>
          <ac:spMkLst>
            <pc:docMk/>
            <pc:sldMk cId="3704677487" sldId="288"/>
            <ac:spMk id="37" creationId="{B2373345-8E54-43BD-8252-AEEE446FEDA8}"/>
          </ac:spMkLst>
        </pc:spChg>
        <pc:spChg chg="mod">
          <ac:chgData name="Vicerrectoría Académica Universidad Distrital" userId="S::vicerrecacad@udistrital.edu.co::d468315b-024c-49af-b47f-4b2ad044f97d" providerId="AD" clId="Web-{E1FA854D-21EB-EFEC-422E-FE24793400D5}" dt="2024-03-07T22:02:48.962" v="0" actId="20577"/>
          <ac:spMkLst>
            <pc:docMk/>
            <pc:sldMk cId="3704677487" sldId="288"/>
            <ac:spMk id="39" creationId="{E587A815-4D18-4C32-8978-2EC95886482B}"/>
          </ac:spMkLst>
        </pc:spChg>
        <pc:spChg chg="mod">
          <ac:chgData name="Vicerrectoría Académica Universidad Distrital" userId="S::vicerrecacad@udistrital.edu.co::d468315b-024c-49af-b47f-4b2ad044f97d" providerId="AD" clId="Web-{E1FA854D-21EB-EFEC-422E-FE24793400D5}" dt="2024-03-07T22:03:37.932" v="13" actId="20577"/>
          <ac:spMkLst>
            <pc:docMk/>
            <pc:sldMk cId="3704677487" sldId="288"/>
            <ac:spMk id="41" creationId="{68ED0D2E-54D9-4E6C-BA15-2217D7F0FA2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00C5B4-B1A8-4BE8-8049-F8B042DAA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BFB7F8-9D04-46D7-8EDE-9E81D5B9E38B}" type="datetimeFigureOut">
              <a:rPr lang="es-CO"/>
              <a:pPr>
                <a:defRPr/>
              </a:pPr>
              <a:t>29/01/2025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2C17C3-580F-4E34-BB23-E7F7A1825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DB6ABC-F54D-43C3-90A9-0B30423A4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1B6395-D19C-4022-BD3E-AA64F48F4461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602064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882925-FFEA-4C66-8A9D-723A2F826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64418A-78C1-4CC9-BA50-EB6B615F9062}" type="datetimeFigureOut">
              <a:rPr lang="es-CO"/>
              <a:pPr>
                <a:defRPr/>
              </a:pPr>
              <a:t>29/01/2025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D26B39-9FED-4B4C-B4BB-4D27360A3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D41756-E7CA-4B58-A6CA-38788E09C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7CF488-D59D-4E4A-8A12-78226D1BE8BC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72014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458A91-D2A1-41AB-957C-F8AB5528F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FC74CB-9A2F-4681-AC54-37910DBBE711}" type="datetimeFigureOut">
              <a:rPr lang="es-CO"/>
              <a:pPr>
                <a:defRPr/>
              </a:pPr>
              <a:t>29/01/2025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3A8EAE-7E7C-4B0A-9ACC-30570E6EE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D873C8-206D-4DA5-81BE-EB18A712B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5A6F62-9380-4F84-BA63-57F3024D51CD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902882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3">
            <a:extLst>
              <a:ext uri="{FF2B5EF4-FFF2-40B4-BE49-F238E27FC236}">
                <a16:creationId xmlns:a16="http://schemas.microsoft.com/office/drawing/2014/main" id="{968CE952-5ACC-4FA0-B5BE-076FF6400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ED8B14-1B0F-4BDB-8CDA-DFDDBC975C71}" type="datetimeFigureOut">
              <a:rPr lang="es-CO"/>
              <a:pPr>
                <a:defRPr/>
              </a:pPr>
              <a:t>29/01/2025</a:t>
            </a:fld>
            <a:endParaRPr lang="es-CO"/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CC89686E-740F-4C70-B3BB-4A2D17910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30C1F7AF-C3E4-401C-B7C0-311859197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ED7C53-08A1-4524-B21F-963AD20A0493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231303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3">
            <a:extLst>
              <a:ext uri="{FF2B5EF4-FFF2-40B4-BE49-F238E27FC236}">
                <a16:creationId xmlns:a16="http://schemas.microsoft.com/office/drawing/2014/main" id="{D90AF97A-B07A-4293-BD7E-974DBC142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6289E1-78CF-448E-8A90-4357C749C9FC}" type="datetimeFigureOut">
              <a:rPr lang="es-CO"/>
              <a:pPr>
                <a:defRPr/>
              </a:pPr>
              <a:t>29/01/2025</a:t>
            </a:fld>
            <a:endParaRPr lang="es-CO"/>
          </a:p>
        </p:txBody>
      </p:sp>
      <p:sp>
        <p:nvSpPr>
          <p:cNvPr id="8" name="Marcador de pie de página 4">
            <a:extLst>
              <a:ext uri="{FF2B5EF4-FFF2-40B4-BE49-F238E27FC236}">
                <a16:creationId xmlns:a16="http://schemas.microsoft.com/office/drawing/2014/main" id="{D7268560-4BD8-4CCC-844C-D8748E7B1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2759D7E5-F111-45C0-8585-4F4895F87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6D5FB2-7AA8-4E50-A908-C4B1EE846161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173829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3">
            <a:extLst>
              <a:ext uri="{FF2B5EF4-FFF2-40B4-BE49-F238E27FC236}">
                <a16:creationId xmlns:a16="http://schemas.microsoft.com/office/drawing/2014/main" id="{A6C63010-A7B8-4879-A0A9-5C4A9B806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A1869B-8616-4D57-BB7C-92447D77E042}" type="datetimeFigureOut">
              <a:rPr lang="es-CO"/>
              <a:pPr>
                <a:defRPr/>
              </a:pPr>
              <a:t>29/01/2025</a:t>
            </a:fld>
            <a:endParaRPr lang="es-CO"/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26C6E7F0-72B2-47C1-8BEC-60799E1B3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C338B802-CA04-4D2D-84EA-894A79B73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F3858-BBCD-436A-80BE-68E6B7B46759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465861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3">
            <a:extLst>
              <a:ext uri="{FF2B5EF4-FFF2-40B4-BE49-F238E27FC236}">
                <a16:creationId xmlns:a16="http://schemas.microsoft.com/office/drawing/2014/main" id="{B4593243-3501-4B41-8568-7D3D2AE18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58669E-C6E3-4FED-8185-9B0C2D1C9A91}" type="datetimeFigureOut">
              <a:rPr lang="es-CO"/>
              <a:pPr>
                <a:defRPr/>
              </a:pPr>
              <a:t>29/01/2025</a:t>
            </a:fld>
            <a:endParaRPr lang="es-CO"/>
          </a:p>
        </p:txBody>
      </p:sp>
      <p:sp>
        <p:nvSpPr>
          <p:cNvPr id="3" name="Marcador de pie de página 4">
            <a:extLst>
              <a:ext uri="{FF2B5EF4-FFF2-40B4-BE49-F238E27FC236}">
                <a16:creationId xmlns:a16="http://schemas.microsoft.com/office/drawing/2014/main" id="{9E631D69-74B2-438D-8C1E-128063EE4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5C7C62A1-A991-49CB-AA27-0D2315982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8B1B3E-AA0A-4CBD-B258-E67DCA7143E2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134081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3">
            <a:extLst>
              <a:ext uri="{FF2B5EF4-FFF2-40B4-BE49-F238E27FC236}">
                <a16:creationId xmlns:a16="http://schemas.microsoft.com/office/drawing/2014/main" id="{DEA2E631-369D-41BC-9FBF-DCFD955B3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4E8877-B9EA-4A43-9904-9AB241824B56}" type="datetimeFigureOut">
              <a:rPr lang="es-CO"/>
              <a:pPr>
                <a:defRPr/>
              </a:pPr>
              <a:t>29/01/2025</a:t>
            </a:fld>
            <a:endParaRPr lang="es-CO"/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8BB98F8F-055C-494B-80F3-BE5B01D58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A9CCC9FF-0352-4449-AD4A-0D27A8073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0C1C1A-C872-41A3-831B-3C7BC5D7C2D7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840140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s-CO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3">
            <a:extLst>
              <a:ext uri="{FF2B5EF4-FFF2-40B4-BE49-F238E27FC236}">
                <a16:creationId xmlns:a16="http://schemas.microsoft.com/office/drawing/2014/main" id="{A4A60947-D3E1-46CC-B7E7-C2213C21F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87AA91-AC25-47FF-B7E4-F31530E0A8BC}" type="datetimeFigureOut">
              <a:rPr lang="es-CO"/>
              <a:pPr>
                <a:defRPr/>
              </a:pPr>
              <a:t>29/01/2025</a:t>
            </a:fld>
            <a:endParaRPr lang="es-CO"/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3046BBA0-DAC4-4952-BF97-91BFFF094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D14EE3DD-5B95-4AD2-A070-A75095843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088861-2672-4D41-B7DB-CD7CC660B512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708135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0A2E33-965B-4B46-A581-23F606A47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75BF58-9CCD-400F-923B-424E3B9AF075}" type="datetimeFigureOut">
              <a:rPr lang="es-CO"/>
              <a:pPr>
                <a:defRPr/>
              </a:pPr>
              <a:t>29/01/2025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45FB6F-F964-4275-AEBE-ACA1DB145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71EA8A-1FF3-4CB6-AD73-117B637ED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E2955C-849F-42E9-BA8A-D6E060CF9442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82656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DC946F-F57F-47EE-94D9-E5567A44A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FDFC09-3242-4DAB-93A4-D352A594AC7B}" type="datetimeFigureOut">
              <a:rPr lang="es-CO"/>
              <a:pPr>
                <a:defRPr/>
              </a:pPr>
              <a:t>29/01/2025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DF6E42-8223-4D4B-AC32-4126255BC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AD0699-3D46-4C1D-8B4D-DC873C56E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51C05A-FB03-4F29-9CD1-3EBDD6909F06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84394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>
            <a:extLst>
              <a:ext uri="{FF2B5EF4-FFF2-40B4-BE49-F238E27FC236}">
                <a16:creationId xmlns:a16="http://schemas.microsoft.com/office/drawing/2014/main" id="{D7D3AA2A-222A-4710-B495-23A6ED0295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/>
              <a:t>Haga clic para modificar el estilo de título del patrón</a:t>
            </a:r>
            <a:endParaRPr lang="es-CO" altLang="es-CO"/>
          </a:p>
        </p:txBody>
      </p:sp>
      <p:sp>
        <p:nvSpPr>
          <p:cNvPr id="1027" name="Marcador de texto 2">
            <a:extLst>
              <a:ext uri="{FF2B5EF4-FFF2-40B4-BE49-F238E27FC236}">
                <a16:creationId xmlns:a16="http://schemas.microsoft.com/office/drawing/2014/main" id="{F305AF79-0A5F-4149-88A2-CCC417CB75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/>
              <a:t>Haga clic para modificar los estilos de texto del patrón</a:t>
            </a:r>
          </a:p>
          <a:p>
            <a:pPr lvl="1"/>
            <a:r>
              <a:rPr lang="es-ES" altLang="es-CO"/>
              <a:t>Segundo nivel</a:t>
            </a:r>
          </a:p>
          <a:p>
            <a:pPr lvl="2"/>
            <a:r>
              <a:rPr lang="es-ES" altLang="es-CO"/>
              <a:t>Tercer nivel</a:t>
            </a:r>
          </a:p>
          <a:p>
            <a:pPr lvl="3"/>
            <a:r>
              <a:rPr lang="es-ES" altLang="es-CO"/>
              <a:t>Cuarto nivel</a:t>
            </a:r>
          </a:p>
          <a:p>
            <a:pPr lvl="4"/>
            <a:r>
              <a:rPr lang="es-ES" altLang="es-CO"/>
              <a:t>Quinto nivel</a:t>
            </a:r>
            <a:endParaRPr lang="es-CO" alt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F57F8A-7CFD-423D-B197-0F73EDD2EE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BEE2519-6BB9-4A02-B19F-A9C41460AC44}" type="datetimeFigureOut">
              <a:rPr lang="es-CO"/>
              <a:pPr>
                <a:defRPr/>
              </a:pPr>
              <a:t>29/01/2025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112FED-9CC9-43E1-A3DF-08B7E30FE1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C19093-BFC0-425C-A648-EF1BEB828F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A51428AB-4690-4DDF-9EA4-3E904097901E}" type="slidenum">
              <a:rPr lang="es-CO" altLang="es-CO"/>
              <a:pPr/>
              <a:t>‹Nº›</a:t>
            </a:fld>
            <a:endParaRPr lang="es-CO" alt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distrital.edu.co/sites/default/files/acreditacion/registro-calificado/Res%20009925%20junio%202023-Rn%20RC%20Prof%20MCIC-22-06-23_0.pdf" TargetMode="External"/><Relationship Id="rId2" Type="http://schemas.openxmlformats.org/officeDocument/2006/relationships/hyperlink" Target="https://www.udistrital.edu.co/sites/default/files/acreditacion/registro-calificado/Res%20N%C2%B016163%20de%20septiembre%20de%202023-MCIC-Inv_0.pdf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udistritaleduco-my.sharepoint.com/:f:/g/personal/docregcalifiicado_udistrital_edu_co/EsGzT-shXVdGvWAtb7ucwZgBhBy92Sb3MgmdVc9-esMgnw?e=pVr0s6" TargetMode="External"/><Relationship Id="rId2" Type="http://schemas.openxmlformats.org/officeDocument/2006/relationships/hyperlink" Target="https://udistritaleduco-my.sharepoint.com/:f:/g/personal/docregcalifiicado_udistrital_edu_co/EoDAswsztuZPp2wh5nD_KX0BQXMTmGzEfLechJLOPfoG3g?e=ku4XYU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udistritaleduco-my.sharepoint.com/:w:/g/personal/docregcalifiicado_udistrital_edu_co/ETq2zojpTclNpcAfSHaPl5UBBk9zBJXPRPjN0COJlWn-bQ?e=MOLTeg" TargetMode="External"/><Relationship Id="rId2" Type="http://schemas.openxmlformats.org/officeDocument/2006/relationships/hyperlink" Target="https://udistritaleduco-my.sharepoint.com/:f:/g/personal/docregcalifiicado_udistrital_edu_co/EgppGGMhrUlGg5Rf5n5YcL4BOL3IbT7hFLEN7nA0e9SsTQ?e=enIerz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regcalificado@udistrital.edu.co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curriculoycalidadinst@udistrital.edu.c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C4AC4F6-9158-42D5-BC63-E54FE24CA9A0}"/>
              </a:ext>
            </a:extLst>
          </p:cNvPr>
          <p:cNvSpPr txBox="1"/>
          <p:nvPr/>
        </p:nvSpPr>
        <p:spPr>
          <a:xfrm>
            <a:off x="5322685" y="2567097"/>
            <a:ext cx="479615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Modificación Plan de estudios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Investigación (código SNIES: 17528)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Profundización (código SNIES: 116070)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Coordinación Comité Institucional de Currículo y Calidad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MX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MX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400" b="1" dirty="0">
                <a:solidFill>
                  <a:srgbClr val="AE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Sesión Consejo Académico 4 de febrero de 2025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7397922" y="5825219"/>
            <a:ext cx="3880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Preparó: Procesos académicos (Registro Calificado/ Sistema de Gestión Académica)</a:t>
            </a:r>
          </a:p>
          <a:p>
            <a:r>
              <a:rPr lang="es-CO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Fecha: 29 de enero de 2025.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09199D3-3EF0-4195-BCFA-FFB6217F029A}"/>
              </a:ext>
            </a:extLst>
          </p:cNvPr>
          <p:cNvSpPr/>
          <p:nvPr/>
        </p:nvSpPr>
        <p:spPr>
          <a:xfrm>
            <a:off x="1757082" y="621808"/>
            <a:ext cx="1505540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500" b="1" dirty="0">
                <a:solidFill>
                  <a:srgbClr val="6918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Objetivos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C435CEB-7347-4ABE-BC53-AED591B84F91}"/>
              </a:ext>
            </a:extLst>
          </p:cNvPr>
          <p:cNvCxnSpPr/>
          <p:nvPr/>
        </p:nvCxnSpPr>
        <p:spPr>
          <a:xfrm>
            <a:off x="1757082" y="1160816"/>
            <a:ext cx="5878286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Rectángulo 1"/>
          <p:cNvSpPr/>
          <p:nvPr/>
        </p:nvSpPr>
        <p:spPr>
          <a:xfrm>
            <a:off x="1757082" y="1177412"/>
            <a:ext cx="9640661" cy="482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ts val="47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Garantizar la coherencia entre la información que sustenta el Registro Calificado del Proyecto Curricular de </a:t>
            </a:r>
            <a:r>
              <a:rPr lang="es-E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 (Investigación y Profundización tramitados de manera independiente ante el Ministerio de Educación Nacional) </a:t>
            </a: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la normativa institucional. </a:t>
            </a:r>
          </a:p>
          <a:p>
            <a:pPr marL="342900" indent="-342900" algn="just">
              <a:lnSpc>
                <a:spcPts val="47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Integrar al plan de estudios la oferta del énfasis de </a:t>
            </a:r>
            <a:r>
              <a:rPr lang="es-E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Inteligencia artificial </a:t>
            </a: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aprobado por el Consejo Superior Universitario con Resolución N°032 de octubre de 2002.</a:t>
            </a:r>
          </a:p>
          <a:p>
            <a:pPr marL="342900" indent="-342900" algn="just">
              <a:lnSpc>
                <a:spcPts val="47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Actualizar el plan de estudios en coherencia con los énfasis ofertados y la independencia del programa en </a:t>
            </a:r>
            <a:r>
              <a:rPr lang="es-E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Profundización/ Investigación. </a:t>
            </a: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CO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496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C435CEB-7347-4ABE-BC53-AED591B84F91}"/>
              </a:ext>
            </a:extLst>
          </p:cNvPr>
          <p:cNvCxnSpPr/>
          <p:nvPr/>
        </p:nvCxnSpPr>
        <p:spPr>
          <a:xfrm>
            <a:off x="2272471" y="975202"/>
            <a:ext cx="4452649" cy="1798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" name="Título 1">
            <a:extLst>
              <a:ext uri="{FF2B5EF4-FFF2-40B4-BE49-F238E27FC236}">
                <a16:creationId xmlns:a16="http://schemas.microsoft.com/office/drawing/2014/main" id="{E9AF963F-95E0-4D28-8AE5-880AC99C324E}"/>
              </a:ext>
            </a:extLst>
          </p:cNvPr>
          <p:cNvSpPr txBox="1">
            <a:spLocks/>
          </p:cNvSpPr>
          <p:nvPr/>
        </p:nvSpPr>
        <p:spPr bwMode="auto">
          <a:xfrm>
            <a:off x="2197656" y="313308"/>
            <a:ext cx="8849958" cy="547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>
              <a:lnSpc>
                <a:spcPts val="4600"/>
              </a:lnSpc>
            </a:pPr>
            <a:r>
              <a:rPr lang="es-CO" sz="3000" b="1" dirty="0">
                <a:solidFill>
                  <a:srgbClr val="69180B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Información Registro Calificado</a:t>
            </a:r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794321"/>
              </p:ext>
            </p:extLst>
          </p:nvPr>
        </p:nvGraphicFramePr>
        <p:xfrm>
          <a:off x="1802297" y="1182609"/>
          <a:ext cx="9462052" cy="492504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352494">
                  <a:extLst>
                    <a:ext uri="{9D8B030D-6E8A-4147-A177-3AD203B41FA5}">
                      <a16:colId xmlns:a16="http://schemas.microsoft.com/office/drawing/2014/main" val="2483731206"/>
                    </a:ext>
                  </a:extLst>
                </a:gridCol>
                <a:gridCol w="6109558">
                  <a:extLst>
                    <a:ext uri="{9D8B030D-6E8A-4147-A177-3AD203B41FA5}">
                      <a16:colId xmlns:a16="http://schemas.microsoft.com/office/drawing/2014/main" val="1151789502"/>
                    </a:ext>
                  </a:extLst>
                </a:gridCol>
              </a:tblGrid>
              <a:tr h="336049"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Denominación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Maestría en Ciencias de la Información y las Comunicaciones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2036023"/>
                  </a:ext>
                </a:extLst>
              </a:tr>
              <a:tr h="360988"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Título que otorga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Magíster en Ciencias de la Información y las Comunicaciones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0678428"/>
                  </a:ext>
                </a:extLst>
              </a:tr>
              <a:tr h="165794"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Nivel de formación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Posgrado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1543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Número de créditos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2427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Duración</a:t>
                      </a:r>
                      <a:r>
                        <a:rPr lang="es-CO" sz="16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s-CO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semestres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6775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Periodicidad</a:t>
                      </a:r>
                      <a:r>
                        <a:rPr lang="es-CO" sz="16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 admisión</a:t>
                      </a:r>
                      <a:endParaRPr lang="es-CO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s-CO" sz="16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emestral</a:t>
                      </a:r>
                      <a:endParaRPr lang="es-CO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457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Modalidad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Presencial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211784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s-CO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omponentes</a:t>
                      </a:r>
                      <a:r>
                        <a:rPr lang="es-CO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declarados en el Registro Calificado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Investigación</a:t>
                      </a:r>
                    </a:p>
                    <a:p>
                      <a:r>
                        <a:rPr lang="es-CO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Profundización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6372911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Lugar</a:t>
                      </a:r>
                      <a:r>
                        <a:rPr lang="es-CO" sz="16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 oferta </a:t>
                      </a:r>
                      <a:endParaRPr lang="es-CO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Bogotá D.C.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989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Resolución</a:t>
                      </a:r>
                      <a:r>
                        <a:rPr lang="es-CO" sz="16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 Registro Calificado</a:t>
                      </a:r>
                      <a:endParaRPr lang="es-CO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(Investigación) </a:t>
                      </a:r>
                      <a:r>
                        <a:rPr lang="es-E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Resolución N°016163 de septiembre de 2023 </a:t>
                      </a:r>
                      <a:endParaRPr lang="es-E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s-E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(Profundización) </a:t>
                      </a:r>
                      <a:r>
                        <a:rPr lang="es-E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Resolución N°09925 de junio de 2023</a:t>
                      </a:r>
                      <a:endParaRPr lang="es-CO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893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 de creación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Acuerdo N°010 de abril de 1987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785245"/>
                  </a:ext>
                </a:extLst>
              </a:tr>
              <a:tr h="667389"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 que modificó la denominación y aprobó los énfasis</a:t>
                      </a:r>
                      <a:endParaRPr lang="es-CO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Resolución N°032 de octubre de 2002 </a:t>
                      </a:r>
                      <a:r>
                        <a:rPr lang="es-CO" sz="1600" b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s-CO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1199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7418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C435CEB-7347-4ABE-BC53-AED591B84F91}"/>
              </a:ext>
            </a:extLst>
          </p:cNvPr>
          <p:cNvCxnSpPr/>
          <p:nvPr/>
        </p:nvCxnSpPr>
        <p:spPr>
          <a:xfrm>
            <a:off x="2272471" y="975202"/>
            <a:ext cx="4452649" cy="1798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" name="Título 1">
            <a:extLst>
              <a:ext uri="{FF2B5EF4-FFF2-40B4-BE49-F238E27FC236}">
                <a16:creationId xmlns:a16="http://schemas.microsoft.com/office/drawing/2014/main" id="{E9AF963F-95E0-4D28-8AE5-880AC99C324E}"/>
              </a:ext>
            </a:extLst>
          </p:cNvPr>
          <p:cNvSpPr txBox="1">
            <a:spLocks/>
          </p:cNvSpPr>
          <p:nvPr/>
        </p:nvSpPr>
        <p:spPr bwMode="auto">
          <a:xfrm>
            <a:off x="2197656" y="313308"/>
            <a:ext cx="8849958" cy="547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>
              <a:lnSpc>
                <a:spcPts val="4600"/>
              </a:lnSpc>
            </a:pPr>
            <a:r>
              <a:rPr lang="es-CO" sz="3000" b="1" dirty="0">
                <a:solidFill>
                  <a:srgbClr val="69180B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Información Registro Calificado</a:t>
            </a:r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179480"/>
              </p:ext>
            </p:extLst>
          </p:nvPr>
        </p:nvGraphicFramePr>
        <p:xfrm>
          <a:off x="1891609" y="1553670"/>
          <a:ext cx="9462052" cy="3536449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352494">
                  <a:extLst>
                    <a:ext uri="{9D8B030D-6E8A-4147-A177-3AD203B41FA5}">
                      <a16:colId xmlns:a16="http://schemas.microsoft.com/office/drawing/2014/main" val="2483731206"/>
                    </a:ext>
                  </a:extLst>
                </a:gridCol>
                <a:gridCol w="6109558">
                  <a:extLst>
                    <a:ext uri="{9D8B030D-6E8A-4147-A177-3AD203B41FA5}">
                      <a16:colId xmlns:a16="http://schemas.microsoft.com/office/drawing/2014/main" val="1151789502"/>
                    </a:ext>
                  </a:extLst>
                </a:gridCol>
              </a:tblGrid>
              <a:tr h="336049"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s-CO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es-CO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 solicitud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Modificación al plan de estudios</a:t>
                      </a:r>
                      <a:endParaRPr lang="es-CO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2036023"/>
                  </a:ext>
                </a:extLst>
              </a:tr>
              <a:tr h="360988"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Descripción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modificación consiste en la integración del énfasis de Inteligencia artificial, el ajuste en la denominación de algunos espacios académicos, la redistribución de espacios académicos y la armonización del plan de estudios con los componentes de oferta: </a:t>
                      </a:r>
                      <a:r>
                        <a:rPr lang="es-CO" sz="16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profundización </a:t>
                      </a:r>
                      <a:r>
                        <a:rPr lang="es-CO" sz="16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 </a:t>
                      </a:r>
                      <a:r>
                        <a:rPr lang="es-CO" sz="16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investigación. </a:t>
                      </a:r>
                      <a:endParaRPr lang="es-CO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0678428"/>
                  </a:ext>
                </a:extLst>
              </a:tr>
              <a:tr h="165794"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Aval de la solicitud Facultad de Ingeniería</a:t>
                      </a:r>
                      <a:endParaRPr lang="es-CO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O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CCYC 088 2024 de 11 de septiembre de 2024- Aval documento Coordinación Comité Currículo y Calidad posgrado Facultad de Ingeniería.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O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Acta N°032 de septiembre de 2024 del Consejo de Facultad.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1543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Conceptos Vicerrectoría Académica y Coordinación Comité Institucional de Currículo y Calidad</a:t>
                      </a:r>
                      <a:endParaRPr lang="es-CO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Comunicación 202320798 de 3 de noviembre de 2023.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Comunicación 2024IE3860 de 6 marzo de 2024.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Comunicación 2024IE4344 de 13 marzo de 2024.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Comunicación 2024IE17467 de 25 de noviembre de 2024. </a:t>
                      </a:r>
                      <a:endParaRPr lang="es-CO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2427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167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C435CEB-7347-4ABE-BC53-AED591B84F91}"/>
              </a:ext>
            </a:extLst>
          </p:cNvPr>
          <p:cNvCxnSpPr/>
          <p:nvPr/>
        </p:nvCxnSpPr>
        <p:spPr>
          <a:xfrm>
            <a:off x="2278908" y="919473"/>
            <a:ext cx="4452649" cy="1798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" name="Título 1">
            <a:extLst>
              <a:ext uri="{FF2B5EF4-FFF2-40B4-BE49-F238E27FC236}">
                <a16:creationId xmlns:a16="http://schemas.microsoft.com/office/drawing/2014/main" id="{E9AF963F-95E0-4D28-8AE5-880AC99C324E}"/>
              </a:ext>
            </a:extLst>
          </p:cNvPr>
          <p:cNvSpPr txBox="1">
            <a:spLocks/>
          </p:cNvSpPr>
          <p:nvPr/>
        </p:nvSpPr>
        <p:spPr bwMode="auto">
          <a:xfrm>
            <a:off x="2278908" y="223776"/>
            <a:ext cx="8849958" cy="547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>
              <a:lnSpc>
                <a:spcPts val="4600"/>
              </a:lnSpc>
            </a:pPr>
            <a:r>
              <a:rPr lang="es-CO" sz="3000" b="1" dirty="0">
                <a:solidFill>
                  <a:srgbClr val="69180B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Plan de estudios- Investigación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A966B6F5-EDBD-46FA-B514-6972916C66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96674"/>
              </p:ext>
            </p:extLst>
          </p:nvPr>
        </p:nvGraphicFramePr>
        <p:xfrm>
          <a:off x="2306578" y="1225455"/>
          <a:ext cx="8849958" cy="4704080"/>
        </p:xfrm>
        <a:graphic>
          <a:graphicData uri="http://schemas.openxmlformats.org/drawingml/2006/table">
            <a:tbl>
              <a:tblPr firstRow="1" firstCol="1" bandRow="1"/>
              <a:tblGrid>
                <a:gridCol w="1285351">
                  <a:extLst>
                    <a:ext uri="{9D8B030D-6E8A-4147-A177-3AD203B41FA5}">
                      <a16:colId xmlns:a16="http://schemas.microsoft.com/office/drawing/2014/main" val="75637661"/>
                    </a:ext>
                  </a:extLst>
                </a:gridCol>
                <a:gridCol w="2469405">
                  <a:extLst>
                    <a:ext uri="{9D8B030D-6E8A-4147-A177-3AD203B41FA5}">
                      <a16:colId xmlns:a16="http://schemas.microsoft.com/office/drawing/2014/main" val="4185489935"/>
                    </a:ext>
                  </a:extLst>
                </a:gridCol>
                <a:gridCol w="918432">
                  <a:extLst>
                    <a:ext uri="{9D8B030D-6E8A-4147-A177-3AD203B41FA5}">
                      <a16:colId xmlns:a16="http://schemas.microsoft.com/office/drawing/2014/main" val="527069055"/>
                    </a:ext>
                  </a:extLst>
                </a:gridCol>
                <a:gridCol w="918432">
                  <a:extLst>
                    <a:ext uri="{9D8B030D-6E8A-4147-A177-3AD203B41FA5}">
                      <a16:colId xmlns:a16="http://schemas.microsoft.com/office/drawing/2014/main" val="3274024292"/>
                    </a:ext>
                  </a:extLst>
                </a:gridCol>
                <a:gridCol w="863194">
                  <a:extLst>
                    <a:ext uri="{9D8B030D-6E8A-4147-A177-3AD203B41FA5}">
                      <a16:colId xmlns:a16="http://schemas.microsoft.com/office/drawing/2014/main" val="2897709529"/>
                    </a:ext>
                  </a:extLst>
                </a:gridCol>
                <a:gridCol w="863931">
                  <a:extLst>
                    <a:ext uri="{9D8B030D-6E8A-4147-A177-3AD203B41FA5}">
                      <a16:colId xmlns:a16="http://schemas.microsoft.com/office/drawing/2014/main" val="2795585613"/>
                    </a:ext>
                  </a:extLst>
                </a:gridCol>
                <a:gridCol w="863931">
                  <a:extLst>
                    <a:ext uri="{9D8B030D-6E8A-4147-A177-3AD203B41FA5}">
                      <a16:colId xmlns:a16="http://schemas.microsoft.com/office/drawing/2014/main" val="719892615"/>
                    </a:ext>
                  </a:extLst>
                </a:gridCol>
                <a:gridCol w="667282">
                  <a:extLst>
                    <a:ext uri="{9D8B030D-6E8A-4147-A177-3AD203B41FA5}">
                      <a16:colId xmlns:a16="http://schemas.microsoft.com/office/drawing/2014/main" val="2427486829"/>
                    </a:ext>
                  </a:extLst>
                </a:gridCol>
              </a:tblGrid>
              <a:tr h="131648">
                <a:tc gridSpan="8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Maestría en Ciencias de la Información y las Comunicaciones-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Investigación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32976"/>
                  </a:ext>
                </a:extLst>
              </a:tr>
              <a:tr h="108134">
                <a:tc rowSpan="2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Periodo de Formación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Espacio Académico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Clasificación Espacio Académico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Horas de Trabajo Académico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 de Créditos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581422"/>
                  </a:ext>
                </a:extLst>
              </a:tr>
              <a:tr h="7463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OB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EI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HTD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HTC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HTA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342322"/>
                  </a:ext>
                </a:extLst>
              </a:tr>
              <a:tr h="106205">
                <a:tc rowSpan="13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just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Seminario de investigación 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246862"/>
                  </a:ext>
                </a:extLst>
              </a:tr>
              <a:tr h="66789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Fundamentales 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137433"/>
                  </a:ext>
                </a:extLst>
              </a:tr>
              <a:tr h="215102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27305" indent="-1905" algn="just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Herramientas matemáticas para el manejo de la información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9035051"/>
                  </a:ext>
                </a:extLst>
              </a:tr>
              <a:tr h="8502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27305" indent="-1905" algn="just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Informática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2077446"/>
                  </a:ext>
                </a:extLst>
              </a:tr>
              <a:tr h="5830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27305" indent="-1905" algn="just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Énfasis I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0163566"/>
                  </a:ext>
                </a:extLst>
              </a:tr>
              <a:tr h="5175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Teleinformática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5953317"/>
                  </a:ext>
                </a:extLst>
              </a:tr>
              <a:tr h="64032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27305" indent="-1905" algn="just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Procesos estocásticos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222737"/>
                  </a:ext>
                </a:extLst>
              </a:tr>
              <a:tr h="5175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Geomática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96099"/>
                  </a:ext>
                </a:extLst>
              </a:tr>
              <a:tr h="10620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27305" indent="-1905" algn="just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Bases de datos especiales 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2366371"/>
                  </a:ext>
                </a:extLst>
              </a:tr>
              <a:tr h="5175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Ingeniería de software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390702"/>
                  </a:ext>
                </a:extLst>
              </a:tr>
              <a:tr h="5175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27305" indent="-1905" algn="just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Ingeniería de software I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10906"/>
                  </a:ext>
                </a:extLst>
              </a:tr>
              <a:tr h="5175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Inteligencia artificial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647718"/>
                  </a:ext>
                </a:extLst>
              </a:tr>
              <a:tr h="10620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27305" indent="-1905" algn="just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Inteligencia computacional 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609410"/>
                  </a:ext>
                </a:extLst>
              </a:tr>
              <a:tr h="66789">
                <a:tc gridSpan="7">
                  <a:txBody>
                    <a:bodyPr/>
                    <a:lstStyle/>
                    <a:p>
                      <a:pPr marL="6350" marR="27305" indent="-1905" algn="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 créditos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697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169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A966B6F5-EDBD-46FA-B514-6972916C66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43760"/>
              </p:ext>
            </p:extLst>
          </p:nvPr>
        </p:nvGraphicFramePr>
        <p:xfrm>
          <a:off x="1881581" y="283019"/>
          <a:ext cx="9526649" cy="6291962"/>
        </p:xfrm>
        <a:graphic>
          <a:graphicData uri="http://schemas.openxmlformats.org/drawingml/2006/table">
            <a:tbl>
              <a:tblPr firstRow="1" firstCol="1" bandRow="1"/>
              <a:tblGrid>
                <a:gridCol w="937976">
                  <a:extLst>
                    <a:ext uri="{9D8B030D-6E8A-4147-A177-3AD203B41FA5}">
                      <a16:colId xmlns:a16="http://schemas.microsoft.com/office/drawing/2014/main" val="75637661"/>
                    </a:ext>
                  </a:extLst>
                </a:gridCol>
                <a:gridCol w="3103879">
                  <a:extLst>
                    <a:ext uri="{9D8B030D-6E8A-4147-A177-3AD203B41FA5}">
                      <a16:colId xmlns:a16="http://schemas.microsoft.com/office/drawing/2014/main" val="1295652040"/>
                    </a:ext>
                  </a:extLst>
                </a:gridCol>
                <a:gridCol w="988658">
                  <a:extLst>
                    <a:ext uri="{9D8B030D-6E8A-4147-A177-3AD203B41FA5}">
                      <a16:colId xmlns:a16="http://schemas.microsoft.com/office/drawing/2014/main" val="527069055"/>
                    </a:ext>
                  </a:extLst>
                </a:gridCol>
                <a:gridCol w="988658">
                  <a:extLst>
                    <a:ext uri="{9D8B030D-6E8A-4147-A177-3AD203B41FA5}">
                      <a16:colId xmlns:a16="http://schemas.microsoft.com/office/drawing/2014/main" val="3274024292"/>
                    </a:ext>
                  </a:extLst>
                </a:gridCol>
                <a:gridCol w="929196">
                  <a:extLst>
                    <a:ext uri="{9D8B030D-6E8A-4147-A177-3AD203B41FA5}">
                      <a16:colId xmlns:a16="http://schemas.microsoft.com/office/drawing/2014/main" val="2897709529"/>
                    </a:ext>
                  </a:extLst>
                </a:gridCol>
                <a:gridCol w="929988">
                  <a:extLst>
                    <a:ext uri="{9D8B030D-6E8A-4147-A177-3AD203B41FA5}">
                      <a16:colId xmlns:a16="http://schemas.microsoft.com/office/drawing/2014/main" val="2795585613"/>
                    </a:ext>
                  </a:extLst>
                </a:gridCol>
                <a:gridCol w="929988">
                  <a:extLst>
                    <a:ext uri="{9D8B030D-6E8A-4147-A177-3AD203B41FA5}">
                      <a16:colId xmlns:a16="http://schemas.microsoft.com/office/drawing/2014/main" val="719892615"/>
                    </a:ext>
                  </a:extLst>
                </a:gridCol>
                <a:gridCol w="718306">
                  <a:extLst>
                    <a:ext uri="{9D8B030D-6E8A-4147-A177-3AD203B41FA5}">
                      <a16:colId xmlns:a16="http://schemas.microsoft.com/office/drawing/2014/main" val="2427486829"/>
                    </a:ext>
                  </a:extLst>
                </a:gridCol>
              </a:tblGrid>
              <a:tr h="131648">
                <a:tc gridSpan="8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Maestría en Ciencias de la Información y las Comunicaciones-</a:t>
                      </a:r>
                      <a:endParaRPr lang="es-CO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Investigación</a:t>
                      </a:r>
                      <a:endParaRPr lang="es-CO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32976"/>
                  </a:ext>
                </a:extLst>
              </a:tr>
              <a:tr h="108134">
                <a:tc rowSpan="2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Periodo de Formación</a:t>
                      </a:r>
                      <a:endParaRPr lang="es-CO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Espacio Académico</a:t>
                      </a:r>
                      <a:endParaRPr lang="es-CO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Clasificación Espacio Académico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Horas de Trabajo Académico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 de Créditos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581422"/>
                  </a:ext>
                </a:extLst>
              </a:tr>
              <a:tr h="7463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OB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EI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HTD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HTC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HTA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342322"/>
                  </a:ext>
                </a:extLst>
              </a:tr>
              <a:tr h="64032">
                <a:tc rowSpan="22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II</a:t>
                      </a:r>
                      <a:endParaRPr lang="es-CO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Trabajo de grado I</a:t>
                      </a:r>
                      <a:endParaRPr lang="es-CO" sz="1400" dirty="0"/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s-CO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5396210"/>
                  </a:ext>
                </a:extLst>
              </a:tr>
              <a:tr h="5597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Electiva </a:t>
                      </a:r>
                      <a:endParaRPr lang="es-CO" sz="1400"/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O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520072"/>
                  </a:ext>
                </a:extLst>
              </a:tr>
              <a:tr h="5597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Énfasis II</a:t>
                      </a:r>
                      <a:endParaRPr lang="es-CO" sz="1400"/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1444282"/>
                  </a:ext>
                </a:extLst>
              </a:tr>
              <a:tr h="5175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Teleinformática</a:t>
                      </a:r>
                      <a:endParaRPr lang="es-CO" sz="1400" dirty="0"/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352186"/>
                  </a:ext>
                </a:extLst>
              </a:tr>
              <a:tr h="6933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Redes</a:t>
                      </a:r>
                      <a:endParaRPr lang="es-CO" sz="1400"/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6745913"/>
                  </a:ext>
                </a:extLst>
              </a:tr>
              <a:tr h="10620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Modelo de simulación y redes</a:t>
                      </a:r>
                      <a:endParaRPr lang="es-CO" sz="1400"/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290190"/>
                  </a:ext>
                </a:extLst>
              </a:tr>
              <a:tr h="10620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Aplicaciones sobre internet en la nube</a:t>
                      </a:r>
                      <a:endParaRPr lang="es-CO" sz="1400"/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342687"/>
                  </a:ext>
                </a:extLst>
              </a:tr>
              <a:tr h="7039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Geomática</a:t>
                      </a:r>
                      <a:endParaRPr lang="es-CO" sz="1400" dirty="0"/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739154"/>
                  </a:ext>
                </a:extLst>
              </a:tr>
              <a:tr h="5618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Análisis espacial</a:t>
                      </a:r>
                      <a:endParaRPr lang="es-CO" sz="1400"/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1928461"/>
                  </a:ext>
                </a:extLst>
              </a:tr>
              <a:tr h="10620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Servicios geográficos Web</a:t>
                      </a:r>
                      <a:endParaRPr lang="es-CO" sz="1400"/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540520"/>
                  </a:ext>
                </a:extLst>
              </a:tr>
              <a:tr h="16065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Sistemas de posicionamiento geodésico</a:t>
                      </a:r>
                      <a:endParaRPr lang="es-CO" sz="1400"/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679282"/>
                  </a:ext>
                </a:extLst>
              </a:tr>
              <a:tr h="1113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Métodos avanzados en análisis de imágenes</a:t>
                      </a:r>
                      <a:endParaRPr lang="es-CO" sz="1400"/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283936"/>
                  </a:ext>
                </a:extLst>
              </a:tr>
              <a:tr h="5491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Ingeniería de software</a:t>
                      </a:r>
                      <a:endParaRPr lang="es-CO" sz="1400" dirty="0"/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0955266"/>
                  </a:ext>
                </a:extLst>
              </a:tr>
              <a:tr h="5175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Bases de datos</a:t>
                      </a:r>
                      <a:endParaRPr lang="es-CO" sz="1400"/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01862"/>
                  </a:ext>
                </a:extLst>
              </a:tr>
              <a:tr h="10620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Ingeniería de software II</a:t>
                      </a:r>
                      <a:endParaRPr lang="es-CO" sz="1400"/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7029133"/>
                  </a:ext>
                </a:extLst>
              </a:tr>
              <a:tr h="10620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Patrones de arquitectura de software</a:t>
                      </a:r>
                      <a:endParaRPr lang="es-CO" sz="1400"/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363461"/>
                  </a:ext>
                </a:extLst>
              </a:tr>
              <a:tr h="11131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Construcción y pruebas de software</a:t>
                      </a:r>
                      <a:endParaRPr lang="es-CO" sz="1400"/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002015"/>
                  </a:ext>
                </a:extLst>
              </a:tr>
              <a:tr h="57459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Inteligencia artificial</a:t>
                      </a:r>
                      <a:endParaRPr lang="es-CO" sz="1400" dirty="0"/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4251965"/>
                  </a:ext>
                </a:extLst>
              </a:tr>
              <a:tr h="5175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Big data</a:t>
                      </a:r>
                      <a:endParaRPr lang="es-CO" sz="1400"/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350933"/>
                  </a:ext>
                </a:extLst>
              </a:tr>
              <a:tr h="5175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Analítica de datos</a:t>
                      </a:r>
                      <a:endParaRPr lang="es-CO" sz="1400"/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656125"/>
                  </a:ext>
                </a:extLst>
              </a:tr>
              <a:tr h="5175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Inteligencia de negocios</a:t>
                      </a:r>
                      <a:endParaRPr lang="es-CO" sz="1400"/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649273"/>
                  </a:ext>
                </a:extLst>
              </a:tr>
              <a:tr h="5175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Computación paralela </a:t>
                      </a:r>
                      <a:endParaRPr lang="es-CO" sz="1400" dirty="0"/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370434"/>
                  </a:ext>
                </a:extLst>
              </a:tr>
              <a:tr h="66789">
                <a:tc gridSpan="7">
                  <a:txBody>
                    <a:bodyPr/>
                    <a:lstStyle/>
                    <a:p>
                      <a:pPr marL="6350" marR="27305" indent="-1905" algn="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 créditos </a:t>
                      </a: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s-CO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7318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5039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A966B6F5-EDBD-46FA-B514-6972916C66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386300"/>
              </p:ext>
            </p:extLst>
          </p:nvPr>
        </p:nvGraphicFramePr>
        <p:xfrm>
          <a:off x="1944744" y="523512"/>
          <a:ext cx="9523286" cy="4922774"/>
        </p:xfrm>
        <a:graphic>
          <a:graphicData uri="http://schemas.openxmlformats.org/drawingml/2006/table">
            <a:tbl>
              <a:tblPr firstRow="1" firstCol="1" bandRow="1"/>
              <a:tblGrid>
                <a:gridCol w="1393541">
                  <a:extLst>
                    <a:ext uri="{9D8B030D-6E8A-4147-A177-3AD203B41FA5}">
                      <a16:colId xmlns:a16="http://schemas.microsoft.com/office/drawing/2014/main" val="75637661"/>
                    </a:ext>
                  </a:extLst>
                </a:gridCol>
                <a:gridCol w="2646887">
                  <a:extLst>
                    <a:ext uri="{9D8B030D-6E8A-4147-A177-3AD203B41FA5}">
                      <a16:colId xmlns:a16="http://schemas.microsoft.com/office/drawing/2014/main" val="1674182386"/>
                    </a:ext>
                  </a:extLst>
                </a:gridCol>
                <a:gridCol w="988309">
                  <a:extLst>
                    <a:ext uri="{9D8B030D-6E8A-4147-A177-3AD203B41FA5}">
                      <a16:colId xmlns:a16="http://schemas.microsoft.com/office/drawing/2014/main" val="527069055"/>
                    </a:ext>
                  </a:extLst>
                </a:gridCol>
                <a:gridCol w="988309">
                  <a:extLst>
                    <a:ext uri="{9D8B030D-6E8A-4147-A177-3AD203B41FA5}">
                      <a16:colId xmlns:a16="http://schemas.microsoft.com/office/drawing/2014/main" val="3274024292"/>
                    </a:ext>
                  </a:extLst>
                </a:gridCol>
                <a:gridCol w="928868">
                  <a:extLst>
                    <a:ext uri="{9D8B030D-6E8A-4147-A177-3AD203B41FA5}">
                      <a16:colId xmlns:a16="http://schemas.microsoft.com/office/drawing/2014/main" val="2897709529"/>
                    </a:ext>
                  </a:extLst>
                </a:gridCol>
                <a:gridCol w="929660">
                  <a:extLst>
                    <a:ext uri="{9D8B030D-6E8A-4147-A177-3AD203B41FA5}">
                      <a16:colId xmlns:a16="http://schemas.microsoft.com/office/drawing/2014/main" val="2795585613"/>
                    </a:ext>
                  </a:extLst>
                </a:gridCol>
                <a:gridCol w="929660">
                  <a:extLst>
                    <a:ext uri="{9D8B030D-6E8A-4147-A177-3AD203B41FA5}">
                      <a16:colId xmlns:a16="http://schemas.microsoft.com/office/drawing/2014/main" val="719892615"/>
                    </a:ext>
                  </a:extLst>
                </a:gridCol>
                <a:gridCol w="718052">
                  <a:extLst>
                    <a:ext uri="{9D8B030D-6E8A-4147-A177-3AD203B41FA5}">
                      <a16:colId xmlns:a16="http://schemas.microsoft.com/office/drawing/2014/main" val="2427486829"/>
                    </a:ext>
                  </a:extLst>
                </a:gridCol>
              </a:tblGrid>
              <a:tr h="131648">
                <a:tc gridSpan="8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Maestría en Ciencias de la Información y las Comunicaciones-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Investigación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32976"/>
                  </a:ext>
                </a:extLst>
              </a:tr>
              <a:tr h="108134">
                <a:tc rowSpan="2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Periodo de Formación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Espacio Académico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Clasificación Espacio Académico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Horas de Trabajo Académico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 de Créditos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581422"/>
                  </a:ext>
                </a:extLst>
              </a:tr>
              <a:tr h="7463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OB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EI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HTD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HTC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HTA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342322"/>
                  </a:ext>
                </a:extLst>
              </a:tr>
              <a:tr h="111314">
                <a:tc rowSpan="11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III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Trabajo de grado II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734098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Énfasis </a:t>
                      </a:r>
                      <a:endParaRPr lang="es-CO"/>
                    </a:p>
                  </a:txBody>
                  <a:tcPr marL="14842" marR="14842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850097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Teleinformática</a:t>
                      </a:r>
                      <a:endParaRPr lang="es-CO"/>
                    </a:p>
                  </a:txBody>
                  <a:tcPr marL="14842" marR="14842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250679"/>
                  </a:ext>
                </a:extLst>
              </a:tr>
              <a:tr h="16065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Política sectorial y regulación en telecomunicaciones</a:t>
                      </a:r>
                      <a:endParaRPr lang="es-CO" dirty="0"/>
                    </a:p>
                  </a:txBody>
                  <a:tcPr marL="14842" marR="14842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68018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Geomática</a:t>
                      </a:r>
                      <a:endParaRPr lang="es-CO"/>
                    </a:p>
                  </a:txBody>
                  <a:tcPr marL="14842" marR="14842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762659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Estadística espacial</a:t>
                      </a:r>
                      <a:endParaRPr lang="es-CO"/>
                    </a:p>
                  </a:txBody>
                  <a:tcPr marL="14842" marR="14842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265665"/>
                  </a:ext>
                </a:extLst>
              </a:tr>
              <a:tr h="215102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Procesamiento digital de imágenes y elaboración de productos cartográficos</a:t>
                      </a:r>
                      <a:endParaRPr lang="es-CO"/>
                    </a:p>
                  </a:txBody>
                  <a:tcPr marL="14842" marR="14842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55715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Ingeniería de software</a:t>
                      </a:r>
                      <a:endParaRPr lang="es-CO"/>
                    </a:p>
                  </a:txBody>
                  <a:tcPr marL="14842" marR="14842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76617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Tendencias en ingeniería de software</a:t>
                      </a:r>
                      <a:endParaRPr lang="es-CO"/>
                    </a:p>
                  </a:txBody>
                  <a:tcPr marL="14842" marR="14842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96342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Inteligencia artificial</a:t>
                      </a:r>
                      <a:endParaRPr lang="es-CO"/>
                    </a:p>
                  </a:txBody>
                  <a:tcPr marL="14842" marR="14842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5885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Robótica</a:t>
                      </a:r>
                      <a:endParaRPr lang="es-CO" dirty="0"/>
                    </a:p>
                  </a:txBody>
                  <a:tcPr marL="14842" marR="14842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023816"/>
                  </a:ext>
                </a:extLst>
              </a:tr>
              <a:tr h="66789">
                <a:tc gridSpan="7">
                  <a:txBody>
                    <a:bodyPr/>
                    <a:lstStyle/>
                    <a:p>
                      <a:pPr marL="6350" marR="27305" indent="-1905" algn="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 créditos </a:t>
                      </a:r>
                      <a:r>
                        <a:rPr lang="es-CO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42" marR="148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6260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9831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C435CEB-7347-4ABE-BC53-AED591B84F91}"/>
              </a:ext>
            </a:extLst>
          </p:cNvPr>
          <p:cNvCxnSpPr/>
          <p:nvPr/>
        </p:nvCxnSpPr>
        <p:spPr>
          <a:xfrm>
            <a:off x="2278908" y="916871"/>
            <a:ext cx="4452649" cy="1798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" name="Título 1">
            <a:extLst>
              <a:ext uri="{FF2B5EF4-FFF2-40B4-BE49-F238E27FC236}">
                <a16:creationId xmlns:a16="http://schemas.microsoft.com/office/drawing/2014/main" id="{E9AF963F-95E0-4D28-8AE5-880AC99C324E}"/>
              </a:ext>
            </a:extLst>
          </p:cNvPr>
          <p:cNvSpPr txBox="1">
            <a:spLocks/>
          </p:cNvSpPr>
          <p:nvPr/>
        </p:nvSpPr>
        <p:spPr bwMode="auto">
          <a:xfrm>
            <a:off x="2278908" y="223776"/>
            <a:ext cx="8849958" cy="547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>
              <a:lnSpc>
                <a:spcPts val="4600"/>
              </a:lnSpc>
            </a:pPr>
            <a:r>
              <a:rPr lang="es-CO" sz="3000" b="1" dirty="0">
                <a:solidFill>
                  <a:srgbClr val="69180B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Plan de estudios- Profundización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171A9D0-381B-4B06-8D42-9E0277AFA8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415088"/>
              </p:ext>
            </p:extLst>
          </p:nvPr>
        </p:nvGraphicFramePr>
        <p:xfrm>
          <a:off x="1934031" y="1080155"/>
          <a:ext cx="9539712" cy="4704080"/>
        </p:xfrm>
        <a:graphic>
          <a:graphicData uri="http://schemas.openxmlformats.org/drawingml/2006/table">
            <a:tbl>
              <a:tblPr firstRow="1" firstCol="1" bandRow="1"/>
              <a:tblGrid>
                <a:gridCol w="1355832">
                  <a:extLst>
                    <a:ext uri="{9D8B030D-6E8A-4147-A177-3AD203B41FA5}">
                      <a16:colId xmlns:a16="http://schemas.microsoft.com/office/drawing/2014/main" val="3637678192"/>
                    </a:ext>
                  </a:extLst>
                </a:gridCol>
                <a:gridCol w="2691558">
                  <a:extLst>
                    <a:ext uri="{9D8B030D-6E8A-4147-A177-3AD203B41FA5}">
                      <a16:colId xmlns:a16="http://schemas.microsoft.com/office/drawing/2014/main" val="4175859968"/>
                    </a:ext>
                  </a:extLst>
                </a:gridCol>
                <a:gridCol w="990013">
                  <a:extLst>
                    <a:ext uri="{9D8B030D-6E8A-4147-A177-3AD203B41FA5}">
                      <a16:colId xmlns:a16="http://schemas.microsoft.com/office/drawing/2014/main" val="3356080103"/>
                    </a:ext>
                  </a:extLst>
                </a:gridCol>
                <a:gridCol w="990013">
                  <a:extLst>
                    <a:ext uri="{9D8B030D-6E8A-4147-A177-3AD203B41FA5}">
                      <a16:colId xmlns:a16="http://schemas.microsoft.com/office/drawing/2014/main" val="1259910788"/>
                    </a:ext>
                  </a:extLst>
                </a:gridCol>
                <a:gridCol w="930472">
                  <a:extLst>
                    <a:ext uri="{9D8B030D-6E8A-4147-A177-3AD203B41FA5}">
                      <a16:colId xmlns:a16="http://schemas.microsoft.com/office/drawing/2014/main" val="793291723"/>
                    </a:ext>
                  </a:extLst>
                </a:gridCol>
                <a:gridCol w="931267">
                  <a:extLst>
                    <a:ext uri="{9D8B030D-6E8A-4147-A177-3AD203B41FA5}">
                      <a16:colId xmlns:a16="http://schemas.microsoft.com/office/drawing/2014/main" val="1481846368"/>
                    </a:ext>
                  </a:extLst>
                </a:gridCol>
                <a:gridCol w="931267">
                  <a:extLst>
                    <a:ext uri="{9D8B030D-6E8A-4147-A177-3AD203B41FA5}">
                      <a16:colId xmlns:a16="http://schemas.microsoft.com/office/drawing/2014/main" val="2401057654"/>
                    </a:ext>
                  </a:extLst>
                </a:gridCol>
                <a:gridCol w="719290">
                  <a:extLst>
                    <a:ext uri="{9D8B030D-6E8A-4147-A177-3AD203B41FA5}">
                      <a16:colId xmlns:a16="http://schemas.microsoft.com/office/drawing/2014/main" val="3721135928"/>
                    </a:ext>
                  </a:extLst>
                </a:gridCol>
              </a:tblGrid>
              <a:tr h="131565">
                <a:tc gridSpan="8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Maestría en Ciencias de la Información y las Comunicaciones-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Profundización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671665"/>
                  </a:ext>
                </a:extLst>
              </a:tr>
              <a:tr h="108066">
                <a:tc rowSpan="2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Periodo de Formación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Espacio Académico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Clasificación Espacio Académico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Horas de Trabajo Académico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 de Créditos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336993"/>
                  </a:ext>
                </a:extLst>
              </a:tr>
              <a:tr h="7458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OB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EI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HTD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HTC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HTA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207405"/>
                  </a:ext>
                </a:extLst>
              </a:tr>
              <a:tr h="106137">
                <a:tc rowSpan="13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just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Seminario de investigación 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976516"/>
                  </a:ext>
                </a:extLst>
              </a:tr>
              <a:tr h="6674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Fundamentales 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6670"/>
                  </a:ext>
                </a:extLst>
              </a:tr>
              <a:tr h="21496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27305" indent="-1905" algn="just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Herramientas matemáticas para el manejo de la información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7623562"/>
                  </a:ext>
                </a:extLst>
              </a:tr>
              <a:tr h="84969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27305" indent="-1905" algn="just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Informática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7479829"/>
                  </a:ext>
                </a:extLst>
              </a:tr>
              <a:tr h="58271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27305" indent="-1905" algn="just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Énfasis I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2047103"/>
                  </a:ext>
                </a:extLst>
              </a:tr>
              <a:tr h="5172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Teleinformática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6728"/>
                  </a:ext>
                </a:extLst>
              </a:tr>
              <a:tr h="63992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27305" indent="-1905" algn="just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Procesos estocásticos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170016"/>
                  </a:ext>
                </a:extLst>
              </a:tr>
              <a:tr h="5172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Geomática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4943350"/>
                  </a:ext>
                </a:extLst>
              </a:tr>
              <a:tr h="10613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27305" indent="-1905" algn="just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Bases de datos especiales 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056573"/>
                  </a:ext>
                </a:extLst>
              </a:tr>
              <a:tr h="5172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Ingeniería de software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768819"/>
                  </a:ext>
                </a:extLst>
              </a:tr>
              <a:tr h="5172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27305" indent="-1905" algn="just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Ingeniería de software I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350775"/>
                  </a:ext>
                </a:extLst>
              </a:tr>
              <a:tr h="5172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Inteligencia artificial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602681"/>
                  </a:ext>
                </a:extLst>
              </a:tr>
              <a:tr h="10613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27305" indent="-1905" algn="just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Inteligencia computacional 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461519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marL="6350" marR="27305" indent="-1905" algn="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 créditos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0031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1610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171A9D0-381B-4B06-8D42-9E0277AFA8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852709"/>
              </p:ext>
            </p:extLst>
          </p:nvPr>
        </p:nvGraphicFramePr>
        <p:xfrm>
          <a:off x="1933300" y="290333"/>
          <a:ext cx="9901647" cy="6078221"/>
        </p:xfrm>
        <a:graphic>
          <a:graphicData uri="http://schemas.openxmlformats.org/drawingml/2006/table">
            <a:tbl>
              <a:tblPr firstRow="1" firstCol="1" bandRow="1"/>
              <a:tblGrid>
                <a:gridCol w="1280162">
                  <a:extLst>
                    <a:ext uri="{9D8B030D-6E8A-4147-A177-3AD203B41FA5}">
                      <a16:colId xmlns:a16="http://schemas.microsoft.com/office/drawing/2014/main" val="3637678192"/>
                    </a:ext>
                  </a:extLst>
                </a:gridCol>
                <a:gridCol w="2920784">
                  <a:extLst>
                    <a:ext uri="{9D8B030D-6E8A-4147-A177-3AD203B41FA5}">
                      <a16:colId xmlns:a16="http://schemas.microsoft.com/office/drawing/2014/main" val="2736601236"/>
                    </a:ext>
                  </a:extLst>
                </a:gridCol>
                <a:gridCol w="1027574">
                  <a:extLst>
                    <a:ext uri="{9D8B030D-6E8A-4147-A177-3AD203B41FA5}">
                      <a16:colId xmlns:a16="http://schemas.microsoft.com/office/drawing/2014/main" val="3356080103"/>
                    </a:ext>
                  </a:extLst>
                </a:gridCol>
                <a:gridCol w="1027574">
                  <a:extLst>
                    <a:ext uri="{9D8B030D-6E8A-4147-A177-3AD203B41FA5}">
                      <a16:colId xmlns:a16="http://schemas.microsoft.com/office/drawing/2014/main" val="1259910788"/>
                    </a:ext>
                  </a:extLst>
                </a:gridCol>
                <a:gridCol w="965773">
                  <a:extLst>
                    <a:ext uri="{9D8B030D-6E8A-4147-A177-3AD203B41FA5}">
                      <a16:colId xmlns:a16="http://schemas.microsoft.com/office/drawing/2014/main" val="793291723"/>
                    </a:ext>
                  </a:extLst>
                </a:gridCol>
                <a:gridCol w="966600">
                  <a:extLst>
                    <a:ext uri="{9D8B030D-6E8A-4147-A177-3AD203B41FA5}">
                      <a16:colId xmlns:a16="http://schemas.microsoft.com/office/drawing/2014/main" val="1481846368"/>
                    </a:ext>
                  </a:extLst>
                </a:gridCol>
                <a:gridCol w="966600">
                  <a:extLst>
                    <a:ext uri="{9D8B030D-6E8A-4147-A177-3AD203B41FA5}">
                      <a16:colId xmlns:a16="http://schemas.microsoft.com/office/drawing/2014/main" val="2401057654"/>
                    </a:ext>
                  </a:extLst>
                </a:gridCol>
                <a:gridCol w="746580">
                  <a:extLst>
                    <a:ext uri="{9D8B030D-6E8A-4147-A177-3AD203B41FA5}">
                      <a16:colId xmlns:a16="http://schemas.microsoft.com/office/drawing/2014/main" val="3721135928"/>
                    </a:ext>
                  </a:extLst>
                </a:gridCol>
              </a:tblGrid>
              <a:tr h="131565">
                <a:tc gridSpan="8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Maestría en Ciencias de la Información y las Comunicaciones-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Profundización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671665"/>
                  </a:ext>
                </a:extLst>
              </a:tr>
              <a:tr h="108066">
                <a:tc rowSpan="2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Periodo de Formación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Espacio Académico</a:t>
                      </a:r>
                      <a:endParaRPr lang="es-CO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Clasificación Espacio Académico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Horas de Trabajo Académico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 de Créditos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336993"/>
                  </a:ext>
                </a:extLst>
              </a:tr>
              <a:tr h="7458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OB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EI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HTD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HTC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HTA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207405"/>
                  </a:ext>
                </a:extLst>
              </a:tr>
              <a:tr h="55940">
                <a:tc rowSpan="21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II</a:t>
                      </a:r>
                      <a:endParaRPr lang="es-CO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just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Electiva </a:t>
                      </a:r>
                      <a:endParaRPr lang="es-CO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O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s-CO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198769"/>
                  </a:ext>
                </a:extLst>
              </a:tr>
              <a:tr h="5594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Énfasis II</a:t>
                      </a:r>
                      <a:endParaRPr lang="es-CO" sz="1400"/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1860370"/>
                  </a:ext>
                </a:extLst>
              </a:tr>
              <a:tr h="5172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r>
                        <a:rPr lang="es-CO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Teleinformática</a:t>
                      </a:r>
                      <a:endParaRPr lang="es-CO" sz="1400" dirty="0"/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834033"/>
                  </a:ext>
                </a:extLst>
              </a:tr>
              <a:tr h="69289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Redes</a:t>
                      </a:r>
                      <a:endParaRPr lang="es-CO" sz="1400"/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908794"/>
                  </a:ext>
                </a:extLst>
              </a:tr>
              <a:tr h="10613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Modelo de simulación y redes</a:t>
                      </a:r>
                      <a:endParaRPr lang="es-CO" sz="1400"/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774663"/>
                  </a:ext>
                </a:extLst>
              </a:tr>
              <a:tr h="10613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Aplicaciones sobre internet en la nube</a:t>
                      </a:r>
                      <a:endParaRPr lang="es-CO" sz="1400"/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200758"/>
                  </a:ext>
                </a:extLst>
              </a:tr>
              <a:tr h="70349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r>
                        <a:rPr lang="es-CO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Geomática</a:t>
                      </a:r>
                      <a:endParaRPr lang="es-CO" sz="1400"/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584564"/>
                  </a:ext>
                </a:extLst>
              </a:tr>
              <a:tr h="56152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Análisis espacial</a:t>
                      </a:r>
                      <a:endParaRPr lang="es-CO" sz="1400"/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670661"/>
                  </a:ext>
                </a:extLst>
              </a:tr>
              <a:tr h="10613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Servicios geográficos Web</a:t>
                      </a:r>
                      <a:endParaRPr lang="es-CO" sz="1400"/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63386"/>
                  </a:ext>
                </a:extLst>
              </a:tr>
              <a:tr h="160552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Sistemas de posicionamiento geodésico</a:t>
                      </a:r>
                      <a:endParaRPr lang="es-CO" sz="1400"/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812984"/>
                  </a:ext>
                </a:extLst>
              </a:tr>
              <a:tr h="11124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Métodos avanzados en análisis de imágenes</a:t>
                      </a:r>
                      <a:endParaRPr lang="es-CO" sz="1400"/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066567"/>
                  </a:ext>
                </a:extLst>
              </a:tr>
              <a:tr h="5488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r>
                        <a:rPr lang="es-CO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Ingeniería de software</a:t>
                      </a:r>
                      <a:endParaRPr lang="es-CO" sz="1400"/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685855"/>
                  </a:ext>
                </a:extLst>
              </a:tr>
              <a:tr h="5172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Bases de datos</a:t>
                      </a:r>
                      <a:endParaRPr lang="es-CO" sz="1400"/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912584"/>
                  </a:ext>
                </a:extLst>
              </a:tr>
              <a:tr h="10613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Ingeniería de software II</a:t>
                      </a:r>
                      <a:endParaRPr lang="es-CO" sz="1400"/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5435078"/>
                  </a:ext>
                </a:extLst>
              </a:tr>
              <a:tr h="10613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Patrones de arquitectura de software</a:t>
                      </a:r>
                      <a:endParaRPr lang="es-CO" sz="1400"/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411127"/>
                  </a:ext>
                </a:extLst>
              </a:tr>
              <a:tr h="11124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Construcción y pruebas de software</a:t>
                      </a:r>
                      <a:endParaRPr lang="es-CO" sz="1400"/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847798"/>
                  </a:ext>
                </a:extLst>
              </a:tr>
              <a:tr h="5742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r>
                        <a:rPr lang="es-CO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Inteligencia artificial</a:t>
                      </a:r>
                      <a:endParaRPr lang="es-CO" sz="1400"/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7374840"/>
                  </a:ext>
                </a:extLst>
              </a:tr>
              <a:tr h="5172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Big data</a:t>
                      </a:r>
                      <a:endParaRPr lang="es-CO" sz="1400"/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8921153"/>
                  </a:ext>
                </a:extLst>
              </a:tr>
              <a:tr h="5172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Analítica de datos</a:t>
                      </a:r>
                      <a:endParaRPr lang="es-CO" sz="1400"/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551995"/>
                  </a:ext>
                </a:extLst>
              </a:tr>
              <a:tr h="5172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Inteligencia de negocios</a:t>
                      </a:r>
                      <a:endParaRPr lang="es-CO" sz="1400"/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743858"/>
                  </a:ext>
                </a:extLst>
              </a:tr>
              <a:tr h="5172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Computación paralela </a:t>
                      </a:r>
                      <a:endParaRPr lang="es-CO" sz="1400" dirty="0"/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48166"/>
                  </a:ext>
                </a:extLst>
              </a:tr>
              <a:tr h="66746">
                <a:tc gridSpan="7">
                  <a:txBody>
                    <a:bodyPr/>
                    <a:lstStyle/>
                    <a:p>
                      <a:pPr marL="6350" marR="27305" indent="-1905" algn="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 créditos </a:t>
                      </a:r>
                      <a:r>
                        <a:rPr lang="es-CO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s-CO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s-CO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938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7273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171A9D0-381B-4B06-8D42-9E0277AFA8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343840"/>
              </p:ext>
            </p:extLst>
          </p:nvPr>
        </p:nvGraphicFramePr>
        <p:xfrm>
          <a:off x="2005262" y="843098"/>
          <a:ext cx="9577137" cy="4922774"/>
        </p:xfrm>
        <a:graphic>
          <a:graphicData uri="http://schemas.openxmlformats.org/drawingml/2006/table">
            <a:tbl>
              <a:tblPr firstRow="1" firstCol="1" bandRow="1"/>
              <a:tblGrid>
                <a:gridCol w="1090864">
                  <a:extLst>
                    <a:ext uri="{9D8B030D-6E8A-4147-A177-3AD203B41FA5}">
                      <a16:colId xmlns:a16="http://schemas.microsoft.com/office/drawing/2014/main" val="3637678192"/>
                    </a:ext>
                  </a:extLst>
                </a:gridCol>
                <a:gridCol w="2972400">
                  <a:extLst>
                    <a:ext uri="{9D8B030D-6E8A-4147-A177-3AD203B41FA5}">
                      <a16:colId xmlns:a16="http://schemas.microsoft.com/office/drawing/2014/main" val="3085977892"/>
                    </a:ext>
                  </a:extLst>
                </a:gridCol>
                <a:gridCol w="993898">
                  <a:extLst>
                    <a:ext uri="{9D8B030D-6E8A-4147-A177-3AD203B41FA5}">
                      <a16:colId xmlns:a16="http://schemas.microsoft.com/office/drawing/2014/main" val="3356080103"/>
                    </a:ext>
                  </a:extLst>
                </a:gridCol>
                <a:gridCol w="993898">
                  <a:extLst>
                    <a:ext uri="{9D8B030D-6E8A-4147-A177-3AD203B41FA5}">
                      <a16:colId xmlns:a16="http://schemas.microsoft.com/office/drawing/2014/main" val="1259910788"/>
                    </a:ext>
                  </a:extLst>
                </a:gridCol>
                <a:gridCol w="934123">
                  <a:extLst>
                    <a:ext uri="{9D8B030D-6E8A-4147-A177-3AD203B41FA5}">
                      <a16:colId xmlns:a16="http://schemas.microsoft.com/office/drawing/2014/main" val="793291723"/>
                    </a:ext>
                  </a:extLst>
                </a:gridCol>
                <a:gridCol w="934921">
                  <a:extLst>
                    <a:ext uri="{9D8B030D-6E8A-4147-A177-3AD203B41FA5}">
                      <a16:colId xmlns:a16="http://schemas.microsoft.com/office/drawing/2014/main" val="1481846368"/>
                    </a:ext>
                  </a:extLst>
                </a:gridCol>
                <a:gridCol w="934921">
                  <a:extLst>
                    <a:ext uri="{9D8B030D-6E8A-4147-A177-3AD203B41FA5}">
                      <a16:colId xmlns:a16="http://schemas.microsoft.com/office/drawing/2014/main" val="2401057654"/>
                    </a:ext>
                  </a:extLst>
                </a:gridCol>
                <a:gridCol w="722112">
                  <a:extLst>
                    <a:ext uri="{9D8B030D-6E8A-4147-A177-3AD203B41FA5}">
                      <a16:colId xmlns:a16="http://schemas.microsoft.com/office/drawing/2014/main" val="3721135928"/>
                    </a:ext>
                  </a:extLst>
                </a:gridCol>
              </a:tblGrid>
              <a:tr h="131565">
                <a:tc gridSpan="8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Maestría en Ciencias de la Información y las Comunicaciones-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Profundización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671665"/>
                  </a:ext>
                </a:extLst>
              </a:tr>
              <a:tr h="108066">
                <a:tc rowSpan="2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Periodo de Formación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Espacio Académico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Clasificación Espacio Académico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Horas de Trabajo Académico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 de Créditos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336993"/>
                  </a:ext>
                </a:extLst>
              </a:tr>
              <a:tr h="7458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OB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EI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HTD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HTC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HTA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207405"/>
                  </a:ext>
                </a:extLst>
              </a:tr>
              <a:tr h="111244">
                <a:tc rowSpan="12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III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just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Trabajo de grado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7432509"/>
                  </a:ext>
                </a:extLst>
              </a:tr>
              <a:tr h="6674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Electiva</a:t>
                      </a:r>
                      <a:endParaRPr lang="es-CO"/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0507475"/>
                  </a:ext>
                </a:extLst>
              </a:tr>
              <a:tr h="6674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Énfasis </a:t>
                      </a:r>
                      <a:endParaRPr lang="es-CO"/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843656"/>
                  </a:ext>
                </a:extLst>
              </a:tr>
              <a:tr h="6674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Teleinformática</a:t>
                      </a:r>
                      <a:endParaRPr lang="es-CO"/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0360608"/>
                  </a:ext>
                </a:extLst>
              </a:tr>
              <a:tr h="160552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Política sectorial y regulación en telecomunicaciones</a:t>
                      </a:r>
                      <a:endParaRPr lang="es-CO"/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789801"/>
                  </a:ext>
                </a:extLst>
              </a:tr>
              <a:tr h="6674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Geomática</a:t>
                      </a:r>
                      <a:endParaRPr lang="es-CO"/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637005"/>
                  </a:ext>
                </a:extLst>
              </a:tr>
              <a:tr h="6674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Estadística espacial</a:t>
                      </a:r>
                      <a:endParaRPr lang="es-CO"/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010083"/>
                  </a:ext>
                </a:extLst>
              </a:tr>
              <a:tr h="21496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Procesamiento digital de imágenes y elaboración de productos cartográficos</a:t>
                      </a:r>
                      <a:endParaRPr lang="es-CO"/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799668"/>
                  </a:ext>
                </a:extLst>
              </a:tr>
              <a:tr h="6674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Ingeniería de software</a:t>
                      </a:r>
                      <a:endParaRPr lang="es-CO"/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7867103"/>
                  </a:ext>
                </a:extLst>
              </a:tr>
              <a:tr h="10613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Tendencias en ingeniería de software</a:t>
                      </a:r>
                      <a:endParaRPr lang="es-CO"/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225940"/>
                  </a:ext>
                </a:extLst>
              </a:tr>
              <a:tr h="6674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r>
                        <a:rPr lang="es-CO" sz="15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Inteligencia artificial</a:t>
                      </a:r>
                      <a:endParaRPr lang="es-CO"/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134400"/>
                  </a:ext>
                </a:extLst>
              </a:tr>
              <a:tr h="6674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Robótica</a:t>
                      </a:r>
                      <a:endParaRPr lang="es-CO" dirty="0"/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5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632200"/>
                  </a:ext>
                </a:extLst>
              </a:tr>
              <a:tr h="66746">
                <a:tc gridSpan="7">
                  <a:txBody>
                    <a:bodyPr/>
                    <a:lstStyle/>
                    <a:p>
                      <a:pPr marL="6350" marR="27305" indent="-1905" algn="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 créditos </a:t>
                      </a:r>
                      <a:r>
                        <a:rPr lang="es-CO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27305" indent="-1905" algn="ctr">
                        <a:lnSpc>
                          <a:spcPct val="107000"/>
                        </a:lnSpc>
                        <a:spcAft>
                          <a:spcPts val="625"/>
                        </a:spcAft>
                      </a:pPr>
                      <a:r>
                        <a:rPr lang="es-CO" sz="15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s-CO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833" marR="148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847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2341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BB9E5289-F7F6-4A8C-A744-C186F631AE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213528"/>
              </p:ext>
            </p:extLst>
          </p:nvPr>
        </p:nvGraphicFramePr>
        <p:xfrm>
          <a:off x="2162627" y="1645806"/>
          <a:ext cx="8563430" cy="1295400"/>
        </p:xfrm>
        <a:graphic>
          <a:graphicData uri="http://schemas.openxmlformats.org/drawingml/2006/table">
            <a:tbl>
              <a:tblPr firstRow="1" firstCol="1" bandRow="1"/>
              <a:tblGrid>
                <a:gridCol w="2776143">
                  <a:extLst>
                    <a:ext uri="{9D8B030D-6E8A-4147-A177-3AD203B41FA5}">
                      <a16:colId xmlns:a16="http://schemas.microsoft.com/office/drawing/2014/main" val="3655034622"/>
                    </a:ext>
                  </a:extLst>
                </a:gridCol>
                <a:gridCol w="848570">
                  <a:extLst>
                    <a:ext uri="{9D8B030D-6E8A-4147-A177-3AD203B41FA5}">
                      <a16:colId xmlns:a16="http://schemas.microsoft.com/office/drawing/2014/main" val="2954488360"/>
                    </a:ext>
                  </a:extLst>
                </a:gridCol>
                <a:gridCol w="896120">
                  <a:extLst>
                    <a:ext uri="{9D8B030D-6E8A-4147-A177-3AD203B41FA5}">
                      <a16:colId xmlns:a16="http://schemas.microsoft.com/office/drawing/2014/main" val="1042315885"/>
                    </a:ext>
                  </a:extLst>
                </a:gridCol>
                <a:gridCol w="2776143">
                  <a:extLst>
                    <a:ext uri="{9D8B030D-6E8A-4147-A177-3AD203B41FA5}">
                      <a16:colId xmlns:a16="http://schemas.microsoft.com/office/drawing/2014/main" val="1141390242"/>
                    </a:ext>
                  </a:extLst>
                </a:gridCol>
                <a:gridCol w="1266454">
                  <a:extLst>
                    <a:ext uri="{9D8B030D-6E8A-4147-A177-3AD203B41FA5}">
                      <a16:colId xmlns:a16="http://schemas.microsoft.com/office/drawing/2014/main" val="2018851195"/>
                    </a:ext>
                  </a:extLst>
                </a:gridCol>
              </a:tblGrid>
              <a:tr h="183515">
                <a:tc>
                  <a:txBody>
                    <a:bodyPr/>
                    <a:lstStyle/>
                    <a:p>
                      <a:pPr marL="6350" marR="28575" indent="-1905" algn="just">
                        <a:spcAft>
                          <a:spcPts val="625"/>
                        </a:spcAft>
                      </a:pPr>
                      <a:r>
                        <a:rPr lang="es-ES_tradnl" sz="17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Total, créditos </a:t>
                      </a:r>
                      <a:endParaRPr lang="es-CO" sz="1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350" marR="28575" indent="-1905" algn="ctr">
                        <a:spcAft>
                          <a:spcPts val="625"/>
                        </a:spcAft>
                      </a:pPr>
                      <a:r>
                        <a:rPr lang="es-ES_tradnl" sz="17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44</a:t>
                      </a:r>
                      <a:endParaRPr lang="es-CO" sz="1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28575" indent="-1905" algn="just">
                        <a:spcAft>
                          <a:spcPts val="625"/>
                        </a:spcAft>
                      </a:pPr>
                      <a:r>
                        <a:rPr lang="es-ES_tradnl" sz="17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Horas de trabajo académico</a:t>
                      </a:r>
                      <a:endParaRPr lang="es-CO" sz="1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8575" indent="-1905" algn="ctr">
                        <a:spcAft>
                          <a:spcPts val="625"/>
                        </a:spcAft>
                      </a:pPr>
                      <a:r>
                        <a:rPr lang="es-ES_tradnl" sz="17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2112</a:t>
                      </a:r>
                      <a:endParaRPr lang="es-CO" sz="1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5749646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L="6350" marR="28575" indent="-1905" algn="just">
                        <a:spcAft>
                          <a:spcPts val="625"/>
                        </a:spcAft>
                      </a:pPr>
                      <a:r>
                        <a:rPr lang="es-ES_tradnl" sz="17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Obligatorio</a:t>
                      </a:r>
                      <a:endParaRPr lang="es-CO" sz="1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8575" indent="-1905" algn="ctr">
                        <a:spcAft>
                          <a:spcPts val="625"/>
                        </a:spcAft>
                      </a:pPr>
                      <a:r>
                        <a:rPr lang="es-ES_tradnl" sz="17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endParaRPr lang="es-CO" sz="1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8575" indent="-1905" algn="ctr">
                        <a:spcAft>
                          <a:spcPts val="625"/>
                        </a:spcAft>
                      </a:pPr>
                      <a:r>
                        <a:rPr lang="es-ES_tradnl" sz="17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45,45%</a:t>
                      </a:r>
                      <a:endParaRPr lang="es-CO" sz="1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8575" indent="-1905" algn="just">
                        <a:spcAft>
                          <a:spcPts val="625"/>
                        </a:spcAft>
                      </a:pPr>
                      <a:r>
                        <a:rPr lang="es-ES_tradnl" sz="17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Horas de trabajo directo</a:t>
                      </a:r>
                      <a:endParaRPr lang="es-CO" sz="1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8575" indent="-1905" algn="ctr">
                        <a:spcAft>
                          <a:spcPts val="625"/>
                        </a:spcAft>
                      </a:pPr>
                      <a:r>
                        <a:rPr lang="es-ES" sz="17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336</a:t>
                      </a:r>
                      <a:endParaRPr lang="es-CO" sz="1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0678251"/>
                  </a:ext>
                </a:extLst>
              </a:tr>
              <a:tr h="183515">
                <a:tc rowSpan="2">
                  <a:txBody>
                    <a:bodyPr/>
                    <a:lstStyle/>
                    <a:p>
                      <a:pPr marL="6350" marR="28575" indent="-1905" algn="just">
                        <a:spcAft>
                          <a:spcPts val="625"/>
                        </a:spcAft>
                      </a:pPr>
                      <a:r>
                        <a:rPr lang="es-ES_tradnl" sz="17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Electivas  </a:t>
                      </a:r>
                      <a:endParaRPr lang="es-CO" sz="1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350" marR="28575" indent="-1905" algn="ctr">
                        <a:spcAft>
                          <a:spcPts val="625"/>
                        </a:spcAft>
                      </a:pPr>
                      <a:r>
                        <a:rPr lang="es-ES_tradnl" sz="17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</a:t>
                      </a:r>
                      <a:endParaRPr lang="es-CO" sz="1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6350" marR="28575" indent="-1905" algn="ctr">
                        <a:spcAft>
                          <a:spcPts val="625"/>
                        </a:spcAft>
                      </a:pPr>
                      <a:r>
                        <a:rPr lang="es-ES_tradnl" sz="17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54,55%</a:t>
                      </a:r>
                      <a:endParaRPr lang="es-CO" sz="1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8575" indent="-1905" algn="just">
                        <a:spcAft>
                          <a:spcPts val="625"/>
                        </a:spcAft>
                      </a:pPr>
                      <a:r>
                        <a:rPr lang="es-ES_tradnl" sz="17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Horas de trabajo colaborativo</a:t>
                      </a:r>
                      <a:endParaRPr lang="es-CO" sz="1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8575" indent="-1905" algn="ctr">
                        <a:spcAft>
                          <a:spcPts val="625"/>
                        </a:spcAft>
                      </a:pPr>
                      <a:r>
                        <a:rPr lang="es-ES" sz="17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160</a:t>
                      </a:r>
                      <a:endParaRPr lang="es-CO" sz="1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46991"/>
                  </a:ext>
                </a:extLst>
              </a:tr>
              <a:tr h="18351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28575" indent="-1905" algn="just">
                        <a:spcAft>
                          <a:spcPts val="625"/>
                        </a:spcAft>
                      </a:pPr>
                      <a:r>
                        <a:rPr lang="es-ES_tradnl" sz="17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Horas de trabajo autónomo </a:t>
                      </a:r>
                      <a:endParaRPr lang="es-CO" sz="1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8575" indent="-1905" algn="ctr">
                        <a:spcAft>
                          <a:spcPts val="625"/>
                        </a:spcAft>
                      </a:pPr>
                      <a:r>
                        <a:rPr lang="es-ES" sz="17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1616</a:t>
                      </a:r>
                      <a:endParaRPr lang="es-CO" sz="17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0223681"/>
                  </a:ext>
                </a:extLst>
              </a:tr>
            </a:tbl>
          </a:graphicData>
        </a:graphic>
      </p:graphicFrame>
      <p:sp>
        <p:nvSpPr>
          <p:cNvPr id="5" name="Título 1">
            <a:extLst>
              <a:ext uri="{FF2B5EF4-FFF2-40B4-BE49-F238E27FC236}">
                <a16:creationId xmlns:a16="http://schemas.microsoft.com/office/drawing/2014/main" id="{D1CA3948-284C-4873-86A9-2EF04005F168}"/>
              </a:ext>
            </a:extLst>
          </p:cNvPr>
          <p:cNvSpPr txBox="1">
            <a:spLocks/>
          </p:cNvSpPr>
          <p:nvPr/>
        </p:nvSpPr>
        <p:spPr bwMode="auto">
          <a:xfrm>
            <a:off x="2162627" y="876919"/>
            <a:ext cx="8849958" cy="547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>
              <a:lnSpc>
                <a:spcPts val="4600"/>
              </a:lnSpc>
            </a:pPr>
            <a:r>
              <a:rPr lang="es-CO" sz="3000" b="1" dirty="0">
                <a:solidFill>
                  <a:srgbClr val="69180B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Plan de estudios- Investigación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CFF856F5-3203-4CEE-8102-60F7208FB7B5}"/>
              </a:ext>
            </a:extLst>
          </p:cNvPr>
          <p:cNvSpPr txBox="1">
            <a:spLocks/>
          </p:cNvSpPr>
          <p:nvPr/>
        </p:nvSpPr>
        <p:spPr bwMode="auto">
          <a:xfrm>
            <a:off x="1876099" y="3429000"/>
            <a:ext cx="8849958" cy="547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>
              <a:lnSpc>
                <a:spcPts val="4600"/>
              </a:lnSpc>
            </a:pPr>
            <a:r>
              <a:rPr lang="es-CO" sz="3000" b="1" dirty="0">
                <a:solidFill>
                  <a:srgbClr val="69180B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Plan de estudios- Profundización</a:t>
            </a:r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411B919D-FF54-4CF3-9715-9B4F37D52E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047890"/>
              </p:ext>
            </p:extLst>
          </p:nvPr>
        </p:nvGraphicFramePr>
        <p:xfrm>
          <a:off x="2162627" y="4297792"/>
          <a:ext cx="8563430" cy="1295400"/>
        </p:xfrm>
        <a:graphic>
          <a:graphicData uri="http://schemas.openxmlformats.org/drawingml/2006/table">
            <a:tbl>
              <a:tblPr firstRow="1" firstCol="1" bandRow="1"/>
              <a:tblGrid>
                <a:gridCol w="2776143">
                  <a:extLst>
                    <a:ext uri="{9D8B030D-6E8A-4147-A177-3AD203B41FA5}">
                      <a16:colId xmlns:a16="http://schemas.microsoft.com/office/drawing/2014/main" val="876185098"/>
                    </a:ext>
                  </a:extLst>
                </a:gridCol>
                <a:gridCol w="848570">
                  <a:extLst>
                    <a:ext uri="{9D8B030D-6E8A-4147-A177-3AD203B41FA5}">
                      <a16:colId xmlns:a16="http://schemas.microsoft.com/office/drawing/2014/main" val="3463848242"/>
                    </a:ext>
                  </a:extLst>
                </a:gridCol>
                <a:gridCol w="896120">
                  <a:extLst>
                    <a:ext uri="{9D8B030D-6E8A-4147-A177-3AD203B41FA5}">
                      <a16:colId xmlns:a16="http://schemas.microsoft.com/office/drawing/2014/main" val="3165499907"/>
                    </a:ext>
                  </a:extLst>
                </a:gridCol>
                <a:gridCol w="2776143">
                  <a:extLst>
                    <a:ext uri="{9D8B030D-6E8A-4147-A177-3AD203B41FA5}">
                      <a16:colId xmlns:a16="http://schemas.microsoft.com/office/drawing/2014/main" val="4141363611"/>
                    </a:ext>
                  </a:extLst>
                </a:gridCol>
                <a:gridCol w="1266454">
                  <a:extLst>
                    <a:ext uri="{9D8B030D-6E8A-4147-A177-3AD203B41FA5}">
                      <a16:colId xmlns:a16="http://schemas.microsoft.com/office/drawing/2014/main" val="1940163569"/>
                    </a:ext>
                  </a:extLst>
                </a:gridCol>
              </a:tblGrid>
              <a:tr h="183515">
                <a:tc>
                  <a:txBody>
                    <a:bodyPr/>
                    <a:lstStyle/>
                    <a:p>
                      <a:pPr marL="6350" marR="28575" indent="-1905" algn="just">
                        <a:spcAft>
                          <a:spcPts val="625"/>
                        </a:spcAft>
                      </a:pPr>
                      <a:r>
                        <a:rPr lang="es-ES_tradnl" sz="17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Total, créditos </a:t>
                      </a:r>
                      <a:endParaRPr lang="es-CO" sz="1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350" marR="28575" indent="-1905" algn="ctr">
                        <a:spcAft>
                          <a:spcPts val="625"/>
                        </a:spcAft>
                      </a:pPr>
                      <a:r>
                        <a:rPr lang="es-ES_tradnl" sz="17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44</a:t>
                      </a:r>
                      <a:endParaRPr lang="es-CO" sz="1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28575" indent="-1905" algn="just">
                        <a:spcAft>
                          <a:spcPts val="625"/>
                        </a:spcAft>
                      </a:pPr>
                      <a:r>
                        <a:rPr lang="es-ES_tradnl" sz="17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Horas de trabajo académico</a:t>
                      </a:r>
                      <a:endParaRPr lang="es-CO" sz="1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8575" indent="-1905" algn="ctr">
                        <a:spcAft>
                          <a:spcPts val="625"/>
                        </a:spcAft>
                      </a:pPr>
                      <a:r>
                        <a:rPr lang="es-ES_tradnl" sz="17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2048</a:t>
                      </a:r>
                      <a:endParaRPr lang="es-CO" sz="1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6295078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L="6350" marR="28575" indent="-1905" algn="just">
                        <a:spcAft>
                          <a:spcPts val="625"/>
                        </a:spcAft>
                      </a:pPr>
                      <a:r>
                        <a:rPr lang="es-ES_tradnl" sz="17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Obligatorio</a:t>
                      </a:r>
                      <a:endParaRPr lang="es-CO" sz="1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8575" indent="-1905" algn="ctr">
                        <a:spcAft>
                          <a:spcPts val="625"/>
                        </a:spcAft>
                      </a:pPr>
                      <a:r>
                        <a:rPr lang="es-ES_tradnl" sz="17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</a:t>
                      </a:r>
                      <a:endParaRPr lang="es-CO" sz="1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8575" indent="-1905" algn="ctr">
                        <a:spcAft>
                          <a:spcPts val="625"/>
                        </a:spcAft>
                      </a:pPr>
                      <a:r>
                        <a:rPr lang="es-ES_tradnl" sz="17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36,36%</a:t>
                      </a:r>
                      <a:endParaRPr lang="es-CO" sz="1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8575" indent="-1905" algn="just">
                        <a:spcAft>
                          <a:spcPts val="625"/>
                        </a:spcAft>
                      </a:pPr>
                      <a:r>
                        <a:rPr lang="es-ES_tradnl" sz="17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Horas de trabajo directo</a:t>
                      </a:r>
                      <a:endParaRPr lang="es-CO" sz="1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8575" indent="-1905" algn="ctr">
                        <a:spcAft>
                          <a:spcPts val="625"/>
                        </a:spcAft>
                      </a:pPr>
                      <a:r>
                        <a:rPr lang="es-ES" sz="17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480</a:t>
                      </a:r>
                      <a:endParaRPr lang="es-CO" sz="1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1576975"/>
                  </a:ext>
                </a:extLst>
              </a:tr>
              <a:tr h="183515">
                <a:tc rowSpan="2">
                  <a:txBody>
                    <a:bodyPr/>
                    <a:lstStyle/>
                    <a:p>
                      <a:pPr marL="6350" marR="28575" indent="-1905" algn="just">
                        <a:spcAft>
                          <a:spcPts val="625"/>
                        </a:spcAft>
                      </a:pPr>
                      <a:r>
                        <a:rPr lang="es-ES_tradnl" sz="17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Electivas  </a:t>
                      </a:r>
                      <a:endParaRPr lang="es-CO" sz="1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350" marR="28575" indent="-1905" algn="ctr">
                        <a:spcAft>
                          <a:spcPts val="625"/>
                        </a:spcAft>
                      </a:pPr>
                      <a:r>
                        <a:rPr lang="es-ES_tradnl" sz="17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28</a:t>
                      </a:r>
                      <a:endParaRPr lang="es-CO" sz="1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6350" marR="28575" indent="-1905" algn="ctr">
                        <a:spcAft>
                          <a:spcPts val="625"/>
                        </a:spcAft>
                      </a:pPr>
                      <a:r>
                        <a:rPr lang="es-ES_tradnl" sz="17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63,64%</a:t>
                      </a:r>
                      <a:endParaRPr lang="es-CO" sz="1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28575" indent="-1905" algn="just">
                        <a:spcAft>
                          <a:spcPts val="625"/>
                        </a:spcAft>
                      </a:pPr>
                      <a:r>
                        <a:rPr lang="es-ES_tradnl" sz="17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Horas de trabajo colaborativo</a:t>
                      </a:r>
                      <a:endParaRPr lang="es-CO" sz="1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8575" indent="-1905" algn="ctr">
                        <a:spcAft>
                          <a:spcPts val="625"/>
                        </a:spcAft>
                      </a:pPr>
                      <a:r>
                        <a:rPr lang="es-ES" sz="17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160</a:t>
                      </a:r>
                      <a:endParaRPr lang="es-CO" sz="1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8999761"/>
                  </a:ext>
                </a:extLst>
              </a:tr>
              <a:tr h="18351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28575" indent="-1905" algn="just">
                        <a:spcAft>
                          <a:spcPts val="625"/>
                        </a:spcAft>
                      </a:pPr>
                      <a:r>
                        <a:rPr lang="es-ES_tradnl" sz="17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Horas de trabajo autónomo </a:t>
                      </a:r>
                      <a:endParaRPr lang="es-CO" sz="1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8575" indent="-1905" algn="ctr">
                        <a:spcAft>
                          <a:spcPts val="625"/>
                        </a:spcAft>
                      </a:pPr>
                      <a:r>
                        <a:rPr lang="es-ES" sz="17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1408</a:t>
                      </a:r>
                      <a:endParaRPr lang="es-CO" sz="17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258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4254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CFF856F5-3203-4CEE-8102-60F7208FB7B5}"/>
              </a:ext>
            </a:extLst>
          </p:cNvPr>
          <p:cNvSpPr txBox="1">
            <a:spLocks/>
          </p:cNvSpPr>
          <p:nvPr/>
        </p:nvSpPr>
        <p:spPr bwMode="auto">
          <a:xfrm>
            <a:off x="2196941" y="397042"/>
            <a:ext cx="8849958" cy="547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>
              <a:lnSpc>
                <a:spcPts val="4600"/>
              </a:lnSpc>
            </a:pPr>
            <a:r>
              <a:rPr lang="es-CO" sz="3000" b="1" dirty="0">
                <a:solidFill>
                  <a:srgbClr val="69180B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Consideraciones sobre el acto administrativo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D5B72AB-42CE-4DA5-812A-F1F1DB76953E}"/>
              </a:ext>
            </a:extLst>
          </p:cNvPr>
          <p:cNvSpPr/>
          <p:nvPr/>
        </p:nvSpPr>
        <p:spPr>
          <a:xfrm>
            <a:off x="1829259" y="1674718"/>
            <a:ext cx="9640661" cy="3015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ts val="4700"/>
              </a:lnSpc>
              <a:buAutoNum type="arabicPeriod"/>
            </a:pP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Precisión sobre los énfasis que se integran al plan de estudios de la Maestría. </a:t>
            </a:r>
          </a:p>
          <a:p>
            <a:pPr marL="457200" indent="-457200" algn="just">
              <a:lnSpc>
                <a:spcPts val="4700"/>
              </a:lnSpc>
              <a:buAutoNum type="arabicPeriod"/>
            </a:pP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Diferenciación del plan de estudios según el componente de oferta. </a:t>
            </a:r>
          </a:p>
          <a:p>
            <a:pPr marL="457200" indent="-457200" algn="just">
              <a:lnSpc>
                <a:spcPts val="4700"/>
              </a:lnSpc>
              <a:buAutoNum type="arabicPeriod"/>
            </a:pP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Precisión de la información que debe tener el estudiante desde el proceso de admisión sobre el componente al que ingresa, teniendo en cuenta que se trata de Registros Calificados independientes. </a:t>
            </a:r>
            <a:endParaRPr lang="es-CO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FC9387F0-8646-47B3-983A-5F666A960A9F}"/>
              </a:ext>
            </a:extLst>
          </p:cNvPr>
          <p:cNvCxnSpPr/>
          <p:nvPr/>
        </p:nvCxnSpPr>
        <p:spPr>
          <a:xfrm>
            <a:off x="2196941" y="1050485"/>
            <a:ext cx="4452649" cy="1798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7418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C435CEB-7347-4ABE-BC53-AED591B84F91}"/>
              </a:ext>
            </a:extLst>
          </p:cNvPr>
          <p:cNvCxnSpPr/>
          <p:nvPr/>
        </p:nvCxnSpPr>
        <p:spPr>
          <a:xfrm>
            <a:off x="2272471" y="975202"/>
            <a:ext cx="4452649" cy="1798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" name="Título 1">
            <a:extLst>
              <a:ext uri="{FF2B5EF4-FFF2-40B4-BE49-F238E27FC236}">
                <a16:creationId xmlns:a16="http://schemas.microsoft.com/office/drawing/2014/main" id="{E9AF963F-95E0-4D28-8AE5-880AC99C324E}"/>
              </a:ext>
            </a:extLst>
          </p:cNvPr>
          <p:cNvSpPr txBox="1">
            <a:spLocks/>
          </p:cNvSpPr>
          <p:nvPr/>
        </p:nvSpPr>
        <p:spPr bwMode="auto">
          <a:xfrm>
            <a:off x="2197656" y="313308"/>
            <a:ext cx="8849958" cy="547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>
              <a:lnSpc>
                <a:spcPts val="4600"/>
              </a:lnSpc>
            </a:pPr>
            <a:r>
              <a:rPr lang="es-CO" sz="3000" b="1" dirty="0">
                <a:solidFill>
                  <a:srgbClr val="69180B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Soportes </a:t>
            </a:r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495008"/>
              </p:ext>
            </p:extLst>
          </p:nvPr>
        </p:nvGraphicFramePr>
        <p:xfrm>
          <a:off x="1647794" y="2060765"/>
          <a:ext cx="10154652" cy="32918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800956">
                  <a:extLst>
                    <a:ext uri="{9D8B030D-6E8A-4147-A177-3AD203B41FA5}">
                      <a16:colId xmlns:a16="http://schemas.microsoft.com/office/drawing/2014/main" val="3458937348"/>
                    </a:ext>
                  </a:extLst>
                </a:gridCol>
                <a:gridCol w="6193402">
                  <a:extLst>
                    <a:ext uri="{9D8B030D-6E8A-4147-A177-3AD203B41FA5}">
                      <a16:colId xmlns:a16="http://schemas.microsoft.com/office/drawing/2014/main" val="2483731206"/>
                    </a:ext>
                  </a:extLst>
                </a:gridCol>
                <a:gridCol w="3160294">
                  <a:extLst>
                    <a:ext uri="{9D8B030D-6E8A-4147-A177-3AD203B41FA5}">
                      <a16:colId xmlns:a16="http://schemas.microsoft.com/office/drawing/2014/main" val="1151789502"/>
                    </a:ext>
                  </a:extLst>
                </a:gridCol>
              </a:tblGrid>
              <a:tr h="336049"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Enlace de consulta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2036023"/>
                  </a:ext>
                </a:extLst>
              </a:tr>
              <a:tr h="360988">
                <a:tc>
                  <a:txBody>
                    <a:bodyPr/>
                    <a:lstStyle/>
                    <a:p>
                      <a:pPr algn="ctr"/>
                      <a:r>
                        <a:rPr lang="es-E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CO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E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Documento de modificaciones y syllabus espacios académicos. </a:t>
                      </a:r>
                      <a:endParaRPr lang="es-CO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RC-Documentos modificaciones RC</a:t>
                      </a:r>
                      <a:endParaRPr lang="es-CO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4957876"/>
                  </a:ext>
                </a:extLst>
              </a:tr>
              <a:tr h="360988">
                <a:tc>
                  <a:txBody>
                    <a:bodyPr/>
                    <a:lstStyle/>
                    <a:p>
                      <a:pPr algn="ctr"/>
                      <a:r>
                        <a:rPr lang="es-E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s-CO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Avales y remisiones: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E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Notificación aprobación Consejo de Facultad (SAC-1020-2024 de 13 de septiembre de 2024).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E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Oficio de aval al documento de modificaciones por parte de la Coordinación del Comité de Currículo y Calidad (CCYC 088 2024 de 11 de septiembre de 2024).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E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Remisión documentos a la Vicerrectoría Académica (CCYC 091 2024 18 de septiembre de 2024)</a:t>
                      </a:r>
                      <a:endParaRPr lang="es-CO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RC-Avales y remisiones</a:t>
                      </a:r>
                      <a:endParaRPr lang="es-CO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0678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4800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016221"/>
              </p:ext>
            </p:extLst>
          </p:nvPr>
        </p:nvGraphicFramePr>
        <p:xfrm>
          <a:off x="1633669" y="1884301"/>
          <a:ext cx="10077067" cy="32918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794837">
                  <a:extLst>
                    <a:ext uri="{9D8B030D-6E8A-4147-A177-3AD203B41FA5}">
                      <a16:colId xmlns:a16="http://schemas.microsoft.com/office/drawing/2014/main" val="3458937348"/>
                    </a:ext>
                  </a:extLst>
                </a:gridCol>
                <a:gridCol w="4713612">
                  <a:extLst>
                    <a:ext uri="{9D8B030D-6E8A-4147-A177-3AD203B41FA5}">
                      <a16:colId xmlns:a16="http://schemas.microsoft.com/office/drawing/2014/main" val="2483731206"/>
                    </a:ext>
                  </a:extLst>
                </a:gridCol>
                <a:gridCol w="4568618">
                  <a:extLst>
                    <a:ext uri="{9D8B030D-6E8A-4147-A177-3AD203B41FA5}">
                      <a16:colId xmlns:a16="http://schemas.microsoft.com/office/drawing/2014/main" val="1151789502"/>
                    </a:ext>
                  </a:extLst>
                </a:gridCol>
              </a:tblGrid>
              <a:tr h="336049"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Enlace de consulta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2036023"/>
                  </a:ext>
                </a:extLst>
              </a:tr>
              <a:tr h="360988">
                <a:tc>
                  <a:txBody>
                    <a:bodyPr/>
                    <a:lstStyle/>
                    <a:p>
                      <a:pPr algn="ctr"/>
                      <a:r>
                        <a:rPr lang="es-E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s-CO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Conceptos: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E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Comunicaciones 202320798 de 3 de noviembre de 2023.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E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Comunicación 2024IE3860 de 6 marzo de 2024.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E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Comunicación 2024IE4344 de 13 marzo de 2024. 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E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Comunicación 2024IExxx </a:t>
                      </a:r>
                      <a:endParaRPr lang="es-CO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RC-Conceptos VA-CCICC</a:t>
                      </a:r>
                      <a:endParaRPr lang="es-CO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3684349"/>
                  </a:ext>
                </a:extLst>
              </a:tr>
              <a:tr h="360988">
                <a:tc>
                  <a:txBody>
                    <a:bodyPr/>
                    <a:lstStyle/>
                    <a:p>
                      <a:pPr algn="ctr"/>
                      <a:r>
                        <a:rPr lang="es-E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s-CO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Proyección acto administrativo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4-RC-(PE) Ren Mod PE MCIC-23-11-24-Rvdo.docx</a:t>
                      </a:r>
                      <a:endParaRPr lang="es-CO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0678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4929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E9AF963F-95E0-4D28-8AE5-880AC99C3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406" y="4189614"/>
            <a:ext cx="2592802" cy="1255222"/>
          </a:xfrm>
        </p:spPr>
        <p:txBody>
          <a:bodyPr>
            <a:noAutofit/>
          </a:bodyPr>
          <a:lstStyle/>
          <a:p>
            <a:pPr algn="r">
              <a:lnSpc>
                <a:spcPct val="100000"/>
              </a:lnSpc>
            </a:pPr>
            <a:r>
              <a:rPr lang="es-CO" sz="1500" b="1" dirty="0">
                <a:solidFill>
                  <a:srgbClr val="69180B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Gracias por su atención</a:t>
            </a:r>
            <a:br>
              <a:rPr lang="es-CO" sz="1500" b="1" dirty="0">
                <a:solidFill>
                  <a:srgbClr val="69180B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s-CO" sz="1500" dirty="0">
                <a:solidFill>
                  <a:srgbClr val="006666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3"/>
              </a:rPr>
              <a:t>regcalificado@udistrital.edu.co</a:t>
            </a:r>
            <a:br>
              <a:rPr lang="es-CO" sz="1500" dirty="0">
                <a:solidFill>
                  <a:srgbClr val="006666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s-CO" sz="1500" dirty="0">
                <a:solidFill>
                  <a:srgbClr val="006666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4"/>
              </a:rPr>
              <a:t>curriculoycalidadinst@udistrital.edu.co</a:t>
            </a:r>
            <a:r>
              <a:rPr lang="es-CO" sz="1500" dirty="0">
                <a:solidFill>
                  <a:srgbClr val="006666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br>
              <a:rPr lang="es-CO" sz="1500" dirty="0">
                <a:solidFill>
                  <a:srgbClr val="006666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s-CO" sz="1500" dirty="0">
                <a:solidFill>
                  <a:srgbClr val="69180B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Extensión 1336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PRESENTACIONES  -  Modo de compatibilidad" id="{A26AC363-5CC9-42B4-9B1D-1CA3C1F394C1}" vid="{CD804E11-8059-44C7-A030-65C6AE2079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PLANTILLA_PRESENTACIONES (2)</Template>
  <TotalTime>2746</TotalTime>
  <Words>1352</Words>
  <Application>Microsoft Office PowerPoint</Application>
  <PresentationFormat>Panorámica</PresentationFormat>
  <Paragraphs>460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Gracias por su atención regcalificado@udistrital.edu.co curriculoycalidadinst@udistrital.edu.co  Extensión 1336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Angélica M. Pabon Rodríguez</dc:creator>
  <cp:lastModifiedBy>Angelica Johana Torres Castañeda</cp:lastModifiedBy>
  <cp:revision>419</cp:revision>
  <dcterms:created xsi:type="dcterms:W3CDTF">2024-02-23T20:11:37Z</dcterms:created>
  <dcterms:modified xsi:type="dcterms:W3CDTF">2025-01-29T23:57:29Z</dcterms:modified>
</cp:coreProperties>
</file>