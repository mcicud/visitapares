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33"/>
  </p:notesMasterIdLst>
  <p:sldIdLst>
    <p:sldId id="256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57" r:id="rId13"/>
    <p:sldId id="327" r:id="rId14"/>
    <p:sldId id="328" r:id="rId15"/>
    <p:sldId id="333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29" r:id="rId29"/>
    <p:sldId id="330" r:id="rId30"/>
    <p:sldId id="331" r:id="rId31"/>
    <p:sldId id="258" r:id="rId32"/>
  </p:sldIdLst>
  <p:sldSz cx="12192000" cy="6858000"/>
  <p:notesSz cx="6858000" cy="9144000"/>
  <p:defaultTextStyle>
    <a:defPPr>
      <a:defRPr lang="es-CO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472C4"/>
    <a:srgbClr val="C5CAE5"/>
    <a:srgbClr val="E9EBF5"/>
    <a:srgbClr val="95220F"/>
    <a:srgbClr val="69180B"/>
    <a:srgbClr val="AE2812"/>
    <a:srgbClr val="FFF9F7"/>
    <a:srgbClr val="FDE2D9"/>
    <a:srgbClr val="D1FFF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Estilo claro 3 - Acento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Acento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72833802-FEF1-4C79-8D5D-14CF1EAF98D9}" styleName="Estilo claro 2 - Acento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Estilo claro 1 - Acento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Estilo medio 1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Estilo medio 4 - Énfasis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B301B821-A1FF-4177-AEE7-76D212191A09}" styleName="Estilo medio 1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50" autoAdjust="0"/>
    <p:restoredTop sz="94660"/>
  </p:normalViewPr>
  <p:slideViewPr>
    <p:cSldViewPr snapToGrid="0">
      <p:cViewPr>
        <p:scale>
          <a:sx n="100" d="100"/>
          <a:sy n="100" d="100"/>
        </p:scale>
        <p:origin x="-978" y="-40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8FABA-975D-4247-B2D5-5CC8A7E98C79}" type="datetimeFigureOut">
              <a:rPr lang="es-CO" smtClean="0"/>
              <a:t>10/11/2025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DE2783-2A21-4929-A9D2-58C3202C4B0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474963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00C5B4-B1A8-4BE8-8049-F8B042DAA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1F6987-C66E-4675-95C3-AD6002117947}" type="datetime1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2C17C3-580F-4E34-BB23-E7F7A1825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EDB6ABC-F54D-43C3-90A9-0B30423A4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1B6395-D19C-4022-BD3E-AA64F48F446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60206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4882925-FFEA-4C66-8A9D-723A2F826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DA3B7F-ABEB-430A-B7AB-8718C012E270}" type="datetime1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D26B39-9FED-4B4C-B4BB-4D27360A37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CD41756-E7CA-4B58-A6CA-38788E09C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solidFill>
                  <a:schemeClr val="bg1"/>
                </a:solidFill>
              </a:defRPr>
            </a:lvl1pPr>
          </a:lstStyle>
          <a:p>
            <a:fld id="{D17CF488-D59D-4E4A-8A12-78226D1BE8BC}" type="slidenum">
              <a:rPr lang="es-CO" altLang="es-CO" smtClean="0"/>
              <a:pPr/>
              <a:t>‹Nº›</a:t>
            </a:fld>
            <a:endParaRPr lang="es-CO" altLang="es-CO" dirty="0"/>
          </a:p>
        </p:txBody>
      </p:sp>
    </p:spTree>
    <p:extLst>
      <p:ext uri="{BB962C8B-B14F-4D97-AF65-F5344CB8AC3E}">
        <p14:creationId xmlns:p14="http://schemas.microsoft.com/office/powerpoint/2010/main" val="72014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E458A91-D2A1-41AB-957C-F8AB5528F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678AB9-82B6-41AB-9158-DAD1E9D3E2E4}" type="datetime1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13A8EAE-7E7C-4B0A-9ACC-30570E6EE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4D873C8-206D-4DA5-81BE-EB18A712B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5A6F62-9380-4F84-BA63-57F3024D51CD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902882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968CE952-5ACC-4FA0-B5BE-076FF6400C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56C17C-7BC0-42F2-ABA8-6B007D546096}" type="datetime1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CC89686E-740F-4C70-B3BB-4A2D17910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30C1F7AF-C3E4-401C-B7C0-311859197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ED7C53-08A1-4524-B21F-963AD20A0493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323130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3">
            <a:extLst>
              <a:ext uri="{FF2B5EF4-FFF2-40B4-BE49-F238E27FC236}">
                <a16:creationId xmlns:a16="http://schemas.microsoft.com/office/drawing/2014/main" id="{D90AF97A-B07A-4293-BD7E-974DBC142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DEB41-7553-4CB0-9E24-42CD09616A50}" type="datetime1">
              <a:rPr lang="es-CO" smtClean="0"/>
              <a:t>10/11/2025</a:t>
            </a:fld>
            <a:endParaRPr lang="es-CO"/>
          </a:p>
        </p:txBody>
      </p:sp>
      <p:sp>
        <p:nvSpPr>
          <p:cNvPr id="8" name="Marcador de pie de página 4">
            <a:extLst>
              <a:ext uri="{FF2B5EF4-FFF2-40B4-BE49-F238E27FC236}">
                <a16:creationId xmlns:a16="http://schemas.microsoft.com/office/drawing/2014/main" id="{D7268560-4BD8-4CCC-844C-D8748E7B1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9" name="Marcador de número de diapositiva 5">
            <a:extLst>
              <a:ext uri="{FF2B5EF4-FFF2-40B4-BE49-F238E27FC236}">
                <a16:creationId xmlns:a16="http://schemas.microsoft.com/office/drawing/2014/main" id="{2759D7E5-F111-45C0-8585-4F4895F87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B6D5FB2-7AA8-4E50-A908-C4B1EE846161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738295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3">
            <a:extLst>
              <a:ext uri="{FF2B5EF4-FFF2-40B4-BE49-F238E27FC236}">
                <a16:creationId xmlns:a16="http://schemas.microsoft.com/office/drawing/2014/main" id="{A6C63010-A7B8-4879-A0A9-5C4A9B806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D785DB4-7BD8-41D5-A56D-B49D69733E63}" type="datetime1">
              <a:rPr lang="es-CO" smtClean="0"/>
              <a:t>10/11/2025</a:t>
            </a:fld>
            <a:endParaRPr lang="es-CO"/>
          </a:p>
        </p:txBody>
      </p:sp>
      <p:sp>
        <p:nvSpPr>
          <p:cNvPr id="4" name="Marcador de pie de página 4">
            <a:extLst>
              <a:ext uri="{FF2B5EF4-FFF2-40B4-BE49-F238E27FC236}">
                <a16:creationId xmlns:a16="http://schemas.microsoft.com/office/drawing/2014/main" id="{26C6E7F0-72B2-47C1-8BEC-60799E1B31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5" name="Marcador de número de diapositiva 5">
            <a:extLst>
              <a:ext uri="{FF2B5EF4-FFF2-40B4-BE49-F238E27FC236}">
                <a16:creationId xmlns:a16="http://schemas.microsoft.com/office/drawing/2014/main" id="{C338B802-CA04-4D2D-84EA-894A79B73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F3858-BBCD-436A-80BE-68E6B7B46759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4658612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3">
            <a:extLst>
              <a:ext uri="{FF2B5EF4-FFF2-40B4-BE49-F238E27FC236}">
                <a16:creationId xmlns:a16="http://schemas.microsoft.com/office/drawing/2014/main" id="{B4593243-3501-4B41-8568-7D3D2AE18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54C867-E44E-4F86-B3F5-D3C5378173CF}" type="datetime1">
              <a:rPr lang="es-CO" smtClean="0"/>
              <a:t>10/11/2025</a:t>
            </a:fld>
            <a:endParaRPr lang="es-CO"/>
          </a:p>
        </p:txBody>
      </p:sp>
      <p:sp>
        <p:nvSpPr>
          <p:cNvPr id="3" name="Marcador de pie de página 4">
            <a:extLst>
              <a:ext uri="{FF2B5EF4-FFF2-40B4-BE49-F238E27FC236}">
                <a16:creationId xmlns:a16="http://schemas.microsoft.com/office/drawing/2014/main" id="{9E631D69-74B2-438D-8C1E-128063EE4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4" name="Marcador de número de diapositiva 5">
            <a:extLst>
              <a:ext uri="{FF2B5EF4-FFF2-40B4-BE49-F238E27FC236}">
                <a16:creationId xmlns:a16="http://schemas.microsoft.com/office/drawing/2014/main" id="{5C7C62A1-A991-49CB-AA27-0D2315982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8B1B3E-AA0A-4CBD-B258-E67DCA7143E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1340810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DEA2E631-369D-41BC-9FBF-DCFD955B3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64334E-A577-4002-8976-C7AE861508FC}" type="datetime1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8BB98F8F-055C-494B-80F3-BE5B01D5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A9CCC9FF-0352-4449-AD4A-0D27A8073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0C1C1A-C872-41A3-831B-3C7BC5D7C2D7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84014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s-ES" noProof="0"/>
              <a:t>Haga clic en el icono para agregar una imagen</a:t>
            </a:r>
            <a:endParaRPr lang="es-CO" noProof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los estilos de texto del patrón</a:t>
            </a:r>
          </a:p>
        </p:txBody>
      </p:sp>
      <p:sp>
        <p:nvSpPr>
          <p:cNvPr id="5" name="Marcador de fecha 3">
            <a:extLst>
              <a:ext uri="{FF2B5EF4-FFF2-40B4-BE49-F238E27FC236}">
                <a16:creationId xmlns:a16="http://schemas.microsoft.com/office/drawing/2014/main" id="{A4A60947-D3E1-46CC-B7E7-C2213C21F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15089F-414E-4226-9EFE-AD8016767428}" type="datetime1">
              <a:rPr lang="es-CO" smtClean="0"/>
              <a:t>10/11/2025</a:t>
            </a:fld>
            <a:endParaRPr lang="es-CO"/>
          </a:p>
        </p:txBody>
      </p:sp>
      <p:sp>
        <p:nvSpPr>
          <p:cNvPr id="6" name="Marcador de pie de página 4">
            <a:extLst>
              <a:ext uri="{FF2B5EF4-FFF2-40B4-BE49-F238E27FC236}">
                <a16:creationId xmlns:a16="http://schemas.microsoft.com/office/drawing/2014/main" id="{3046BBA0-DAC4-4952-BF97-91BFFF094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7" name="Marcador de número de diapositiva 5">
            <a:extLst>
              <a:ext uri="{FF2B5EF4-FFF2-40B4-BE49-F238E27FC236}">
                <a16:creationId xmlns:a16="http://schemas.microsoft.com/office/drawing/2014/main" id="{D14EE3DD-5B95-4AD2-A070-A7509584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088861-2672-4D41-B7DB-CD7CC660B51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708135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0A2E33-965B-4B46-A581-23F606A47B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7BC14-ACB4-44B3-8445-F246DA57FA4A}" type="datetime1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45FB6F-F964-4275-AEBE-ACA1DB145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B71EA8A-1FF3-4CB6-AD73-117B637ED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8E2955C-849F-42E9-BA8A-D6E060CF9442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28265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DC946F-F57F-47EE-94D9-E5567A44A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DB4660-D62F-4060-9A78-2114103D9374}" type="datetime1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DF6E42-8223-4D4B-AC32-4126255BC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6AD0699-3D46-4C1D-8B4D-DC873C56E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951C05A-FB03-4F29-9CD1-3EBDD6909F06}" type="slidenum">
              <a:rPr lang="es-CO" altLang="es-CO"/>
              <a:pPr/>
              <a:t>‹Nº›</a:t>
            </a:fld>
            <a:endParaRPr lang="es-CO" altLang="es-CO"/>
          </a:p>
        </p:txBody>
      </p:sp>
    </p:spTree>
    <p:extLst>
      <p:ext uri="{BB962C8B-B14F-4D97-AF65-F5344CB8AC3E}">
        <p14:creationId xmlns:p14="http://schemas.microsoft.com/office/powerpoint/2010/main" val="184394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Marcador de título 1">
            <a:extLst>
              <a:ext uri="{FF2B5EF4-FFF2-40B4-BE49-F238E27FC236}">
                <a16:creationId xmlns:a16="http://schemas.microsoft.com/office/drawing/2014/main" id="{D7D3AA2A-222A-4710-B495-23A6ED0295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el estilo de título del patrón</a:t>
            </a:r>
            <a:endParaRPr lang="es-CO" altLang="es-CO"/>
          </a:p>
        </p:txBody>
      </p:sp>
      <p:sp>
        <p:nvSpPr>
          <p:cNvPr id="1027" name="Marcador de texto 2">
            <a:extLst>
              <a:ext uri="{FF2B5EF4-FFF2-40B4-BE49-F238E27FC236}">
                <a16:creationId xmlns:a16="http://schemas.microsoft.com/office/drawing/2014/main" id="{F305AF79-0A5F-4149-88A2-CCC417CB75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es-CO"/>
              <a:t>Haga clic para modificar los estilos de texto del patrón</a:t>
            </a:r>
          </a:p>
          <a:p>
            <a:pPr lvl="1"/>
            <a:r>
              <a:rPr lang="es-ES" altLang="es-CO"/>
              <a:t>Segundo nivel</a:t>
            </a:r>
          </a:p>
          <a:p>
            <a:pPr lvl="2"/>
            <a:r>
              <a:rPr lang="es-ES" altLang="es-CO"/>
              <a:t>Tercer nivel</a:t>
            </a:r>
          </a:p>
          <a:p>
            <a:pPr lvl="3"/>
            <a:r>
              <a:rPr lang="es-ES" altLang="es-CO"/>
              <a:t>Cuarto nivel</a:t>
            </a:r>
          </a:p>
          <a:p>
            <a:pPr lvl="4"/>
            <a:r>
              <a:rPr lang="es-ES" altLang="es-CO"/>
              <a:t>Quinto nivel</a:t>
            </a:r>
            <a:endParaRPr lang="es-CO" alt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4F57F8A-7CFD-423D-B197-0F73EDD2E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A150A1EC-796D-4501-B182-1FD52277FA3C}" type="datetime1">
              <a:rPr lang="es-CO" smtClean="0"/>
              <a:t>10/11/2025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112FED-9CC9-43E1-A3DF-08B7E30FE1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C19093-BFC0-425C-A648-EF1BEB828F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A51428AB-4690-4DDF-9EA4-3E904097901E}" type="slidenum">
              <a:rPr lang="es-CO" altLang="es-CO"/>
              <a:pPr/>
              <a:t>‹Nº›</a:t>
            </a:fld>
            <a:endParaRPr lang="es-CO" altLang="es-C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mailto:aeortizd@udistrital.edi.co" TargetMode="External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1056A222-8698-4AE6-9665-52B7AA0D4C34}"/>
              </a:ext>
            </a:extLst>
          </p:cNvPr>
          <p:cNvSpPr txBox="1"/>
          <p:nvPr/>
        </p:nvSpPr>
        <p:spPr>
          <a:xfrm>
            <a:off x="5533285" y="3182779"/>
            <a:ext cx="467316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COMUICACIONES</a:t>
            </a:r>
          </a:p>
          <a:p>
            <a:pPr algn="ctr"/>
            <a:r>
              <a:rPr lang="es-ES" sz="1400" b="1" dirty="0"/>
              <a:t>Investigación</a:t>
            </a:r>
            <a:r>
              <a:rPr lang="es-ES" sz="1400" dirty="0"/>
              <a:t> (Código SNIES: 17528)</a:t>
            </a:r>
            <a:r>
              <a:rPr lang="es-ES" sz="1400" b="1" dirty="0"/>
              <a:t> – Profundización</a:t>
            </a:r>
            <a:r>
              <a:rPr lang="es-ES" sz="1400" dirty="0"/>
              <a:t> (Código SNIES: 116070)</a:t>
            </a:r>
            <a:endParaRPr lang="es-CO" dirty="0"/>
          </a:p>
          <a:p>
            <a:pPr algn="ctr"/>
            <a:endParaRPr lang="es-CO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34D0570-C4A8-4098-A3A6-DD088FF900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3612" y="1768932"/>
            <a:ext cx="2042836" cy="718776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71637F7E-1ADE-4669-9E47-C75879BE956F}"/>
              </a:ext>
            </a:extLst>
          </p:cNvPr>
          <p:cNvSpPr txBox="1"/>
          <p:nvPr/>
        </p:nvSpPr>
        <p:spPr>
          <a:xfrm>
            <a:off x="9321397" y="481311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2</a:t>
            </a:fld>
            <a:endParaRPr lang="es-CO" altLang="es-CO" dirty="0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05C0B5E-B751-4F6B-B32E-AF684975F587}"/>
              </a:ext>
            </a:extLst>
          </p:cNvPr>
          <p:cNvSpPr txBox="1"/>
          <p:nvPr/>
        </p:nvSpPr>
        <p:spPr>
          <a:xfrm>
            <a:off x="4263094" y="2442613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b="1"/>
              <a:t>Ponderación de Factores y Características </a:t>
            </a:r>
            <a:endParaRPr lang="es-CO" dirty="0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91FBE41-A968-4662-AD33-F8E3A7D1B468}"/>
              </a:ext>
            </a:extLst>
          </p:cNvPr>
          <p:cNvSpPr txBox="1"/>
          <p:nvPr/>
        </p:nvSpPr>
        <p:spPr>
          <a:xfrm>
            <a:off x="4263096" y="3039901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b="1" dirty="0"/>
              <a:t>Valoración de juicios de calidad</a:t>
            </a:r>
            <a:endParaRPr lang="es-CO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27F8A1A-5D3B-40CA-AE09-A479B7C22343}"/>
              </a:ext>
            </a:extLst>
          </p:cNvPr>
          <p:cNvSpPr txBox="1"/>
          <p:nvPr/>
        </p:nvSpPr>
        <p:spPr>
          <a:xfrm>
            <a:off x="4263093" y="3620136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b="1" dirty="0"/>
              <a:t>Fortalezas y Oportunidades de mejora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2CCB9F30-022E-41A7-8EFF-CD95B7529217}"/>
              </a:ext>
            </a:extLst>
          </p:cNvPr>
          <p:cNvSpPr txBox="1"/>
          <p:nvPr/>
        </p:nvSpPr>
        <p:spPr>
          <a:xfrm>
            <a:off x="4263096" y="4226149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s-CO" b="1" dirty="0"/>
              <a:t>Seguimiento autoevaluación anterior</a:t>
            </a:r>
            <a:endParaRPr lang="es-CO" dirty="0"/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62BE99B-58F3-4A4D-90A9-967620E7081C}"/>
              </a:ext>
            </a:extLst>
          </p:cNvPr>
          <p:cNvSpPr txBox="1"/>
          <p:nvPr/>
        </p:nvSpPr>
        <p:spPr>
          <a:xfrm>
            <a:off x="4263096" y="4799790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6880C5B-51FB-4493-A572-FE69A26F980E}"/>
              </a:ext>
            </a:extLst>
          </p:cNvPr>
          <p:cNvSpPr txBox="1"/>
          <p:nvPr/>
        </p:nvSpPr>
        <p:spPr>
          <a:xfrm>
            <a:off x="4263094" y="5363142"/>
            <a:ext cx="5917717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1" y="1124223"/>
            <a:ext cx="3631474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419" b="1" i="1" dirty="0">
                <a:solidFill>
                  <a:schemeClr val="bg1"/>
                </a:solidFill>
              </a:rPr>
              <a:t>Contenido</a:t>
            </a:r>
            <a:endParaRPr lang="en-US" b="1" i="1" dirty="0">
              <a:solidFill>
                <a:schemeClr val="bg1"/>
              </a:solidFill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2447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3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Ponderación de Factores y Características 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18ABED2B-08E3-42F0-B2D0-E13AE9EC1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868814"/>
              </p:ext>
            </p:extLst>
          </p:nvPr>
        </p:nvGraphicFramePr>
        <p:xfrm>
          <a:off x="1776513" y="1993213"/>
          <a:ext cx="8772081" cy="426696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2930">
                  <a:extLst>
                    <a:ext uri="{9D8B030D-6E8A-4147-A177-3AD203B41FA5}">
                      <a16:colId xmlns:a16="http://schemas.microsoft.com/office/drawing/2014/main" val="119667485"/>
                    </a:ext>
                  </a:extLst>
                </a:gridCol>
                <a:gridCol w="2413262">
                  <a:extLst>
                    <a:ext uri="{9D8B030D-6E8A-4147-A177-3AD203B41FA5}">
                      <a16:colId xmlns:a16="http://schemas.microsoft.com/office/drawing/2014/main" val="286565700"/>
                    </a:ext>
                  </a:extLst>
                </a:gridCol>
                <a:gridCol w="1592492">
                  <a:extLst>
                    <a:ext uri="{9D8B030D-6E8A-4147-A177-3AD203B41FA5}">
                      <a16:colId xmlns:a16="http://schemas.microsoft.com/office/drawing/2014/main" val="3650209721"/>
                    </a:ext>
                  </a:extLst>
                </a:gridCol>
                <a:gridCol w="2482839">
                  <a:extLst>
                    <a:ext uri="{9D8B030D-6E8A-4147-A177-3AD203B41FA5}">
                      <a16:colId xmlns:a16="http://schemas.microsoft.com/office/drawing/2014/main" val="181034134"/>
                    </a:ext>
                  </a:extLst>
                </a:gridCol>
                <a:gridCol w="1090558">
                  <a:extLst>
                    <a:ext uri="{9D8B030D-6E8A-4147-A177-3AD203B41FA5}">
                      <a16:colId xmlns:a16="http://schemas.microsoft.com/office/drawing/2014/main" val="910254081"/>
                    </a:ext>
                  </a:extLst>
                </a:gridCol>
              </a:tblGrid>
              <a:tr h="47173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# 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Factor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 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Características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916466706"/>
                  </a:ext>
                </a:extLst>
              </a:tr>
              <a:tr h="471736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PROYECTO EDUCATIVO DEL PROGRAMA E IDENTIDAD INSTITUCIONAL.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12,08%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1. Proyecto educativo del Programa.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53,85%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48998642"/>
                  </a:ext>
                </a:extLst>
              </a:tr>
              <a:tr h="72361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2. Relevancia académica y pertinencia social del programa académico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46,15%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266010059"/>
                  </a:ext>
                </a:extLst>
              </a:tr>
              <a:tr h="712939"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ESTUDIANTES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5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12,42%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3. Participación en actividades de formación integral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33,14%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61507415"/>
                  </a:ext>
                </a:extLst>
              </a:tr>
              <a:tr h="47173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4. Orientación y seguimiento a estudiantes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18,02%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280109713"/>
                  </a:ext>
                </a:extLst>
              </a:tr>
              <a:tr h="47173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5. Capacidad de trabajo autónomo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19,19%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727417936"/>
                  </a:ext>
                </a:extLst>
              </a:tr>
              <a:tr h="47173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6. Reglamento estudiantil y política académica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13,37%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365190383"/>
                  </a:ext>
                </a:extLst>
              </a:tr>
              <a:tr h="47173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7. Estímulos y apoyos para estudiantes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16,28%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221347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6121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4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Ponderación de Factores y Características 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F0A4DF5D-9BB1-4A31-9D69-0D0DC842C4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8921990"/>
              </p:ext>
            </p:extLst>
          </p:nvPr>
        </p:nvGraphicFramePr>
        <p:xfrm>
          <a:off x="1776513" y="1882378"/>
          <a:ext cx="8772081" cy="457098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06832">
                  <a:extLst>
                    <a:ext uri="{9D8B030D-6E8A-4147-A177-3AD203B41FA5}">
                      <a16:colId xmlns:a16="http://schemas.microsoft.com/office/drawing/2014/main" val="477429139"/>
                    </a:ext>
                  </a:extLst>
                </a:gridCol>
                <a:gridCol w="2419928">
                  <a:extLst>
                    <a:ext uri="{9D8B030D-6E8A-4147-A177-3AD203B41FA5}">
                      <a16:colId xmlns:a16="http://schemas.microsoft.com/office/drawing/2014/main" val="3425680655"/>
                    </a:ext>
                  </a:extLst>
                </a:gridCol>
                <a:gridCol w="1571924">
                  <a:extLst>
                    <a:ext uri="{9D8B030D-6E8A-4147-A177-3AD203B41FA5}">
                      <a16:colId xmlns:a16="http://schemas.microsoft.com/office/drawing/2014/main" val="4048688513"/>
                    </a:ext>
                  </a:extLst>
                </a:gridCol>
                <a:gridCol w="2547494">
                  <a:extLst>
                    <a:ext uri="{9D8B030D-6E8A-4147-A177-3AD203B41FA5}">
                      <a16:colId xmlns:a16="http://schemas.microsoft.com/office/drawing/2014/main" val="364253338"/>
                    </a:ext>
                  </a:extLst>
                </a:gridCol>
                <a:gridCol w="1025903">
                  <a:extLst>
                    <a:ext uri="{9D8B030D-6E8A-4147-A177-3AD203B41FA5}">
                      <a16:colId xmlns:a16="http://schemas.microsoft.com/office/drawing/2014/main" val="1826567669"/>
                    </a:ext>
                  </a:extLst>
                </a:gridCol>
              </a:tblGrid>
              <a:tr h="36552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# 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 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Características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4253328578"/>
                  </a:ext>
                </a:extLst>
              </a:tr>
              <a:tr h="365523">
                <a:tc rowSpan="8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8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PROFESORES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8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11,67%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8. Selección, vinculación y permanencia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17,13%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728730781"/>
                  </a:ext>
                </a:extLst>
              </a:tr>
              <a:tr h="19847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9. Estatuto profesoral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13,73%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63129953"/>
                  </a:ext>
                </a:extLst>
              </a:tr>
              <a:tr h="5524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10. Número, dedicación, nivel de formación y experiencia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15,74%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933220562"/>
                  </a:ext>
                </a:extLst>
              </a:tr>
              <a:tr h="198474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11. Desarrollo profesoral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15,28%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980056014"/>
                  </a:ext>
                </a:extLst>
              </a:tr>
              <a:tr h="3655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12. Estímulos a la trayectoria profesoral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10,34%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28543425"/>
                  </a:ext>
                </a:extLst>
              </a:tr>
              <a:tr h="5524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13. Producción, pertinencia, utilización e impacto del material docente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11,73%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57433493"/>
                  </a:ext>
                </a:extLst>
              </a:tr>
              <a:tr h="3655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14. Remuneración por méritos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9,41%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190979712"/>
                  </a:ext>
                </a:extLst>
              </a:tr>
              <a:tr h="36552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15. Evaluación de profesores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6,64%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838742917"/>
                  </a:ext>
                </a:extLst>
              </a:tr>
              <a:tr h="365523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EGRESADOS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10,80%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16. Seguimiento a los egresados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54,76%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433838598"/>
                  </a:ext>
                </a:extLst>
              </a:tr>
              <a:tr h="55241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17. Impacto de los egresados en el medio social y académico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45,24%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6804088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02015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5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Ponderación de Factores y Características 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3BA8748-5F2B-4285-BE7C-02B8AC386E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4531441"/>
              </p:ext>
            </p:extLst>
          </p:nvPr>
        </p:nvGraphicFramePr>
        <p:xfrm>
          <a:off x="1776515" y="1871843"/>
          <a:ext cx="8772079" cy="4504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7596">
                  <a:extLst>
                    <a:ext uri="{9D8B030D-6E8A-4147-A177-3AD203B41FA5}">
                      <a16:colId xmlns:a16="http://schemas.microsoft.com/office/drawing/2014/main" val="3053487183"/>
                    </a:ext>
                  </a:extLst>
                </a:gridCol>
                <a:gridCol w="1754907">
                  <a:extLst>
                    <a:ext uri="{9D8B030D-6E8A-4147-A177-3AD203B41FA5}">
                      <a16:colId xmlns:a16="http://schemas.microsoft.com/office/drawing/2014/main" val="785999983"/>
                    </a:ext>
                  </a:extLst>
                </a:gridCol>
                <a:gridCol w="1403927">
                  <a:extLst>
                    <a:ext uri="{9D8B030D-6E8A-4147-A177-3AD203B41FA5}">
                      <a16:colId xmlns:a16="http://schemas.microsoft.com/office/drawing/2014/main" val="4092190470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2012825251"/>
                    </a:ext>
                  </a:extLst>
                </a:gridCol>
                <a:gridCol w="1062849">
                  <a:extLst>
                    <a:ext uri="{9D8B030D-6E8A-4147-A177-3AD203B41FA5}">
                      <a16:colId xmlns:a16="http://schemas.microsoft.com/office/drawing/2014/main" val="476262855"/>
                    </a:ext>
                  </a:extLst>
                </a:gridCol>
              </a:tblGrid>
              <a:tr h="30706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# 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Factor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Ponderación 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Características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052546225"/>
                  </a:ext>
                </a:extLst>
              </a:tr>
              <a:tr h="307061">
                <a:tc row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5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 row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ASPECTOS ACADÉMICOS Y RESULTADOS DE APRENDIZAJE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 rowSpan="9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6,75%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18. Integralidad de los aspectos curriculares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17,16%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517768068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19. Flexibilidad de los aspectos curriculares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14,69%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1402981580"/>
                  </a:ext>
                </a:extLst>
              </a:tr>
              <a:tr h="1671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20. Interdisciplinariedad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12,84%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1120184235"/>
                  </a:ext>
                </a:extLst>
              </a:tr>
              <a:tr h="1671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21. Estrategias pedagógicas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11,36%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3437482189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22. Sistema de evaluación de estudiantes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7,53%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686702229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23. Resultados de aprendizaje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12,84%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942679504"/>
                  </a:ext>
                </a:extLst>
              </a:tr>
              <a:tr h="16715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24. Competencias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10,99%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3099106274"/>
                  </a:ext>
                </a:extLst>
              </a:tr>
              <a:tr h="46446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25. Evaluación y autorregulación del programa académico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6,79%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820440984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26. Vinculación e interacción social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5,80%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303184242"/>
                  </a:ext>
                </a:extLst>
              </a:tr>
              <a:tr h="464463"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6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PERMANENCIA Y GRADUACIÓN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 rowSpan="4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7,29%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27. Políticas, estrategias y estructura para la permanencia y la graduación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26,11%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094219767"/>
                  </a:ext>
                </a:extLst>
              </a:tr>
              <a:tr h="464463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28. Caracterización de estudiantes y sistema de alertas tempranas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27,78%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2908873946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29. Ajustes a los aspectos curriculares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21,11%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4261579553"/>
                  </a:ext>
                </a:extLst>
              </a:tr>
              <a:tr h="3070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30. Mecanismos de selección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25,00%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9002" marR="39002" marT="0" marB="0" anchor="ctr"/>
                </a:tc>
                <a:extLst>
                  <a:ext uri="{0D108BD9-81ED-4DB2-BD59-A6C34878D82A}">
                    <a16:rowId xmlns:a16="http://schemas.microsoft.com/office/drawing/2014/main" val="17135489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9458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6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Ponderación de Factores y Características 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0C3FB21C-2144-442E-95E5-684D11C089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1985904"/>
              </p:ext>
            </p:extLst>
          </p:nvPr>
        </p:nvGraphicFramePr>
        <p:xfrm>
          <a:off x="1776516" y="1793883"/>
          <a:ext cx="8772077" cy="46991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79120">
                  <a:extLst>
                    <a:ext uri="{9D8B030D-6E8A-4147-A177-3AD203B41FA5}">
                      <a16:colId xmlns:a16="http://schemas.microsoft.com/office/drawing/2014/main" val="1806195156"/>
                    </a:ext>
                  </a:extLst>
                </a:gridCol>
                <a:gridCol w="1773382">
                  <a:extLst>
                    <a:ext uri="{9D8B030D-6E8A-4147-A177-3AD203B41FA5}">
                      <a16:colId xmlns:a16="http://schemas.microsoft.com/office/drawing/2014/main" val="2256493549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1968529768"/>
                    </a:ext>
                  </a:extLst>
                </a:gridCol>
                <a:gridCol w="3334327">
                  <a:extLst>
                    <a:ext uri="{9D8B030D-6E8A-4147-A177-3AD203B41FA5}">
                      <a16:colId xmlns:a16="http://schemas.microsoft.com/office/drawing/2014/main" val="2591875798"/>
                    </a:ext>
                  </a:extLst>
                </a:gridCol>
                <a:gridCol w="1062848">
                  <a:extLst>
                    <a:ext uri="{9D8B030D-6E8A-4147-A177-3AD203B41FA5}">
                      <a16:colId xmlns:a16="http://schemas.microsoft.com/office/drawing/2014/main" val="905320554"/>
                    </a:ext>
                  </a:extLst>
                </a:gridCol>
              </a:tblGrid>
              <a:tr h="28576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# 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Factor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 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Características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3490179481"/>
                  </a:ext>
                </a:extLst>
              </a:tr>
              <a:tr h="432251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7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INTERACCIÓN CON EL ENTORNO NACIONAL E INTERNACIONAL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10,59%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31. Inserción del programa en contextos académicos nacionales e internacionales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34,78%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3915215372"/>
                  </a:ext>
                </a:extLst>
              </a:tr>
              <a:tr h="28576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32. Relaciones externas de profesores y estudiantes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40,58%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3359779970"/>
                  </a:ext>
                </a:extLst>
              </a:tr>
              <a:tr h="43225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33. Habilidades comunicativas en una segunda lengua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24,64%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383580354"/>
                  </a:ext>
                </a:extLst>
              </a:tr>
              <a:tr h="578737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8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APORTES DE LA INVESTIGACIÓN, LA INNOVACIÓN, EL DESARROLLO TECNOLÓGICO Y LA CREACIÓN, ASOCIADOS AL PROGRAMA ACADÉMICO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4,79%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34. Formación para la investigación, desarrollo tecnológico, la innovación y la creación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53,33%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4238051635"/>
                  </a:ext>
                </a:extLst>
              </a:tr>
              <a:tr h="1464861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35. Compromiso con la investigación, desarrollo tecnológico, la innovación y la creación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46,67%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3303248255"/>
                  </a:ext>
                </a:extLst>
              </a:tr>
              <a:tr h="155560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9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BIENESTAR DE LA COMUNIDAD ACADÉMICA DEL PROGRAMA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6,41%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36. Programas y servicios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54,76%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2266095265"/>
                  </a:ext>
                </a:extLst>
              </a:tr>
              <a:tr h="716149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37. Participación y seguimiento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45,24%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6297" marR="36297" marT="0" marB="0" anchor="ctr"/>
                </a:tc>
                <a:extLst>
                  <a:ext uri="{0D108BD9-81ED-4DB2-BD59-A6C34878D82A}">
                    <a16:rowId xmlns:a16="http://schemas.microsoft.com/office/drawing/2014/main" val="18958791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003276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7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Ponderación de Factores y Características 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7EFD3C4A-BDCA-4661-959D-6F2140780F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8301753"/>
              </p:ext>
            </p:extLst>
          </p:nvPr>
        </p:nvGraphicFramePr>
        <p:xfrm>
          <a:off x="1776516" y="1915666"/>
          <a:ext cx="8772078" cy="37596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60648">
                  <a:extLst>
                    <a:ext uri="{9D8B030D-6E8A-4147-A177-3AD203B41FA5}">
                      <a16:colId xmlns:a16="http://schemas.microsoft.com/office/drawing/2014/main" val="1241128636"/>
                    </a:ext>
                  </a:extLst>
                </a:gridCol>
                <a:gridCol w="1801091">
                  <a:extLst>
                    <a:ext uri="{9D8B030D-6E8A-4147-A177-3AD203B41FA5}">
                      <a16:colId xmlns:a16="http://schemas.microsoft.com/office/drawing/2014/main" val="607482708"/>
                    </a:ext>
                  </a:extLst>
                </a:gridCol>
                <a:gridCol w="1440872">
                  <a:extLst>
                    <a:ext uri="{9D8B030D-6E8A-4147-A177-3AD203B41FA5}">
                      <a16:colId xmlns:a16="http://schemas.microsoft.com/office/drawing/2014/main" val="2361528509"/>
                    </a:ext>
                  </a:extLst>
                </a:gridCol>
                <a:gridCol w="3297382">
                  <a:extLst>
                    <a:ext uri="{9D8B030D-6E8A-4147-A177-3AD203B41FA5}">
                      <a16:colId xmlns:a16="http://schemas.microsoft.com/office/drawing/2014/main" val="3491585861"/>
                    </a:ext>
                  </a:extLst>
                </a:gridCol>
                <a:gridCol w="1072085">
                  <a:extLst>
                    <a:ext uri="{9D8B030D-6E8A-4147-A177-3AD203B41FA5}">
                      <a16:colId xmlns:a16="http://schemas.microsoft.com/office/drawing/2014/main" val="405618307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# Factor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Factor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 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Características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Ponderación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2861761"/>
                  </a:ext>
                </a:extLst>
              </a:tr>
              <a:tr h="180975"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10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MEDIOS EDUCATIVOS Y AMBIENTES DE APRENDIZAJE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6,88%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38. Estrategias y recursos de apoyo a profesores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39,86%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688883706"/>
                  </a:ext>
                </a:extLst>
              </a:tr>
              <a:tr h="25527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39. Estrategias y recursos de apoyo a estudiantes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35,51%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38524909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40. Recursos bibliográficos y de información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24,64%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9432406"/>
                  </a:ext>
                </a:extLst>
              </a:tr>
              <a:tr h="190500"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11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ORGANIZACIÓN, ADMINISTRACIÓN Y FINANCIACIÓN DEL PROGRAMA ACADÉMICO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6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6,68%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41. Organización y administración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23,02%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85828604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42. Dirección y gestión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21,16%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301377026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43. Sistemas de comunicación e información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13,23%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906236977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44. Estudiantes y capacidad institucional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11,90%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609059282"/>
                  </a:ext>
                </a:extLst>
              </a:tr>
              <a:tr h="190500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45. Financiación del programa académico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12,96%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1286067716"/>
                  </a:ext>
                </a:extLst>
              </a:tr>
              <a:tr h="21399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46. Aseguramiento de la alta calidad y mejora continua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17,72%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833743653"/>
                  </a:ext>
                </a:extLst>
              </a:tr>
              <a:tr h="253365"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12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RECURSOS FÍSICOS Y TECNOLÓGICOS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>
                          <a:effectLst/>
                        </a:rPr>
                        <a:t>3,64%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47. Recursos de infraestructura física y tecnológica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52,38%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024494337"/>
                  </a:ext>
                </a:extLst>
              </a:tr>
              <a:tr h="257175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48. Recursos informáticos y de comunicación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400" dirty="0">
                          <a:effectLst/>
                        </a:rPr>
                        <a:t>47,62%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/>
                </a:tc>
                <a:extLst>
                  <a:ext uri="{0D108BD9-81ED-4DB2-BD59-A6C34878D82A}">
                    <a16:rowId xmlns:a16="http://schemas.microsoft.com/office/drawing/2014/main" val="23879487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636404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8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1" y="1124223"/>
            <a:ext cx="3289466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Valoración de juicios de calidad</a:t>
            </a:r>
            <a:endParaRPr 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n 5">
            <a:extLst>
              <a:ext uri="{FF2B5EF4-FFF2-40B4-BE49-F238E27FC236}">
                <a16:creationId xmlns:a16="http://schemas.microsoft.com/office/drawing/2014/main" id="{BEDDDB89-84CA-4BCC-8D61-87C84C6E5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1626" y="2414446"/>
            <a:ext cx="7868748" cy="2029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04022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CBD121F7-005A-4434-8DDE-61C473C68C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4298971"/>
              </p:ext>
            </p:extLst>
          </p:nvPr>
        </p:nvGraphicFramePr>
        <p:xfrm>
          <a:off x="1579941" y="1975361"/>
          <a:ext cx="9949932" cy="4363333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223582">
                  <a:extLst>
                    <a:ext uri="{9D8B030D-6E8A-4147-A177-3AD203B41FA5}">
                      <a16:colId xmlns:a16="http://schemas.microsoft.com/office/drawing/2014/main" val="275619364"/>
                    </a:ext>
                  </a:extLst>
                </a:gridCol>
                <a:gridCol w="2271470">
                  <a:extLst>
                    <a:ext uri="{9D8B030D-6E8A-4147-A177-3AD203B41FA5}">
                      <a16:colId xmlns:a16="http://schemas.microsoft.com/office/drawing/2014/main" val="2128641419"/>
                    </a:ext>
                  </a:extLst>
                </a:gridCol>
                <a:gridCol w="2271470">
                  <a:extLst>
                    <a:ext uri="{9D8B030D-6E8A-4147-A177-3AD203B41FA5}">
                      <a16:colId xmlns:a16="http://schemas.microsoft.com/office/drawing/2014/main" val="2179183516"/>
                    </a:ext>
                  </a:extLst>
                </a:gridCol>
                <a:gridCol w="2183410">
                  <a:extLst>
                    <a:ext uri="{9D8B030D-6E8A-4147-A177-3AD203B41FA5}">
                      <a16:colId xmlns:a16="http://schemas.microsoft.com/office/drawing/2014/main" val="3407123678"/>
                    </a:ext>
                  </a:extLst>
                </a:gridCol>
              </a:tblGrid>
              <a:tr h="203359"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Seguimiento y evaluación a plan de mejoramiento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8215110"/>
                  </a:ext>
                </a:extLst>
              </a:tr>
              <a:tr h="374519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Nombre del proyecto o acción global ejecutada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Factor (es)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Oportunidad</a:t>
                      </a:r>
                      <a:r>
                        <a:rPr lang="es-CO" sz="1100">
                          <a:effectLst/>
                        </a:rPr>
                        <a:t> </a:t>
                      </a:r>
                      <a:br>
                        <a:rPr lang="es-CO" sz="1100">
                          <a:effectLst/>
                        </a:rPr>
                      </a:br>
                      <a:r>
                        <a:rPr lang="es-ES" sz="1100">
                          <a:effectLst/>
                        </a:rPr>
                        <a:t>de mejora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% avance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4134794"/>
                  </a:ext>
                </a:extLst>
              </a:tr>
              <a:tr h="101794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effectLst/>
                        </a:rPr>
                        <a:t>Actualización y socialización del </a:t>
                      </a:r>
                      <a:r>
                        <a:rPr lang="es-CO" sz="1200" u="none" strike="noStrike" dirty="0">
                          <a:effectLst/>
                        </a:rPr>
                        <a:t>documento del Proyecto Educativo del Programa para los componentes en Investigación y Profundización.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effectLst/>
                        </a:rPr>
                        <a:t>FACTOR 1. PROYECTO EDUCATIVO DEL PROGRAMA E IDENTIDAD INSTITUCIONAL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Celeridad en el proceso de aprobación de documentos por parte del comité institucional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80%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97943963"/>
                  </a:ext>
                </a:extLst>
              </a:tr>
              <a:tr h="82645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Estrategias de</a:t>
                      </a:r>
                      <a:r>
                        <a:rPr lang="es-CO" sz="1200" u="none" strike="noStrike">
                          <a:effectLst/>
                        </a:rPr>
                        <a:t> divulgación de las propuestas académicas para los componentes de Investigación y de Profundización.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2. ESTUDIANTES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CO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900">
                          <a:effectLst/>
                        </a:rPr>
                        <a:t>100%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7668752"/>
                  </a:ext>
                </a:extLst>
              </a:tr>
              <a:tr h="56601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Procesos Institucionales Capacitación permanente del equipo docente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3. PROFESORES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Se amplíen las convocatorias de capacitación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70%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3875547"/>
                  </a:ext>
                </a:extLst>
              </a:tr>
              <a:tr h="61753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200" u="none" strike="noStrike">
                          <a:effectLst/>
                        </a:rPr>
                        <a:t>Impacto de las Maestrías en Investigación y en Profundización en el medio.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4. EGRESADOS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Generar una política formar de seguimiento para los egresados.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50%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6444356"/>
                  </a:ext>
                </a:extLst>
              </a:tr>
              <a:tr h="7575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Definición de los Resultados de Aprendizaje.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5. ASPECTOS ACADÉMICOS Y RESULTADOS DE APRENDIZAJE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50%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4490229"/>
                  </a:ext>
                </a:extLst>
              </a:tr>
            </a:tbl>
          </a:graphicData>
        </a:graphic>
      </p:graphicFrame>
      <p:sp>
        <p:nvSpPr>
          <p:cNvPr id="8" name="Rectángulo redondeado 41">
            <a:extLst>
              <a:ext uri="{FF2B5EF4-FFF2-40B4-BE49-F238E27FC236}">
                <a16:creationId xmlns:a16="http://schemas.microsoft.com/office/drawing/2014/main" id="{3790873E-400A-4737-B7A6-583DF4547481}"/>
              </a:ext>
            </a:extLst>
          </p:cNvPr>
          <p:cNvSpPr/>
          <p:nvPr/>
        </p:nvSpPr>
        <p:spPr>
          <a:xfrm>
            <a:off x="1579941" y="1324637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Seguimiento autoevaluación anterior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D8E374A-15F4-4574-8A06-75A4B404DFBD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29C70B11-074E-4F51-87E0-A138410507D4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3E5E698E-3322-4476-8078-5DA433B2A49C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29135D17-7F17-44DB-80FB-DD8D3CA81774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CB4722ED-18B9-4C94-8090-46A9173EF47D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22520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797463E9-698A-40DB-80E0-AACC0D08DA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234982"/>
              </p:ext>
            </p:extLst>
          </p:nvPr>
        </p:nvGraphicFramePr>
        <p:xfrm>
          <a:off x="1574554" y="2393557"/>
          <a:ext cx="9960705" cy="3945137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224982">
                  <a:extLst>
                    <a:ext uri="{9D8B030D-6E8A-4147-A177-3AD203B41FA5}">
                      <a16:colId xmlns:a16="http://schemas.microsoft.com/office/drawing/2014/main" val="3193529209"/>
                    </a:ext>
                  </a:extLst>
                </a:gridCol>
                <a:gridCol w="2272456">
                  <a:extLst>
                    <a:ext uri="{9D8B030D-6E8A-4147-A177-3AD203B41FA5}">
                      <a16:colId xmlns:a16="http://schemas.microsoft.com/office/drawing/2014/main" val="3799754618"/>
                    </a:ext>
                  </a:extLst>
                </a:gridCol>
                <a:gridCol w="2272456">
                  <a:extLst>
                    <a:ext uri="{9D8B030D-6E8A-4147-A177-3AD203B41FA5}">
                      <a16:colId xmlns:a16="http://schemas.microsoft.com/office/drawing/2014/main" val="1784706857"/>
                    </a:ext>
                  </a:extLst>
                </a:gridCol>
                <a:gridCol w="2190811">
                  <a:extLst>
                    <a:ext uri="{9D8B030D-6E8A-4147-A177-3AD203B41FA5}">
                      <a16:colId xmlns:a16="http://schemas.microsoft.com/office/drawing/2014/main" val="4066935109"/>
                    </a:ext>
                  </a:extLst>
                </a:gridCol>
              </a:tblGrid>
              <a:tr h="241667"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Seguimiento y evaluación a plan de mejoramiento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6080384"/>
                  </a:ext>
                </a:extLst>
              </a:tr>
              <a:tr h="445071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Nombre del proyecto o acción global ejecutada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Factor (es)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Oportunidad</a:t>
                      </a:r>
                      <a:r>
                        <a:rPr lang="es-CO" sz="1100" dirty="0">
                          <a:effectLst/>
                        </a:rPr>
                        <a:t> </a:t>
                      </a:r>
                      <a:br>
                        <a:rPr lang="es-CO" sz="1100" dirty="0">
                          <a:effectLst/>
                        </a:rPr>
                      </a:br>
                      <a:r>
                        <a:rPr lang="es-ES" sz="1100" dirty="0">
                          <a:effectLst/>
                        </a:rPr>
                        <a:t>de mejora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% avance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5188564"/>
                  </a:ext>
                </a:extLst>
              </a:tr>
              <a:tr h="12304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200" u="none" strike="noStrike">
                          <a:effectLst/>
                        </a:rPr>
                        <a:t>Información continua y oportuna de los tiempos establecidos en el reglamentos para la permanencia y la correspondiente Gaduación Oportuna de los estudiantes en las Maestrías de Investigación y de Profundización.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effectLst/>
                        </a:rPr>
                        <a:t>FACTOR 6. PERMANENCIA Y GRADUACIÓN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 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90%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81191199"/>
                  </a:ext>
                </a:extLst>
              </a:tr>
              <a:tr h="90021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Cooperación interinstitucional de orden Nacional e internacional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7. INTERACCIÓN CON EL ENTORNO NACIONAL E INTERNACIONAL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Aplicar los acuerdos de doble y multi titulación y generar convenio de doble titulación con otras universidades. 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50%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5999771"/>
                  </a:ext>
                </a:extLst>
              </a:tr>
              <a:tr h="112778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200" u="none" strike="noStrike">
                          <a:effectLst/>
                        </a:rPr>
                        <a:t>Vinculación de estudiantes a los procesos en Investigación o en Profundización.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8. APORTES DE LA INVESTIGACIÓN, LA INNOVACIÓN, EL DESARROLLO TECNOLÓGICO Y LA CREACIÓN ASOCIADOS AL PROGRAMA ACADÉMICO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100%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88081278"/>
                  </a:ext>
                </a:extLst>
              </a:tr>
            </a:tbl>
          </a:graphicData>
        </a:graphic>
      </p:graphicFrame>
      <p:sp>
        <p:nvSpPr>
          <p:cNvPr id="8" name="Rectángulo redondeado 41">
            <a:extLst>
              <a:ext uri="{FF2B5EF4-FFF2-40B4-BE49-F238E27FC236}">
                <a16:creationId xmlns:a16="http://schemas.microsoft.com/office/drawing/2014/main" id="{5365E4D4-82D7-4E73-B135-B22473FEA912}"/>
              </a:ext>
            </a:extLst>
          </p:cNvPr>
          <p:cNvSpPr/>
          <p:nvPr/>
        </p:nvSpPr>
        <p:spPr>
          <a:xfrm>
            <a:off x="1790619" y="1405138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Seguimiento autoevaluación anterior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4BD1ABA-694B-4475-B3CA-FB142EF406C6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87C8B803-4B87-4543-A423-4338DAEFD107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CEFA7987-1CA0-4389-AD7A-2B7EBADEACD6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5428F5B-376F-4292-B598-BD9E7A110A93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969CA08-E5FF-4AF8-A6A0-8FF8711E2A42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379989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CB034D10-E024-4B16-9A19-AD71E5D7B5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467712"/>
              </p:ext>
            </p:extLst>
          </p:nvPr>
        </p:nvGraphicFramePr>
        <p:xfrm>
          <a:off x="1680844" y="1715335"/>
          <a:ext cx="9254667" cy="4474639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996388">
                  <a:extLst>
                    <a:ext uri="{9D8B030D-6E8A-4147-A177-3AD203B41FA5}">
                      <a16:colId xmlns:a16="http://schemas.microsoft.com/office/drawing/2014/main" val="2437723113"/>
                    </a:ext>
                  </a:extLst>
                </a:gridCol>
                <a:gridCol w="2111379">
                  <a:extLst>
                    <a:ext uri="{9D8B030D-6E8A-4147-A177-3AD203B41FA5}">
                      <a16:colId xmlns:a16="http://schemas.microsoft.com/office/drawing/2014/main" val="4000820457"/>
                    </a:ext>
                  </a:extLst>
                </a:gridCol>
                <a:gridCol w="2111379">
                  <a:extLst>
                    <a:ext uri="{9D8B030D-6E8A-4147-A177-3AD203B41FA5}">
                      <a16:colId xmlns:a16="http://schemas.microsoft.com/office/drawing/2014/main" val="3248407956"/>
                    </a:ext>
                  </a:extLst>
                </a:gridCol>
                <a:gridCol w="2035521">
                  <a:extLst>
                    <a:ext uri="{9D8B030D-6E8A-4147-A177-3AD203B41FA5}">
                      <a16:colId xmlns:a16="http://schemas.microsoft.com/office/drawing/2014/main" val="1520048722"/>
                    </a:ext>
                  </a:extLst>
                </a:gridCol>
              </a:tblGrid>
              <a:tr h="241502">
                <a:tc gridSpan="4"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Seguimiento y evaluación a plan de mejoramiento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8186294"/>
                  </a:ext>
                </a:extLst>
              </a:tr>
              <a:tr h="444767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Nombre del proyecto o acción global ejecutada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Factor (es)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Oportunidad</a:t>
                      </a:r>
                      <a:r>
                        <a:rPr lang="es-CO" sz="1100" dirty="0">
                          <a:effectLst/>
                        </a:rPr>
                        <a:t> </a:t>
                      </a:r>
                      <a:br>
                        <a:rPr lang="es-CO" sz="1100" dirty="0">
                          <a:effectLst/>
                        </a:rPr>
                      </a:br>
                      <a:r>
                        <a:rPr lang="es-ES" sz="1100" dirty="0">
                          <a:effectLst/>
                        </a:rPr>
                        <a:t>de mejora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% avance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9867462"/>
                  </a:ext>
                </a:extLst>
              </a:tr>
              <a:tr h="14832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200" u="none" strike="noStrike">
                          <a:effectLst/>
                        </a:rPr>
                        <a:t>Informar acerca de los Servicios que ofrece Bienestar Universitario a las Maestrías para los componentes de Investigación y de Profundización.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9. BIENESTAR DE LA COMUNIDAD ACADÉMICA DEL PROGRAMA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Ampliar los horarios de atención para que los estudiantes de posgrado también puedan acceder a estos.</a:t>
                      </a:r>
                    </a:p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100%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2801073"/>
                  </a:ext>
                </a:extLst>
              </a:tr>
              <a:tr h="73336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200" u="none" strike="noStrike">
                          <a:effectLst/>
                        </a:rPr>
                        <a:t>Medios educativos y ambientes de aprendizaje en las Maestrías en Investigación y en Profundización.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10. MEDIOS EDUCATIVOS Y AMBIENTES DE APRENDIZAJE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 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2526488"/>
                  </a:ext>
                </a:extLst>
              </a:tr>
              <a:tr h="67218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Sistema Interno de Aseguramiento de la Calidad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11. ORGANIZACIÓN, ADMINISTRACIÓN Y FINANCIACIÓN DEL PROGRAMA ACADÉMICO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CO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</a:pPr>
                      <a:endParaRPr lang="es-CO" sz="1100">
                        <a:effectLst/>
                        <a:latin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37167687"/>
                  </a:ext>
                </a:extLst>
              </a:tr>
              <a:tr h="89959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Seguimiento al proyecto de Infraestructura de la Facultad de Ingeniería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effectLst/>
                        </a:rPr>
                        <a:t>FACTOR 12. RECURSOS FÍSICOS Y TECNOLÓGICOS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>
                          <a:effectLst/>
                        </a:rPr>
                        <a:t>Finalización de la obra del edificio de ingeniería, para la ampliación de la infraestructura física usada por el programa,</a:t>
                      </a:r>
                      <a:endParaRPr lang="es-CO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100" dirty="0">
                          <a:effectLst/>
                        </a:rPr>
                        <a:t>90%</a:t>
                      </a:r>
                      <a:endParaRPr lang="es-CO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9080767"/>
                  </a:ext>
                </a:extLst>
              </a:tr>
            </a:tbl>
          </a:graphicData>
        </a:graphic>
      </p:graphicFrame>
      <p:sp>
        <p:nvSpPr>
          <p:cNvPr id="8" name="Rectángulo redondeado 41">
            <a:extLst>
              <a:ext uri="{FF2B5EF4-FFF2-40B4-BE49-F238E27FC236}">
                <a16:creationId xmlns:a16="http://schemas.microsoft.com/office/drawing/2014/main" id="{30810BA2-1BE8-41A7-977D-3D60F8793248}"/>
              </a:ext>
            </a:extLst>
          </p:cNvPr>
          <p:cNvSpPr/>
          <p:nvPr/>
        </p:nvSpPr>
        <p:spPr>
          <a:xfrm>
            <a:off x="1680844" y="1123660"/>
            <a:ext cx="41841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CO" b="1" dirty="0"/>
              <a:t>Seguimiento autoevaluación anterior</a:t>
            </a:r>
            <a:endParaRPr lang="es-CO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EA9ECDDF-515D-490C-B3FA-CDAB636CC2B8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5C7544C-3B64-4DFB-AEB4-BC8F1A156062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020A25E6-93EF-4AFB-AFAA-C577E2F74BF2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CED348F-3351-4F12-BD96-FF485C7BF395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4C541635-4F82-4DA6-93C6-01A13F998BA7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85456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F39F882-75A5-4502-AB08-F4562FA39F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2032693"/>
              </p:ext>
            </p:extLst>
          </p:nvPr>
        </p:nvGraphicFramePr>
        <p:xfrm>
          <a:off x="1297106" y="1730259"/>
          <a:ext cx="10515602" cy="4666790"/>
        </p:xfrm>
        <a:graphic>
          <a:graphicData uri="http://schemas.openxmlformats.org/drawingml/2006/table">
            <a:tbl>
              <a:tblPr>
                <a:tableStyleId>{B301B821-A1FF-4177-AEE7-76D212191A09}</a:tableStyleId>
              </a:tblPr>
              <a:tblGrid>
                <a:gridCol w="3674949">
                  <a:extLst>
                    <a:ext uri="{9D8B030D-6E8A-4147-A177-3AD203B41FA5}">
                      <a16:colId xmlns:a16="http://schemas.microsoft.com/office/drawing/2014/main" val="2831328100"/>
                    </a:ext>
                  </a:extLst>
                </a:gridCol>
                <a:gridCol w="1449560">
                  <a:extLst>
                    <a:ext uri="{9D8B030D-6E8A-4147-A177-3AD203B41FA5}">
                      <a16:colId xmlns:a16="http://schemas.microsoft.com/office/drawing/2014/main" val="1496993103"/>
                    </a:ext>
                  </a:extLst>
                </a:gridCol>
                <a:gridCol w="2299302">
                  <a:extLst>
                    <a:ext uri="{9D8B030D-6E8A-4147-A177-3AD203B41FA5}">
                      <a16:colId xmlns:a16="http://schemas.microsoft.com/office/drawing/2014/main" val="1053618497"/>
                    </a:ext>
                  </a:extLst>
                </a:gridCol>
                <a:gridCol w="1316267">
                  <a:extLst>
                    <a:ext uri="{9D8B030D-6E8A-4147-A177-3AD203B41FA5}">
                      <a16:colId xmlns:a16="http://schemas.microsoft.com/office/drawing/2014/main" val="2618789865"/>
                    </a:ext>
                  </a:extLst>
                </a:gridCol>
                <a:gridCol w="1775524">
                  <a:extLst>
                    <a:ext uri="{9D8B030D-6E8A-4147-A177-3AD203B41FA5}">
                      <a16:colId xmlns:a16="http://schemas.microsoft.com/office/drawing/2014/main" val="155851653"/>
                    </a:ext>
                  </a:extLst>
                </a:gridCol>
              </a:tblGrid>
              <a:tr h="36763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 dirty="0">
                          <a:effectLst/>
                        </a:rPr>
                        <a:t>Factor </a:t>
                      </a:r>
                      <a:endParaRPr lang="es-ES" sz="1600" b="0" i="0" dirty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 dirty="0">
                          <a:effectLst/>
                        </a:rPr>
                        <a:t>Ponderación </a:t>
                      </a:r>
                      <a:endParaRPr lang="es-ES" sz="1600" b="0" i="0" dirty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Grado de cumplimiento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Calificación </a:t>
                      </a:r>
                      <a:br>
                        <a:rPr lang="es-ES" sz="1100">
                          <a:effectLst/>
                        </a:rPr>
                      </a:br>
                      <a:r>
                        <a:rPr lang="es-ES" sz="1100">
                          <a:effectLst/>
                        </a:rPr>
                        <a:t>actual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Calificación </a:t>
                      </a:r>
                      <a:br>
                        <a:rPr lang="es-ES" sz="1100">
                          <a:effectLst/>
                        </a:rPr>
                      </a:br>
                      <a:r>
                        <a:rPr lang="es-ES" sz="1100">
                          <a:effectLst/>
                        </a:rPr>
                        <a:t>proceso anterior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/>
                </a:tc>
                <a:extLst>
                  <a:ext uri="{0D108BD9-81ED-4DB2-BD59-A6C34878D82A}">
                    <a16:rowId xmlns:a16="http://schemas.microsoft.com/office/drawing/2014/main" val="2652549455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1. Proyecto Educativo del Programa e identidad institucional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12,08%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4,4 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2671987361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2. Estudiantes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12,42%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4,6 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2466368770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3. Profesores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11,67%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4,7 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 dirty="0">
                          <a:effectLst/>
                        </a:rPr>
                        <a:t>4,2 </a:t>
                      </a:r>
                      <a:endParaRPr lang="es-ES" sz="1600" b="0" i="0" dirty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442861780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4. Egresados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10,80%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4,8 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3333247025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5. Aspectos Académicos y Resultados de Aprendizaje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6,75%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4,3 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4,2 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810209350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6. Permanencia y graduación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7,29%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5 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2491874773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7. Interacción con el entorno nacional e internacional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10,59%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4,5 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429105381"/>
                  </a:ext>
                </a:extLst>
              </a:tr>
              <a:tr h="36763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8. Aportes de la investigación, la innovación, el desarrollo tecnológico y la creación, asociados al programa académico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4,79%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4,5 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3,4 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1492237033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9. Bienestar de la comunidad académica del programa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6,41%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4,8 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4,1 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389678780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10. Medios educativos y ambientes de aprendizaje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6,88%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5 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2594690722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11. Organización, administración y financiación del programa académico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6,68%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5 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3,9 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856000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100">
                          <a:effectLst/>
                        </a:rPr>
                        <a:t>Factor 12. Recursos físicos y tecnológicos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3,64%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5 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3,9 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3401753497"/>
                  </a:ext>
                </a:extLst>
              </a:tr>
              <a:tr h="30133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Juicio global de calidad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 dirty="0">
                          <a:effectLst/>
                        </a:rPr>
                        <a:t>100% </a:t>
                      </a:r>
                      <a:endParaRPr lang="es-ES" sz="1600" b="0" i="0" dirty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Se cumple en alto grado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>
                          <a:effectLst/>
                        </a:rPr>
                        <a:t>4,64 </a:t>
                      </a:r>
                      <a:endParaRPr lang="es-ES" sz="1600" b="0" i="0">
                        <a:effectLst/>
                      </a:endParaRPr>
                    </a:p>
                  </a:txBody>
                  <a:tcPr marL="36161" marR="36161" marT="18080" marB="18080" anchor="ctr"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100" dirty="0">
                          <a:effectLst/>
                        </a:rPr>
                        <a:t>4,05 </a:t>
                      </a:r>
                      <a:endParaRPr lang="es-ES" sz="1600" b="0" i="0" dirty="0">
                        <a:effectLst/>
                      </a:endParaRPr>
                    </a:p>
                  </a:txBody>
                  <a:tcPr marL="36161" marR="36161" marT="18080" marB="18080" anchor="ctr"/>
                </a:tc>
                <a:extLst>
                  <a:ext uri="{0D108BD9-81ED-4DB2-BD59-A6C34878D82A}">
                    <a16:rowId xmlns:a16="http://schemas.microsoft.com/office/drawing/2014/main" val="1491628748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4760D12B-5EE4-4301-BBEF-1E106EC84189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17F4E36-1C7B-468A-A292-F7049C345332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01C338B-1895-4E6A-B9BC-8925F7E1A170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F3D893C-1DCF-48DA-A072-C87C9D21D827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A790FF9A-9A15-40C5-9961-1C42EE828CFB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redondeado 41">
            <a:extLst>
              <a:ext uri="{FF2B5EF4-FFF2-40B4-BE49-F238E27FC236}">
                <a16:creationId xmlns:a16="http://schemas.microsoft.com/office/drawing/2014/main" id="{E9B71990-BCE5-4E26-BDA9-06B727FBBE21}"/>
              </a:ext>
            </a:extLst>
          </p:cNvPr>
          <p:cNvSpPr/>
          <p:nvPr/>
        </p:nvSpPr>
        <p:spPr>
          <a:xfrm>
            <a:off x="1680844" y="1123660"/>
            <a:ext cx="7114813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dirty="0"/>
              <a:t>Resultados de autoevaluación y valoración global de cumplimiento</a:t>
            </a:r>
            <a:endParaRPr lang="es-CO" b="1" dirty="0"/>
          </a:p>
        </p:txBody>
      </p:sp>
    </p:spTree>
    <p:extLst>
      <p:ext uri="{BB962C8B-B14F-4D97-AF65-F5344CB8AC3E}">
        <p14:creationId xmlns:p14="http://schemas.microsoft.com/office/powerpoint/2010/main" val="16972719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13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6658430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1. Proyecto Educativo del Programa e identidad institucional.</a:t>
            </a:r>
            <a:endParaRPr lang="es-CO" b="1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a 4">
            <a:extLst>
              <a:ext uri="{FF2B5EF4-FFF2-40B4-BE49-F238E27FC236}">
                <a16:creationId xmlns:a16="http://schemas.microsoft.com/office/drawing/2014/main" id="{E1194E97-633D-4F06-B4D3-EB76851DD5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7655829"/>
              </p:ext>
            </p:extLst>
          </p:nvPr>
        </p:nvGraphicFramePr>
        <p:xfrm>
          <a:off x="1770434" y="1781728"/>
          <a:ext cx="8978630" cy="48677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38343">
                  <a:extLst>
                    <a:ext uri="{9D8B030D-6E8A-4147-A177-3AD203B41FA5}">
                      <a16:colId xmlns:a16="http://schemas.microsoft.com/office/drawing/2014/main" val="2717922158"/>
                    </a:ext>
                  </a:extLst>
                </a:gridCol>
                <a:gridCol w="2137338">
                  <a:extLst>
                    <a:ext uri="{9D8B030D-6E8A-4147-A177-3AD203B41FA5}">
                      <a16:colId xmlns:a16="http://schemas.microsoft.com/office/drawing/2014/main" val="605152034"/>
                    </a:ext>
                  </a:extLst>
                </a:gridCol>
                <a:gridCol w="1424558">
                  <a:extLst>
                    <a:ext uri="{9D8B030D-6E8A-4147-A177-3AD203B41FA5}">
                      <a16:colId xmlns:a16="http://schemas.microsoft.com/office/drawing/2014/main" val="2332111178"/>
                    </a:ext>
                  </a:extLst>
                </a:gridCol>
                <a:gridCol w="1425562">
                  <a:extLst>
                    <a:ext uri="{9D8B030D-6E8A-4147-A177-3AD203B41FA5}">
                      <a16:colId xmlns:a16="http://schemas.microsoft.com/office/drawing/2014/main" val="60867533"/>
                    </a:ext>
                  </a:extLst>
                </a:gridCol>
                <a:gridCol w="1852829">
                  <a:extLst>
                    <a:ext uri="{9D8B030D-6E8A-4147-A177-3AD203B41FA5}">
                      <a16:colId xmlns:a16="http://schemas.microsoft.com/office/drawing/2014/main" val="1629183112"/>
                    </a:ext>
                  </a:extLst>
                </a:gridCol>
              </a:tblGrid>
              <a:tr h="136636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dirty="0">
                          <a:effectLst/>
                        </a:rPr>
                        <a:t>Grado de cumplimiento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Calificación numérica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Ponderación del factor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extLst>
                  <a:ext uri="{0D108BD9-81ED-4DB2-BD59-A6C34878D82A}">
                    <a16:rowId xmlns:a16="http://schemas.microsoft.com/office/drawing/2014/main" val="596984668"/>
                  </a:ext>
                </a:extLst>
              </a:tr>
              <a:tr h="2803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Anterior 2020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Actual 2025</a:t>
                      </a:r>
                      <a:endParaRPr lang="es-CO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Anterior 2020</a:t>
                      </a:r>
                      <a:endParaRPr lang="es-CO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Actual 2025</a:t>
                      </a:r>
                      <a:endParaRPr lang="es-CO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3314804"/>
                  </a:ext>
                </a:extLst>
              </a:tr>
              <a:tr h="2803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Se cumple en alto grado</a:t>
                      </a:r>
                      <a:endParaRPr lang="es-CO" sz="1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Se cumple en alto grado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4,4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4,0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>
                          <a:effectLst/>
                        </a:rPr>
                        <a:t>12,08%</a:t>
                      </a:r>
                      <a:endParaRPr lang="es-CO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/>
                </a:tc>
                <a:extLst>
                  <a:ext uri="{0D108BD9-81ED-4DB2-BD59-A6C34878D82A}">
                    <a16:rowId xmlns:a16="http://schemas.microsoft.com/office/drawing/2014/main" val="1492159984"/>
                  </a:ext>
                </a:extLst>
              </a:tr>
              <a:tr h="212126">
                <a:tc gridSpan="2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dirty="0">
                          <a:effectLst/>
                        </a:rPr>
                        <a:t>Fortalezas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CO" sz="1400" b="1" dirty="0">
                          <a:solidFill>
                            <a:schemeClr val="bg1"/>
                          </a:solidFill>
                          <a:effectLst/>
                        </a:rPr>
                        <a:t>Oportunidades de mejora</a:t>
                      </a:r>
                      <a:endParaRPr lang="es-CO" sz="1400" b="1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0955387"/>
                  </a:ext>
                </a:extLst>
              </a:tr>
              <a:tr h="3441890">
                <a:tc gridSpan="2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Existencia de un proyecto educativo coherente, alineado con la misión y visión institucional, que define propósitos claros de formación en los campos de Teleinformática, Ingeniería de Software, Geomática e Inteligencia Artificial.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Incorporación de un enfoque interdisciplinario que responde a las necesidades locales, regionales, nacionales e internacionales en el campo de las TIC.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Reconocimiento de la pertinencia académica y social del programa, evidenciada en encuestas a estudiantes, egresados y empleadores.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Actualización curricular que permite responder a las tendencias globales en ciencia, tecnología e innovación, y a las demandas del sector productivo.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400" b="0" dirty="0">
                          <a:solidFill>
                            <a:schemeClr val="tx1"/>
                          </a:solidFill>
                          <a:effectLst/>
                        </a:rPr>
                        <a:t>Articulación del programa con las políticas institucionales de calidad y los lineamientos del CNA, lo que refuerza su identidad académica.</a:t>
                      </a:r>
                      <a:endParaRPr lang="es-CO" sz="1400" b="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 anchor="ctr">
                    <a:solidFill>
                      <a:srgbClr val="E9EBF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600" dirty="0">
                          <a:effectLst/>
                        </a:rPr>
                        <a:t>Necesidad de fortalecer la difusión y apropiación del proyecto educativo entre todos los actores de la comunidad académica, en especial estudiantes de nuevos ingresos.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600" dirty="0">
                          <a:effectLst/>
                        </a:rPr>
                        <a:t>Persisten desafíos en la homogeneización de competencias en segunda lengua, necesarias para consolidar la identidad internacional del programa.</a:t>
                      </a:r>
                    </a:p>
                    <a:p>
                      <a:pPr marL="342900" lvl="0" indent="-342900" algn="just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 panose="05050102010706020507" pitchFamily="18" charset="2"/>
                        <a:buChar char=""/>
                      </a:pPr>
                      <a:r>
                        <a:rPr lang="es-CO" sz="1600" dirty="0">
                          <a:effectLst/>
                        </a:rPr>
                        <a:t>Limitada sistematización de la información que evidencie de manera cuantitativa la comparación del programa con referentes internacionales en la disciplina</a:t>
                      </a:r>
                      <a:r>
                        <a:rPr lang="es-CO" sz="1400" dirty="0">
                          <a:effectLst/>
                        </a:rPr>
                        <a:t>.</a:t>
                      </a:r>
                      <a:endParaRPr lang="es-CO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609" marR="35609" marT="0" marB="0">
                    <a:solidFill>
                      <a:srgbClr val="C5CAE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50150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86265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14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3373363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2. Estudiantes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AC71122-EC85-49D1-9CD3-18C27777E4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0619643"/>
              </p:ext>
            </p:extLst>
          </p:nvPr>
        </p:nvGraphicFramePr>
        <p:xfrm>
          <a:off x="2006600" y="1762589"/>
          <a:ext cx="8541993" cy="4451181"/>
        </p:xfrm>
        <a:graphic>
          <a:graphicData uri="http://schemas.openxmlformats.org/drawingml/2006/table">
            <a:tbl>
              <a:tblPr/>
              <a:tblGrid>
                <a:gridCol w="2097053">
                  <a:extLst>
                    <a:ext uri="{9D8B030D-6E8A-4147-A177-3AD203B41FA5}">
                      <a16:colId xmlns:a16="http://schemas.microsoft.com/office/drawing/2014/main" val="117699188"/>
                    </a:ext>
                  </a:extLst>
                </a:gridCol>
                <a:gridCol w="1845407">
                  <a:extLst>
                    <a:ext uri="{9D8B030D-6E8A-4147-A177-3AD203B41FA5}">
                      <a16:colId xmlns:a16="http://schemas.microsoft.com/office/drawing/2014/main" val="2578738362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1997009528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1017205907"/>
                    </a:ext>
                  </a:extLst>
                </a:gridCol>
                <a:gridCol w="1971229">
                  <a:extLst>
                    <a:ext uri="{9D8B030D-6E8A-4147-A177-3AD203B41FA5}">
                      <a16:colId xmlns:a16="http://schemas.microsoft.com/office/drawing/2014/main" val="2261316009"/>
                    </a:ext>
                  </a:extLst>
                </a:gridCol>
              </a:tblGrid>
              <a:tr h="20548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6608354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01088868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4,0 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4,6 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12,42%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7973001"/>
                  </a:ext>
                </a:extLst>
              </a:tr>
              <a:tr h="20548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13184744"/>
                  </a:ext>
                </a:extLst>
              </a:tr>
              <a:tr h="3263503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Alta participación estudiantil en actividades de formación integral, investigación, movilidad académica y eventos de proyección social.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mecanismos de orientación y acompañamiento académico, a través de la Coordinación de la Maestría, tutores de trabajos de grado y programas institucionales de bienestar.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Reconocimiento de la autonomía de los estudiantes, valorada en los resultados de encuestas y en el desempeño en investigación y producción académica.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un Reglamento de Posgrados (Acuerdo 001 de 2009) y de normativas específicas de trabajo de grado (Acuerdo 001 de 2019 y Acuerdo 004 de 2022), que brindan claridad sobre procesos y derechos estudiantiles.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estímulos y apoyos económicos como descuentos en matrícula, becas institucionales y programas de bienestar universitario, que contribuyen a la permanencia.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2522" marR="72522" marT="36261" marB="3626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los canales de comunicación para mejorar la difusión de apoyos institucionales y oportunidades académicas entre la comunidad estudiantil.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Algunos estudiantes perciben insuficiente la oferta de estrategias de orientación personalizada en temas de investigación, movilidad y segunda lengua.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Retos en la ampliación y diversificación de estímulos más allá de los descuentos en matrícula, incluyendo apoyos específicos para movilidad internacional y participación en redes académicas.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oportunidades de mejora en la implementación de alertas tempranas y seguimiento más sistemático de las trayectorias académicas</a:t>
                      </a:r>
                      <a:r>
                        <a:rPr lang="es-ES" sz="1400" b="0" i="0" dirty="0">
                          <a:effectLst/>
                          <a:latin typeface="Times New Roman" panose="02020603050405020304" pitchFamily="18" charset="0"/>
                        </a:rPr>
                        <a:t>. </a:t>
                      </a:r>
                    </a:p>
                  </a:txBody>
                  <a:tcPr marL="72522" marR="72522" marT="36261" marB="3626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80744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9701022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15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3373363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3. Profesores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F2CB3C56-55EA-4923-B0D9-EF52C0F25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724904"/>
              </p:ext>
            </p:extLst>
          </p:nvPr>
        </p:nvGraphicFramePr>
        <p:xfrm>
          <a:off x="2006600" y="1825625"/>
          <a:ext cx="8541994" cy="4622450"/>
        </p:xfrm>
        <a:graphic>
          <a:graphicData uri="http://schemas.openxmlformats.org/drawingml/2006/table">
            <a:tbl>
              <a:tblPr/>
              <a:tblGrid>
                <a:gridCol w="2128402">
                  <a:extLst>
                    <a:ext uri="{9D8B030D-6E8A-4147-A177-3AD203B41FA5}">
                      <a16:colId xmlns:a16="http://schemas.microsoft.com/office/drawing/2014/main" val="1958598986"/>
                    </a:ext>
                  </a:extLst>
                </a:gridCol>
                <a:gridCol w="1872995">
                  <a:extLst>
                    <a:ext uri="{9D8B030D-6E8A-4147-A177-3AD203B41FA5}">
                      <a16:colId xmlns:a16="http://schemas.microsoft.com/office/drawing/2014/main" val="750435802"/>
                    </a:ext>
                  </a:extLst>
                </a:gridCol>
                <a:gridCol w="1333801">
                  <a:extLst>
                    <a:ext uri="{9D8B030D-6E8A-4147-A177-3AD203B41FA5}">
                      <a16:colId xmlns:a16="http://schemas.microsoft.com/office/drawing/2014/main" val="668470896"/>
                    </a:ext>
                  </a:extLst>
                </a:gridCol>
                <a:gridCol w="1333801">
                  <a:extLst>
                    <a:ext uri="{9D8B030D-6E8A-4147-A177-3AD203B41FA5}">
                      <a16:colId xmlns:a16="http://schemas.microsoft.com/office/drawing/2014/main" val="411058235"/>
                    </a:ext>
                  </a:extLst>
                </a:gridCol>
                <a:gridCol w="1872995">
                  <a:extLst>
                    <a:ext uri="{9D8B030D-6E8A-4147-A177-3AD203B41FA5}">
                      <a16:colId xmlns:a16="http://schemas.microsoft.com/office/drawing/2014/main" val="1558794602"/>
                    </a:ext>
                  </a:extLst>
                </a:gridCol>
              </a:tblGrid>
              <a:tr h="19364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155144"/>
                  </a:ext>
                </a:extLst>
              </a:tr>
              <a:tr h="31894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4206533"/>
                  </a:ext>
                </a:extLst>
              </a:tr>
              <a:tr h="31894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4,2 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4,7 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11,67%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48351"/>
                  </a:ext>
                </a:extLst>
              </a:tr>
              <a:tr h="19364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68346" marR="68346" marT="34173" marB="34173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3762960"/>
                  </a:ext>
                </a:extLst>
              </a:tr>
              <a:tr h="3326154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un Estatuto Docente (Acuerdo 011 de 2002) que regula la selección, vinculación, permanencia y evaluación del profesorado, asegurando transparencia y mérito académico.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Planta docente con alto nivel de formación, predominio de profesores con título de maestría y doctorado, y experiencia en investigación y docencia en áreas afines al programa.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Participación activa de los docentes en grupos de investigación reconocidos por Minciencias, lo que fortalece la producción científica y la pertinencia académica.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Consolidación de planes de trabajo docente que incluyen actividades de docencia, investigación, extensión y gestión académica.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estímulos institucionales para la formación avanzada, la movilidad académica y la producción investigativa, que contribuyen al desarrollo profesoral.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Evaluación docente sistemática, realizada a través de encuestas institucionales y procesos de autoevaluación que permiten retroalimentar la práctica pedagógica. 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346" marR="68346" marT="34173" marB="34173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Limitación en el número de docentes de planta dedicados de forma exclusiva al programa, lo que genera alta participación de profesores de vinculación ocasional.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los estímulos a la trayectoria profesoral, especialmente en lo relacionado con la producción académica de alto impacto y la internacionalización.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retos en la remuneración diferencial por méritos, lo que podría limitar la atracción y permanencia de profesores altamente calificados.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Algunos resultados de encuestas reflejan la percepción de los estudiantes sobre la necesidad de mayor actualización pedagógica y tecnológica en ciertos docentes.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requiere ampliar la participación del profesorado en redes académicas y proyectos internacionales a fin de robustecer la visibilidad global del programa.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68346" marR="68346" marT="34173" marB="34173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2488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08311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16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3373363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4. Egresados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6C59060F-A2BF-4D4E-923A-5730202C4B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37835"/>
              </p:ext>
            </p:extLst>
          </p:nvPr>
        </p:nvGraphicFramePr>
        <p:xfrm>
          <a:off x="2006601" y="1825625"/>
          <a:ext cx="8541993" cy="4518818"/>
        </p:xfrm>
        <a:graphic>
          <a:graphicData uri="http://schemas.openxmlformats.org/drawingml/2006/table">
            <a:tbl>
              <a:tblPr/>
              <a:tblGrid>
                <a:gridCol w="2000699">
                  <a:extLst>
                    <a:ext uri="{9D8B030D-6E8A-4147-A177-3AD203B41FA5}">
                      <a16:colId xmlns:a16="http://schemas.microsoft.com/office/drawing/2014/main" val="3357128495"/>
                    </a:ext>
                  </a:extLst>
                </a:gridCol>
                <a:gridCol w="1872995">
                  <a:extLst>
                    <a:ext uri="{9D8B030D-6E8A-4147-A177-3AD203B41FA5}">
                      <a16:colId xmlns:a16="http://schemas.microsoft.com/office/drawing/2014/main" val="1908872175"/>
                    </a:ext>
                  </a:extLst>
                </a:gridCol>
                <a:gridCol w="1461504">
                  <a:extLst>
                    <a:ext uri="{9D8B030D-6E8A-4147-A177-3AD203B41FA5}">
                      <a16:colId xmlns:a16="http://schemas.microsoft.com/office/drawing/2014/main" val="3092158355"/>
                    </a:ext>
                  </a:extLst>
                </a:gridCol>
                <a:gridCol w="1333800">
                  <a:extLst>
                    <a:ext uri="{9D8B030D-6E8A-4147-A177-3AD203B41FA5}">
                      <a16:colId xmlns:a16="http://schemas.microsoft.com/office/drawing/2014/main" val="2852813741"/>
                    </a:ext>
                  </a:extLst>
                </a:gridCol>
                <a:gridCol w="1872995">
                  <a:extLst>
                    <a:ext uri="{9D8B030D-6E8A-4147-A177-3AD203B41FA5}">
                      <a16:colId xmlns:a16="http://schemas.microsoft.com/office/drawing/2014/main" val="748750720"/>
                    </a:ext>
                  </a:extLst>
                </a:gridCol>
              </a:tblGrid>
              <a:tr h="218854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7992483"/>
                  </a:ext>
                </a:extLst>
              </a:tr>
              <a:tr h="3604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0560537"/>
                  </a:ext>
                </a:extLst>
              </a:tr>
              <a:tr h="360466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4,0 </a:t>
                      </a:r>
                      <a:endParaRPr lang="es-CO" sz="1200" b="0" i="0"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4,8 </a:t>
                      </a:r>
                      <a:endParaRPr lang="es-CO" sz="1200" b="0" i="0"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10,80%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1599550"/>
                  </a:ext>
                </a:extLst>
              </a:tr>
              <a:tr h="218854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7243" marR="77243" marT="38621" marB="386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3996253"/>
                  </a:ext>
                </a:extLst>
              </a:tr>
              <a:tr h="3192698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mecanismos de seguimiento a egresados, a través de encuestas y espacios de retroalimentación, que permiten identificar logros y necesidades de formación complementaria. </a:t>
                      </a:r>
                      <a:endParaRPr lang="es-ES" sz="12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Alta pertinencia e impacto de los egresados en el medio académico, social y productivo, evidenciada en su participación en proyectos de investigación, cargos de liderazgo y sectores estratégicos de las TIC. </a:t>
                      </a:r>
                      <a:endParaRPr lang="es-ES" sz="12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Los egresados mantienen un vínculo con el programa mediante participación en eventos académicos, conferencias, tutorías y actividades de proyección social, lo que fortalece la retroalimentación y el sentido de pertenencia. </a:t>
                      </a:r>
                      <a:endParaRPr lang="es-ES" sz="12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Reconocimiento en las encuestas a egresados que la formación recibida les ha permitido desarrollar competencias para la solución de problemas complejos y aportar a la transformación tecnológica y social. </a:t>
                      </a:r>
                      <a:endParaRPr lang="es-ES" sz="12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43" marR="77243" marT="38621" marB="3862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consolidar un sistema institucional más robusto de seguimiento y trazabilidad de la trayectoria profesional de los egresados que permita sistematizar información de empleabilidad, impacto e inserción laboral.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el fortalecimiento de la red de egresados, con mayor frecuencia de encuentros y espacios de articulación con estudiantes y docentes activos.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identifica como oportunidad la ampliación de estrategias de internacionalización para egresados, favoreciendo su participación en redes globales y movilidad académica posterior a la graduación.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Limitada disponibilidad de información sistemática sobre los aportes específicos de los egresados al sector productivo y a la innovación tecnológica.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7243" marR="77243" marT="38621" marB="3862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0631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568795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17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5915794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5. Aspectos Académicos y Resultados de Aprendizaje 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57CC5FFC-11A1-4266-B0CB-F010BF52BE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205567"/>
              </p:ext>
            </p:extLst>
          </p:nvPr>
        </p:nvGraphicFramePr>
        <p:xfrm>
          <a:off x="2006602" y="1928654"/>
          <a:ext cx="8541991" cy="4358640"/>
        </p:xfrm>
        <a:graphic>
          <a:graphicData uri="http://schemas.openxmlformats.org/drawingml/2006/table">
            <a:tbl>
              <a:tblPr/>
              <a:tblGrid>
                <a:gridCol w="2097052">
                  <a:extLst>
                    <a:ext uri="{9D8B030D-6E8A-4147-A177-3AD203B41FA5}">
                      <a16:colId xmlns:a16="http://schemas.microsoft.com/office/drawing/2014/main" val="851550513"/>
                    </a:ext>
                  </a:extLst>
                </a:gridCol>
                <a:gridCol w="1579779">
                  <a:extLst>
                    <a:ext uri="{9D8B030D-6E8A-4147-A177-3AD203B41FA5}">
                      <a16:colId xmlns:a16="http://schemas.microsoft.com/office/drawing/2014/main" val="3531546993"/>
                    </a:ext>
                  </a:extLst>
                </a:gridCol>
                <a:gridCol w="1579779">
                  <a:extLst>
                    <a:ext uri="{9D8B030D-6E8A-4147-A177-3AD203B41FA5}">
                      <a16:colId xmlns:a16="http://schemas.microsoft.com/office/drawing/2014/main" val="142547198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3375342910"/>
                    </a:ext>
                  </a:extLst>
                </a:gridCol>
                <a:gridCol w="1971229">
                  <a:extLst>
                    <a:ext uri="{9D8B030D-6E8A-4147-A177-3AD203B41FA5}">
                      <a16:colId xmlns:a16="http://schemas.microsoft.com/office/drawing/2014/main" val="3844618973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19387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99380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4,2 </a:t>
                      </a:r>
                      <a:endParaRPr lang="es-CO" sz="12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4,3 </a:t>
                      </a:r>
                      <a:endParaRPr lang="es-CO" sz="1200" b="0" i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6,75%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5953502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2271793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endParaRPr lang="es-CO" sz="1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consolidar un sistema institucional más robusto de seguimiento y trazabilidad de la trayectoria profesional de los egresados, que permita sistematizar información de empleabilidad, impacto e inserción laboral.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el fortalecimiento de la red de egresados, con mayor frecuencia de encuentros y espacios de articulación con estudiantes y docentes activos.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identifica como oportunidad la ampliación de estrategias de internacionalización para egresados, favoreciendo su participación en redes globales y movilidad académica posterior a la graduación.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Limitada disponibilidad de información sistemática sobre los aportes específicos de los egresados al sector productivo y a la innovación tecnológica.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08027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648979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18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367053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6. Permanencia y Graduación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2F3145D7-CE04-4E79-9EA2-0B7852F73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8473414"/>
              </p:ext>
            </p:extLst>
          </p:nvPr>
        </p:nvGraphicFramePr>
        <p:xfrm>
          <a:off x="2006602" y="2263934"/>
          <a:ext cx="8541991" cy="3505200"/>
        </p:xfrm>
        <a:graphic>
          <a:graphicData uri="http://schemas.openxmlformats.org/drawingml/2006/table">
            <a:tbl>
              <a:tblPr/>
              <a:tblGrid>
                <a:gridCol w="2097052">
                  <a:extLst>
                    <a:ext uri="{9D8B030D-6E8A-4147-A177-3AD203B41FA5}">
                      <a16:colId xmlns:a16="http://schemas.microsoft.com/office/drawing/2014/main" val="629415784"/>
                    </a:ext>
                  </a:extLst>
                </a:gridCol>
                <a:gridCol w="1579779">
                  <a:extLst>
                    <a:ext uri="{9D8B030D-6E8A-4147-A177-3AD203B41FA5}">
                      <a16:colId xmlns:a16="http://schemas.microsoft.com/office/drawing/2014/main" val="3210218270"/>
                    </a:ext>
                  </a:extLst>
                </a:gridCol>
                <a:gridCol w="1579779">
                  <a:extLst>
                    <a:ext uri="{9D8B030D-6E8A-4147-A177-3AD203B41FA5}">
                      <a16:colId xmlns:a16="http://schemas.microsoft.com/office/drawing/2014/main" val="2852180448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5409679"/>
                    </a:ext>
                  </a:extLst>
                </a:gridCol>
                <a:gridCol w="1971229">
                  <a:extLst>
                    <a:ext uri="{9D8B030D-6E8A-4147-A177-3AD203B41FA5}">
                      <a16:colId xmlns:a16="http://schemas.microsoft.com/office/drawing/2014/main" val="1175057345"/>
                    </a:ext>
                  </a:extLst>
                </a:gridCol>
              </a:tblGrid>
              <a:tr h="19050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84111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29454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4,0 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5,0 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7,29%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8316875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542963"/>
                  </a:ext>
                </a:extLst>
              </a:tr>
              <a:tr h="190500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endParaRPr lang="es-CO" sz="1200" b="0" i="0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la consolidación de estrategias de seguimiento a estudiantes en riesgo, especialmente en lo relacionado con acompañamiento psicosocial y fortalecimiento de competencias investigativas.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diversificar los apoyos económicos y estímulos a la permanencia, más allá de los descuentos en matrícula, incluyendo becas completas o apoyos de sostenimiento.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Algunos estudiantes señalan limitaciones en la flexibilidad de tiempos y modalidades para la culminación de los trabajos de grado.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62433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1285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19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3"/>
            <a:ext cx="5933901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7. Interacción con el Entorno Nacional e Internacional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a 15">
            <a:extLst>
              <a:ext uri="{FF2B5EF4-FFF2-40B4-BE49-F238E27FC236}">
                <a16:creationId xmlns:a16="http://schemas.microsoft.com/office/drawing/2014/main" id="{62D38E37-38EC-47A5-87EB-18CA16DD14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960069"/>
              </p:ext>
            </p:extLst>
          </p:nvPr>
        </p:nvGraphicFramePr>
        <p:xfrm>
          <a:off x="2006601" y="1825454"/>
          <a:ext cx="8541990" cy="4580232"/>
        </p:xfrm>
        <a:graphic>
          <a:graphicData uri="http://schemas.openxmlformats.org/drawingml/2006/table">
            <a:tbl>
              <a:tblPr/>
              <a:tblGrid>
                <a:gridCol w="2097053">
                  <a:extLst>
                    <a:ext uri="{9D8B030D-6E8A-4147-A177-3AD203B41FA5}">
                      <a16:colId xmlns:a16="http://schemas.microsoft.com/office/drawing/2014/main" val="3710340941"/>
                    </a:ext>
                  </a:extLst>
                </a:gridCol>
                <a:gridCol w="1845405">
                  <a:extLst>
                    <a:ext uri="{9D8B030D-6E8A-4147-A177-3AD203B41FA5}">
                      <a16:colId xmlns:a16="http://schemas.microsoft.com/office/drawing/2014/main" val="3861342667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92000796"/>
                    </a:ext>
                  </a:extLst>
                </a:gridCol>
                <a:gridCol w="1314152">
                  <a:extLst>
                    <a:ext uri="{9D8B030D-6E8A-4147-A177-3AD203B41FA5}">
                      <a16:colId xmlns:a16="http://schemas.microsoft.com/office/drawing/2014/main" val="947092662"/>
                    </a:ext>
                  </a:extLst>
                </a:gridCol>
                <a:gridCol w="1971228">
                  <a:extLst>
                    <a:ext uri="{9D8B030D-6E8A-4147-A177-3AD203B41FA5}">
                      <a16:colId xmlns:a16="http://schemas.microsoft.com/office/drawing/2014/main" val="2425426588"/>
                    </a:ext>
                  </a:extLst>
                </a:gridCol>
              </a:tblGrid>
              <a:tr h="21195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3629014"/>
                  </a:ext>
                </a:extLst>
              </a:tr>
              <a:tr h="349104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401606"/>
                  </a:ext>
                </a:extLst>
              </a:tr>
              <a:tr h="349104">
                <a:tc>
                  <a:txBody>
                    <a:bodyPr/>
                    <a:lstStyle/>
                    <a:p>
                      <a:pPr algn="l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4 </a:t>
                      </a:r>
                      <a:endParaRPr lang="es-CO" sz="1200" b="0" i="0"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4,5 </a:t>
                      </a:r>
                      <a:endParaRPr lang="es-CO" sz="1200" b="0" i="0"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10,59%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481985"/>
                  </a:ext>
                </a:extLst>
              </a:tr>
              <a:tr h="21195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4808" marR="74808" marT="37404" marB="37404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443077"/>
                  </a:ext>
                </a:extLst>
              </a:tr>
              <a:tr h="3229216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Inserción activa del programa en contextos académicos nacionales e internacionales mediante participación en congresos, redes de investigación y convenios de cooperación.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Relaciones externas sólidas de profesores y estudiantes reflejadas en proyectos conjuntos, publicaciones, pasantías y estancias académicas.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Avances en el fortalecimiento de habilidades en segunda lengua evidenciados en la exigencia institucional de certificación de competencias lingüísticas y en la lectura de bibliografía en inglés.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Disposición de docentes y estudiantes a participar en procesos de internacionalización, identificada en encuestas y ejercicios de apreciación.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 programa ha incorporado asignaturas y bibliografía en inglés, lo que contribuye al desarrollo de competencias comunicativas necesarias para la investigación y la movilidad académica.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4808" marR="74808" marT="37404" marB="37404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consolidar un sistema más estructurado de movilidad internacional que facilite la participación efectiva de un mayor número de estudiantes y docentes en experiencias en el exterior.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diferencias en el nivel de dominio de segunda lengua entre los estudiantes, lo que dificulta la homogeneización de competencias.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Limitada sistematización de resultados que evidencien el impacto de las relaciones internacionales en términos de producción académica, innovación o empleabilidad.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requiere fortalecer la visibilidad internacional del programa, mediante mayor presencia en rankings, acreditaciones internacionales y redes académicas globales.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4808" marR="74808" marT="37404" marB="37404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922994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66702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20</a:t>
            </a:fld>
            <a:endParaRPr lang="es-CO" altLang="es-CO" dirty="0"/>
          </a:p>
        </p:txBody>
      </p:sp>
      <p:sp>
        <p:nvSpPr>
          <p:cNvPr id="12" name="Rectángulo redondeado 41">
            <a:extLst>
              <a:ext uri="{FF2B5EF4-FFF2-40B4-BE49-F238E27FC236}">
                <a16:creationId xmlns:a16="http://schemas.microsoft.com/office/drawing/2014/main" id="{C34A19C9-1B1C-4733-A0CB-763101691FC3}"/>
              </a:ext>
            </a:extLst>
          </p:cNvPr>
          <p:cNvSpPr/>
          <p:nvPr/>
        </p:nvSpPr>
        <p:spPr>
          <a:xfrm>
            <a:off x="1698170" y="1124222"/>
            <a:ext cx="7871343" cy="541613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8. Aportes de la Investigación, la Innovación, el Desarrollo Tecnológico y la Creación, Asociados al Programa Académico </a:t>
            </a:r>
            <a:endParaRPr lang="es-CO" i="1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CA9C87DB-FD11-4E02-9F37-8CA46C1FF6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2406914"/>
              </p:ext>
            </p:extLst>
          </p:nvPr>
        </p:nvGraphicFramePr>
        <p:xfrm>
          <a:off x="2073245" y="1813544"/>
          <a:ext cx="8475346" cy="4798504"/>
        </p:xfrm>
        <a:graphic>
          <a:graphicData uri="http://schemas.openxmlformats.org/drawingml/2006/table">
            <a:tbl>
              <a:tblPr/>
              <a:tblGrid>
                <a:gridCol w="2566185">
                  <a:extLst>
                    <a:ext uri="{9D8B030D-6E8A-4147-A177-3AD203B41FA5}">
                      <a16:colId xmlns:a16="http://schemas.microsoft.com/office/drawing/2014/main" val="2876524056"/>
                    </a:ext>
                  </a:extLst>
                </a:gridCol>
                <a:gridCol w="2177790">
                  <a:extLst>
                    <a:ext uri="{9D8B030D-6E8A-4147-A177-3AD203B41FA5}">
                      <a16:colId xmlns:a16="http://schemas.microsoft.com/office/drawing/2014/main" val="2608051236"/>
                    </a:ext>
                  </a:extLst>
                </a:gridCol>
                <a:gridCol w="1262286">
                  <a:extLst>
                    <a:ext uri="{9D8B030D-6E8A-4147-A177-3AD203B41FA5}">
                      <a16:colId xmlns:a16="http://schemas.microsoft.com/office/drawing/2014/main" val="197480429"/>
                    </a:ext>
                  </a:extLst>
                </a:gridCol>
                <a:gridCol w="1179057">
                  <a:extLst>
                    <a:ext uri="{9D8B030D-6E8A-4147-A177-3AD203B41FA5}">
                      <a16:colId xmlns:a16="http://schemas.microsoft.com/office/drawing/2014/main" val="3645877605"/>
                    </a:ext>
                  </a:extLst>
                </a:gridCol>
                <a:gridCol w="1290028">
                  <a:extLst>
                    <a:ext uri="{9D8B030D-6E8A-4147-A177-3AD203B41FA5}">
                      <a16:colId xmlns:a16="http://schemas.microsoft.com/office/drawing/2014/main" val="3220132424"/>
                    </a:ext>
                  </a:extLst>
                </a:gridCol>
              </a:tblGrid>
              <a:tr h="23409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3109057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1068730"/>
                  </a:ext>
                </a:extLst>
              </a:tr>
              <a:tr h="38556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effectLst/>
                          <a:latin typeface="Times New Roman" panose="02020603050405020304" pitchFamily="18" charset="0"/>
                        </a:rPr>
                        <a:t>Se cumple aceptablemente </a:t>
                      </a:r>
                      <a:endParaRPr lang="es-CO" sz="1200" b="0" i="0"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effectLst/>
                          <a:latin typeface="Times New Roman" panose="02020603050405020304" pitchFamily="18" charset="0"/>
                        </a:rPr>
                        <a:t>3,4 </a:t>
                      </a:r>
                      <a:endParaRPr lang="es-CO" sz="1200" b="0" i="0"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effectLst/>
                          <a:latin typeface="Times New Roman" panose="02020603050405020304" pitchFamily="18" charset="0"/>
                        </a:rPr>
                        <a:t>4,5 </a:t>
                      </a:r>
                      <a:endParaRPr lang="es-CO" sz="1200" b="0" i="0"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4,79%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291294"/>
                  </a:ext>
                </a:extLst>
              </a:tr>
              <a:tr h="23409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82620" marR="82620" marT="41310" marB="4131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6572993"/>
                  </a:ext>
                </a:extLst>
              </a:tr>
              <a:tr h="3112033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El programa se fundamenta en un enfoque investigativo y de profundización, con líneas activas en Teleinformática, Ingeniería de Software, Geomática e Inteligencia Artificial.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Participación de docentes y estudiantes en grupos de investigación categorizados por Minciencias, lo que garantiza pertinencia y calidad en la producción académica.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Incorporación de la investigación como eje transversal en la formación, evidenciada en los trabajos de grado, publicaciones y participación en proyectos financiados.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convenios de cooperación académica y científica que fortalecen la innovación y la proyección del conocimiento en redes nacionales e internacionales.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Producción académica creciente de los estudiantes, con ponencias, artículos y participación en eventos científicos, que contribuye a la visibilidad del programa.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2620" marR="82620" marT="41310" marB="4131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ampliar la difusión y visibilidad de los productos de investigación del programa en revistas de alto impacto y escenarios internacionales.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el financiamiento sostenido de proyectos de innovación y desarrollo tecnológico, especialmente en lo relacionado con convocatorias externas.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Limitada articulación sistemática de los proyectos de investigación con el sector productivo y social, lo que reduce la transferencia de conocimiento.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 de fortalecer las estrategias de innovación y creación como componentes diferenciadores del programa frente a otras maestrías similares.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82620" marR="82620" marT="41310" marB="4131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482789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47505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21</a:t>
            </a:fld>
            <a:endParaRPr lang="es-CO" alt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41">
            <a:extLst>
              <a:ext uri="{FF2B5EF4-FFF2-40B4-BE49-F238E27FC236}">
                <a16:creationId xmlns:a16="http://schemas.microsoft.com/office/drawing/2014/main" id="{F715A904-6143-4895-A69A-CA426D84D6F1}"/>
              </a:ext>
            </a:extLst>
          </p:cNvPr>
          <p:cNvSpPr/>
          <p:nvPr/>
        </p:nvSpPr>
        <p:spPr>
          <a:xfrm>
            <a:off x="1698170" y="1124223"/>
            <a:ext cx="6133381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9. Bienestar de la comunidad académica del programa</a:t>
            </a:r>
            <a:endParaRPr lang="es-CO" i="1" dirty="0"/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9B2DABE3-40D5-4801-BC3D-380D548314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535709"/>
              </p:ext>
            </p:extLst>
          </p:nvPr>
        </p:nvGraphicFramePr>
        <p:xfrm>
          <a:off x="2073244" y="1661312"/>
          <a:ext cx="8475346" cy="4445940"/>
        </p:xfrm>
        <a:graphic>
          <a:graphicData uri="http://schemas.openxmlformats.org/drawingml/2006/table">
            <a:tbl>
              <a:tblPr/>
              <a:tblGrid>
                <a:gridCol w="2084101">
                  <a:extLst>
                    <a:ext uri="{9D8B030D-6E8A-4147-A177-3AD203B41FA5}">
                      <a16:colId xmlns:a16="http://schemas.microsoft.com/office/drawing/2014/main" val="1693273235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2942138727"/>
                    </a:ext>
                  </a:extLst>
                </a:gridCol>
                <a:gridCol w="1167097">
                  <a:extLst>
                    <a:ext uri="{9D8B030D-6E8A-4147-A177-3AD203B41FA5}">
                      <a16:colId xmlns:a16="http://schemas.microsoft.com/office/drawing/2014/main" val="4129401340"/>
                    </a:ext>
                  </a:extLst>
                </a:gridCol>
                <a:gridCol w="1306038">
                  <a:extLst>
                    <a:ext uri="{9D8B030D-6E8A-4147-A177-3AD203B41FA5}">
                      <a16:colId xmlns:a16="http://schemas.microsoft.com/office/drawing/2014/main" val="949980444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1538585614"/>
                    </a:ext>
                  </a:extLst>
                </a:gridCol>
              </a:tblGrid>
              <a:tr h="20211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8844860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588164"/>
                  </a:ext>
                </a:extLst>
              </a:tr>
              <a:tr h="332889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4,1 </a:t>
                      </a:r>
                      <a:endParaRPr lang="es-CO" sz="1200" b="0" i="0"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4,8 </a:t>
                      </a:r>
                      <a:endParaRPr lang="es-CO" sz="1200" b="0" i="0"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6,41%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1311956"/>
                  </a:ext>
                </a:extLst>
              </a:tr>
              <a:tr h="20211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1333" marR="71333" marT="35667" marB="35667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8880138"/>
                  </a:ext>
                </a:extLst>
              </a:tr>
              <a:tr h="3079225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una política institucional de Bienestar Universitario con programas dirigidos a la salud, cultura, deporte, desarrollo humano y acompañamiento psicosocial.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apoyos y servicios para estudiantes de posgrado, incluyendo orientación psicológica, asesorías académicas y actividades de formación integral.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Reconocimiento por parte de estudiantes y docentes de la pertinencia y utilidad de los programas de bienestar, lo que fortalece la permanencia y la calidad de vida universitaria.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Inclusión de los estudiantes de la Maestría en actividades culturales, deportivas y de integración institucional, promoviendo el sentido de pertenencia y la cohesión de la comunidad académica.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Mecanismos de seguimiento a la participación en actividades de bienestar que permiten evaluar el alcance y la pertinencia de los servicios ofrecidos.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la difusión de las actividades y servicios de bienestar entre los estudiantes de posgrado, ya que algunos manifiestan desconocimiento de la oferta disponible.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la adaptación de programas de bienestar a las necesidades específicas de estudiantes de maestría, considerando sus características laborales y de disponibilidad de tiempo.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Limitada sistematización de información sobre el impacto de los programas de bienestar en la permanencia y el rendimiento académico.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 de ampliar los apoyos financieros y de sostenimiento como complemento a los servicios de bienestar, en especial para movilidad académica y culminación de trabajos de grado.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1333" marR="71333" marT="35667" marB="35667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01113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66550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22</a:t>
            </a:fld>
            <a:endParaRPr lang="es-CO" alt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41">
            <a:extLst>
              <a:ext uri="{FF2B5EF4-FFF2-40B4-BE49-F238E27FC236}">
                <a16:creationId xmlns:a16="http://schemas.microsoft.com/office/drawing/2014/main" id="{F715A904-6143-4895-A69A-CA426D84D6F1}"/>
              </a:ext>
            </a:extLst>
          </p:cNvPr>
          <p:cNvSpPr/>
          <p:nvPr/>
        </p:nvSpPr>
        <p:spPr>
          <a:xfrm>
            <a:off x="1698170" y="1124223"/>
            <a:ext cx="5671351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10. Medios educativos y ambientes de aprendizaje</a:t>
            </a:r>
            <a:endParaRPr lang="es-CO" i="1" dirty="0"/>
          </a:p>
        </p:txBody>
      </p:sp>
      <p:graphicFrame>
        <p:nvGraphicFramePr>
          <p:cNvPr id="11" name="Tabla 10">
            <a:extLst>
              <a:ext uri="{FF2B5EF4-FFF2-40B4-BE49-F238E27FC236}">
                <a16:creationId xmlns:a16="http://schemas.microsoft.com/office/drawing/2014/main" id="{423A869D-5E25-4DFA-B3F5-0B0DA2D4D6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26438"/>
              </p:ext>
            </p:extLst>
          </p:nvPr>
        </p:nvGraphicFramePr>
        <p:xfrm>
          <a:off x="2073244" y="1591889"/>
          <a:ext cx="8475345" cy="4459430"/>
        </p:xfrm>
        <a:graphic>
          <a:graphicData uri="http://schemas.openxmlformats.org/drawingml/2006/table">
            <a:tbl>
              <a:tblPr/>
              <a:tblGrid>
                <a:gridCol w="2084102">
                  <a:extLst>
                    <a:ext uri="{9D8B030D-6E8A-4147-A177-3AD203B41FA5}">
                      <a16:colId xmlns:a16="http://schemas.microsoft.com/office/drawing/2014/main" val="1591191001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2285420393"/>
                    </a:ext>
                  </a:extLst>
                </a:gridCol>
                <a:gridCol w="1431083">
                  <a:extLst>
                    <a:ext uri="{9D8B030D-6E8A-4147-A177-3AD203B41FA5}">
                      <a16:colId xmlns:a16="http://schemas.microsoft.com/office/drawing/2014/main" val="1343536901"/>
                    </a:ext>
                  </a:extLst>
                </a:gridCol>
                <a:gridCol w="1042050">
                  <a:extLst>
                    <a:ext uri="{9D8B030D-6E8A-4147-A177-3AD203B41FA5}">
                      <a16:colId xmlns:a16="http://schemas.microsoft.com/office/drawing/2014/main" val="1100750159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1769937263"/>
                    </a:ext>
                  </a:extLst>
                </a:gridCol>
              </a:tblGrid>
              <a:tr h="22621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636827"/>
                  </a:ext>
                </a:extLst>
              </a:tr>
              <a:tr h="37259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7650183"/>
                  </a:ext>
                </a:extLst>
              </a:tr>
              <a:tr h="37259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4,0 </a:t>
                      </a:r>
                      <a:endParaRPr lang="es-CO" sz="1200" b="0" i="0"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5,0 </a:t>
                      </a:r>
                      <a:endParaRPr lang="es-CO" sz="1200" b="0" i="0"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6,88%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8628988"/>
                  </a:ext>
                </a:extLst>
              </a:tr>
              <a:tr h="226216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9841" marR="79841" marT="39921" marB="3992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0756868"/>
                  </a:ext>
                </a:extLst>
              </a:tr>
              <a:tr h="3153722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estrategias institucionales de apoyo a la docencia mediante capacitación pedagógica, acompañamiento en innovación educativa y acceso a herramientas digitales.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recursos de apoyo a estudiantes, como aulas virtuales, bibliotecas físicas y digitales, laboratorios especializados y plataformas de aprendizaje colaborativo.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Acceso a recursos bibliográficos y bases de datos internacionales (IEEE Xplore, Scopus, ScienceDirect, Springer, entre otros), que respaldan la formación investigativa y el trabajo autónomo.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Incorporación de ambientes de aprendizaje flexibles y modernos que facilitan la docencia presencial, virtual y combinada.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Reconocimiento positivo en las encuestas estudiantiles respecto a la pertinencia de los medios educativos, especialmente en el acceso a información científica y tecnológica actualizada.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41" marR="79841" marT="39921" marB="3992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la actualización periódica de equipos y software especializado para mantener la pertinencia frente a las demandas emergentes de las TIC.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limitaciones en la integración de todos los recursos en un sistema unificado de gestión del aprendizaje, lo que puede generar dispersión en el acceso.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 de mejorar los programas de capacitación docente en el uso avanzado de medios tecnológicos y pedagógicos innovadores.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None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Algunos estudiantes perciben insuficiencia en la disponibilidad de ciertos recursos bibliográficos físicos y sugieren ampliar la cobertura digital en áreas específicas.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9841" marR="79841" marT="39921" marB="3992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90200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384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23</a:t>
            </a:fld>
            <a:endParaRPr lang="es-CO" alt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41">
            <a:extLst>
              <a:ext uri="{FF2B5EF4-FFF2-40B4-BE49-F238E27FC236}">
                <a16:creationId xmlns:a16="http://schemas.microsoft.com/office/drawing/2014/main" id="{F715A904-6143-4895-A69A-CA426D84D6F1}"/>
              </a:ext>
            </a:extLst>
          </p:cNvPr>
          <p:cNvSpPr/>
          <p:nvPr/>
        </p:nvSpPr>
        <p:spPr>
          <a:xfrm>
            <a:off x="1698170" y="1124223"/>
            <a:ext cx="7771755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11. Organización, administración y financiación del programa académico</a:t>
            </a:r>
            <a:endParaRPr lang="es-CO" i="1" dirty="0"/>
          </a:p>
        </p:txBody>
      </p:sp>
      <p:graphicFrame>
        <p:nvGraphicFramePr>
          <p:cNvPr id="12" name="Tabla 11">
            <a:extLst>
              <a:ext uri="{FF2B5EF4-FFF2-40B4-BE49-F238E27FC236}">
                <a16:creationId xmlns:a16="http://schemas.microsoft.com/office/drawing/2014/main" id="{EB8B8C5D-821D-4717-BAB1-08BAF9012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5699467"/>
              </p:ext>
            </p:extLst>
          </p:nvPr>
        </p:nvGraphicFramePr>
        <p:xfrm>
          <a:off x="2073243" y="1725494"/>
          <a:ext cx="8475346" cy="4755362"/>
        </p:xfrm>
        <a:graphic>
          <a:graphicData uri="http://schemas.openxmlformats.org/drawingml/2006/table">
            <a:tbl>
              <a:tblPr/>
              <a:tblGrid>
                <a:gridCol w="2084103">
                  <a:extLst>
                    <a:ext uri="{9D8B030D-6E8A-4147-A177-3AD203B41FA5}">
                      <a16:colId xmlns:a16="http://schemas.microsoft.com/office/drawing/2014/main" val="3287428150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2215774357"/>
                    </a:ext>
                  </a:extLst>
                </a:gridCol>
                <a:gridCol w="1167096">
                  <a:extLst>
                    <a:ext uri="{9D8B030D-6E8A-4147-A177-3AD203B41FA5}">
                      <a16:colId xmlns:a16="http://schemas.microsoft.com/office/drawing/2014/main" val="2350281858"/>
                    </a:ext>
                  </a:extLst>
                </a:gridCol>
                <a:gridCol w="1306037">
                  <a:extLst>
                    <a:ext uri="{9D8B030D-6E8A-4147-A177-3AD203B41FA5}">
                      <a16:colId xmlns:a16="http://schemas.microsoft.com/office/drawing/2014/main" val="2976795667"/>
                    </a:ext>
                  </a:extLst>
                </a:gridCol>
                <a:gridCol w="1959055">
                  <a:extLst>
                    <a:ext uri="{9D8B030D-6E8A-4147-A177-3AD203B41FA5}">
                      <a16:colId xmlns:a16="http://schemas.microsoft.com/office/drawing/2014/main" val="4217089440"/>
                    </a:ext>
                  </a:extLst>
                </a:gridCol>
              </a:tblGrid>
              <a:tr h="16116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4449899"/>
                  </a:ext>
                </a:extLst>
              </a:tr>
              <a:tr h="26544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0519732"/>
                  </a:ext>
                </a:extLst>
              </a:tr>
              <a:tr h="26544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6,68%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3032416"/>
                  </a:ext>
                </a:extLst>
              </a:tr>
              <a:tr h="161161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56880" marR="56880" marT="28440" marB="28440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38098526"/>
                  </a:ext>
                </a:extLst>
              </a:tr>
              <a:tr h="3498134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Existencia de una estructura organizacional definida y respaldada por normativa institucional (Acuerdos 004 de 1996, 003 de 1997, 011 de 2002, 001 de 2020), que garantiza transparencia y gobernanza académica.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Funcionamiento activo de instancias como el Consejo Curricular y la Coordinación del Proyecto Curricular, con participación de profesores, estudiantes y egresados.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Articulación del programa con el Plan Estratégico de Desarrollo Institucional 2018–2030, mediante herramientas como SISGPLAN y el Sistema Integrado de Gestión – SIGUD, que aseguran planeación y control.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sistemas de comunicación e información institucionales (Cóndor, SICAPITAL, SISGRAL, entre otros) que facilitan la gestión académica, administrativa y documental.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Correspondencia entre el número de estudiantes y la capacidad institucional, evidenciada en indicadores de suficiencia docente e infraestructura adecuada.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Esquema de financiación sólido basado en ingresos por matrícula, recursos institucionales y proyectos de investigación y extensión.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1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Consolidación de una cultura de aseguramiento de la calidad y mejora continua con procesos regulares de autoevaluación, planes de mejoramiento y rendición de cuentas. </a:t>
                      </a:r>
                      <a:endParaRPr lang="es-ES" sz="11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880" marR="56880" marT="28440" marB="284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la difusión de los procesos de gestión interna entre toda la comunidad académica para incrementar la participación y apropiación.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desafíos en la diversificación de fuentes de financiación, lo que limita la inversión sostenida en innovación y proyección social.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 de mejorar la interoperabilidad y usabilidad de las plataformas digitales para reducir la dispersión de sistemas de información.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requiere avanzar en la sistematización de resultados de impacto de los planes de mejora para consolidar la trazabilidad de los procesos de aseguramiento de la calidad.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56880" marR="56880" marT="28440" marB="28440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4006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6718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42">
            <a:extLst>
              <a:ext uri="{FF2B5EF4-FFF2-40B4-BE49-F238E27FC236}">
                <a16:creationId xmlns:a16="http://schemas.microsoft.com/office/drawing/2014/main" id="{802BC193-F815-4D3B-9EBE-81A3474B1B15}"/>
              </a:ext>
            </a:extLst>
          </p:cNvPr>
          <p:cNvSpPr/>
          <p:nvPr/>
        </p:nvSpPr>
        <p:spPr>
          <a:xfrm>
            <a:off x="10920583" y="6395167"/>
            <a:ext cx="601760" cy="271454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b="1" i="1" dirty="0">
              <a:solidFill>
                <a:schemeClr val="bg1"/>
              </a:solidFill>
            </a:endParaRP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100E0C7A-6736-41D7-90EF-BB70D7A68892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FDF6619E-13F2-4952-9CFE-BA2AE7EC1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7CF488-D59D-4E4A-8A12-78226D1BE8BC}" type="slidenum">
              <a:rPr lang="es-CO" altLang="es-CO" smtClean="0"/>
              <a:pPr/>
              <a:t>24</a:t>
            </a:fld>
            <a:endParaRPr lang="es-CO" altLang="es-CO" dirty="0"/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C0466A5A-3151-41C1-BC34-AD2A45754218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E682050E-7170-4790-B8BB-70389986E0C8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EC488808-F844-4F64-8E79-0FEC4ED10061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17" name="Conector recto 16">
            <a:extLst>
              <a:ext uri="{FF2B5EF4-FFF2-40B4-BE49-F238E27FC236}">
                <a16:creationId xmlns:a16="http://schemas.microsoft.com/office/drawing/2014/main" id="{CDED684A-414D-40E6-A73E-63FA09272B46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ángulo redondeado 41">
            <a:extLst>
              <a:ext uri="{FF2B5EF4-FFF2-40B4-BE49-F238E27FC236}">
                <a16:creationId xmlns:a16="http://schemas.microsoft.com/office/drawing/2014/main" id="{F715A904-6143-4895-A69A-CA426D84D6F1}"/>
              </a:ext>
            </a:extLst>
          </p:cNvPr>
          <p:cNvSpPr/>
          <p:nvPr/>
        </p:nvSpPr>
        <p:spPr>
          <a:xfrm>
            <a:off x="1698171" y="1124223"/>
            <a:ext cx="4096048" cy="426720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Factor 12. </a:t>
            </a:r>
            <a:r>
              <a:rPr lang="es-CO" b="1" i="1" dirty="0"/>
              <a:t>Recursos físicos y tecnológicos</a:t>
            </a:r>
            <a:endParaRPr lang="es-CO" i="1" dirty="0"/>
          </a:p>
        </p:txBody>
      </p:sp>
      <p:graphicFrame>
        <p:nvGraphicFramePr>
          <p:cNvPr id="18" name="Tabla 17">
            <a:extLst>
              <a:ext uri="{FF2B5EF4-FFF2-40B4-BE49-F238E27FC236}">
                <a16:creationId xmlns:a16="http://schemas.microsoft.com/office/drawing/2014/main" id="{F98866D3-A9BA-4D8E-9568-01BA6082D8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75752473"/>
              </p:ext>
            </p:extLst>
          </p:nvPr>
        </p:nvGraphicFramePr>
        <p:xfrm>
          <a:off x="2073244" y="1694009"/>
          <a:ext cx="8475346" cy="4552040"/>
        </p:xfrm>
        <a:graphic>
          <a:graphicData uri="http://schemas.openxmlformats.org/drawingml/2006/table">
            <a:tbl>
              <a:tblPr/>
              <a:tblGrid>
                <a:gridCol w="1981797">
                  <a:extLst>
                    <a:ext uri="{9D8B030D-6E8A-4147-A177-3AD203B41FA5}">
                      <a16:colId xmlns:a16="http://schemas.microsoft.com/office/drawing/2014/main" val="2499123493"/>
                    </a:ext>
                  </a:extLst>
                </a:gridCol>
                <a:gridCol w="2515899">
                  <a:extLst>
                    <a:ext uri="{9D8B030D-6E8A-4147-A177-3AD203B41FA5}">
                      <a16:colId xmlns:a16="http://schemas.microsoft.com/office/drawing/2014/main" val="3846992192"/>
                    </a:ext>
                  </a:extLst>
                </a:gridCol>
                <a:gridCol w="1335254">
                  <a:extLst>
                    <a:ext uri="{9D8B030D-6E8A-4147-A177-3AD203B41FA5}">
                      <a16:colId xmlns:a16="http://schemas.microsoft.com/office/drawing/2014/main" val="10945052"/>
                    </a:ext>
                  </a:extLst>
                </a:gridCol>
                <a:gridCol w="1321198">
                  <a:extLst>
                    <a:ext uri="{9D8B030D-6E8A-4147-A177-3AD203B41FA5}">
                      <a16:colId xmlns:a16="http://schemas.microsoft.com/office/drawing/2014/main" val="1772393129"/>
                    </a:ext>
                  </a:extLst>
                </a:gridCol>
                <a:gridCol w="1321198">
                  <a:extLst>
                    <a:ext uri="{9D8B030D-6E8A-4147-A177-3AD203B41FA5}">
                      <a16:colId xmlns:a16="http://schemas.microsoft.com/office/drawing/2014/main" val="4058682965"/>
                    </a:ext>
                  </a:extLst>
                </a:gridCol>
              </a:tblGrid>
              <a:tr h="20548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Grado de cumplimiento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Calificación numérica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Ponderación del factor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8641011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Anterior 2020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Actual 2025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17886"/>
                  </a:ext>
                </a:extLst>
              </a:tr>
              <a:tr h="338437"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ES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cumple en alto grado </a:t>
                      </a:r>
                      <a:endParaRPr lang="es-ES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3,9 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5,0 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3,64% </a:t>
                      </a:r>
                      <a:endParaRPr lang="es-CO" sz="1200" b="0" i="0" dirty="0"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9060069"/>
                  </a:ext>
                </a:extLst>
              </a:tr>
              <a:tr h="205480"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Fortalezas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Oportunidades de mejora</a:t>
                      </a:r>
                      <a:r>
                        <a:rPr lang="es-CO" sz="1200" b="0" i="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1200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 marL="72522" marR="72522" marT="36261" marB="36261"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6890821"/>
                  </a:ext>
                </a:extLst>
              </a:tr>
              <a:tr h="3263503">
                <a:tc gridSpan="2">
                  <a:txBody>
                    <a:bodyPr/>
                    <a:lstStyle/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Disponibilidad de infraestructura física adecuada, con aulas equipadas, laboratorios especializados y espacios de aprendizaje modernos.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Acceso a recursos tecnológicos actualizados que respaldan la formación en Teleinformática, Ingeniería de Software, Geomática e Inteligencia Artificial.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Dotación de recursos informáticos y de comunicación institucionales (Cóndor, SIGUD, SISGRAL, plataformas de aula virtual, software especializado) que facilitan la gestión académica y el aprendizaje.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Acceso institucional a bibliotecas digitales y bases de datos de alto impacto (IEEE Xplore, ScienceDirect, Scopus, Springer, entre otras) que fortalecen la investigación.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Reconocimiento positivo de estudiantes y docentes sobre la pertinencia y suficiencia de los recursos físicos y tecnológicos en los resultados de la autoevaluación.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200" b="0" i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Inclusión de protocolos de gestión documental y comunicación institucional que aseguran transparencia, trazabilidad y acceso oportuno a la información. </a:t>
                      </a:r>
                      <a:endParaRPr lang="es-ES" sz="1200" b="0" i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2522" marR="72522" marT="36261" marB="3626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Necesidad de fortalecer la renovación periódica de equipos de cómputo y licencias de software especializado para mantener la pertinencia frente a tendencias emergentes.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Persisten limitaciones en la interoperabilidad entre plataformas y sistemas digitales, lo que genera dispersión en el acceso a recursos.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Oportunidad de ampliar la capacitación docente y estudiantil en el uso avanzado de herramientas tecnológicas y de comunicación.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  <a:p>
                      <a:pPr marL="285750" indent="-285750" algn="just" rtl="0" fontAlgn="base">
                        <a:buFont typeface="Arial" panose="020B0604020202020204" pitchFamily="34" charset="0"/>
                        <a:buChar char="•"/>
                      </a:pPr>
                      <a:r>
                        <a:rPr lang="es-ES" sz="1400" b="0" i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 requiere consolidar un sistema más estructurado de evaluación de impacto del uso de recursos físicos y tecnológicos en el logro de los resultados de aprendizaje. </a:t>
                      </a:r>
                      <a:endParaRPr lang="es-ES" sz="1400" b="0" i="0" dirty="0"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72522" marR="72522" marT="36261" marB="36261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6323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38137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8959DEF-F975-4970-BDDA-E1F641545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6877081"/>
              </p:ext>
            </p:extLst>
          </p:nvPr>
        </p:nvGraphicFramePr>
        <p:xfrm>
          <a:off x="838199" y="1832928"/>
          <a:ext cx="10587088" cy="6066144"/>
        </p:xfrm>
        <a:graphic>
          <a:graphicData uri="http://schemas.openxmlformats.org/drawingml/2006/table">
            <a:tbl>
              <a:tblPr/>
              <a:tblGrid>
                <a:gridCol w="2374674">
                  <a:extLst>
                    <a:ext uri="{9D8B030D-6E8A-4147-A177-3AD203B41FA5}">
                      <a16:colId xmlns:a16="http://schemas.microsoft.com/office/drawing/2014/main" val="2248234423"/>
                    </a:ext>
                  </a:extLst>
                </a:gridCol>
                <a:gridCol w="2106109">
                  <a:extLst>
                    <a:ext uri="{9D8B030D-6E8A-4147-A177-3AD203B41FA5}">
                      <a16:colId xmlns:a16="http://schemas.microsoft.com/office/drawing/2014/main" val="1365072667"/>
                    </a:ext>
                  </a:extLst>
                </a:gridCol>
                <a:gridCol w="2539143">
                  <a:extLst>
                    <a:ext uri="{9D8B030D-6E8A-4147-A177-3AD203B41FA5}">
                      <a16:colId xmlns:a16="http://schemas.microsoft.com/office/drawing/2014/main" val="414483496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3971890211"/>
                    </a:ext>
                  </a:extLst>
                </a:gridCol>
                <a:gridCol w="580515">
                  <a:extLst>
                    <a:ext uri="{9D8B030D-6E8A-4147-A177-3AD203B41FA5}">
                      <a16:colId xmlns:a16="http://schemas.microsoft.com/office/drawing/2014/main" val="137590835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724488823"/>
                    </a:ext>
                  </a:extLst>
                </a:gridCol>
              </a:tblGrid>
              <a:tr h="541332"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Factor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200" b="1" i="0" dirty="0">
                          <a:effectLst/>
                          <a:latin typeface="Times New Roman" panose="02020603050405020304" pitchFamily="18" charset="0"/>
                        </a:rPr>
                        <a:t>Descripción de fortaleza u oportunidad de mejora</a:t>
                      </a:r>
                      <a:r>
                        <a:rPr lang="es-ES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200" b="1" i="0" dirty="0">
                          <a:effectLst/>
                          <a:latin typeface="Times New Roman" panose="02020603050405020304" pitchFamily="18" charset="0"/>
                        </a:rPr>
                        <a:t>Nombre del proyecto o acción a ejecutar</a:t>
                      </a:r>
                      <a:r>
                        <a:rPr lang="es-ES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Meta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Período de ejecución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5844"/>
                  </a:ext>
                </a:extLst>
              </a:tr>
              <a:tr h="541332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Inicio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Finalización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865439"/>
                  </a:ext>
                </a:extLst>
              </a:tr>
              <a:tr h="72177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1. PROYECTO EDUCATIVO DEL PROGRAMA E IDENTIDAD INSTITUCIONAL</a:t>
                      </a:r>
                      <a:endParaRPr lang="es-CO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Propender por la internacionalización de la Maestría en CIC a través de la suscripción de convenios de cooperación internacional orientados a estancias, pasantías y/o a la doble titulación</a:t>
                      </a:r>
                      <a:endParaRPr lang="es-CO" sz="1100" b="0" i="0" dirty="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Convenios con universidades del exterior de alto nivel para la realización de pasantías, estancias y/o doble titulación.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Suscribir al menos un (1) convenio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943857"/>
                  </a:ext>
                </a:extLst>
              </a:tr>
              <a:tr h="511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2. ESTUDIANTES</a:t>
                      </a:r>
                      <a:endParaRPr lang="es-CO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Facilitar e incentivar la participación de los estudiantes en cursos o módulos de lectura, escritura y comunicación científica en inglés</a:t>
                      </a:r>
                      <a:endParaRPr lang="es-CO" sz="1100" b="0" i="0" dirty="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Fortalecer la formación en competencias comunicativas en segunda lengua.</a:t>
                      </a:r>
                      <a:r>
                        <a:rPr lang="es-CO" sz="11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Establecer convenio con ILUD, para  la realización de cursos especiales con destino a la Maestría en CIC.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121284"/>
                  </a:ext>
                </a:extLst>
              </a:tr>
              <a:tr h="511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3. PROFESORES</a:t>
                      </a:r>
                      <a:endParaRPr lang="es-CO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Desarrollar una oferta flexible de asignaturas con metodologías mixtas (presencial–mediada por tecnologías) que faciliten el acceso al proceso formativo y en segunda lengua (inglés).</a:t>
                      </a:r>
                      <a:endParaRPr lang="es-CO" sz="1100" b="0" i="0" dirty="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Promover la inclusión de cursos con componentes híbridos o virtuales en español e ingles.</a:t>
                      </a:r>
                      <a:endParaRPr lang="es-CO" sz="1100" b="0" i="0" dirty="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Cincuenta (50%) por ciento del programa de estudios en modalidad hibrida en español e inglés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802025"/>
                  </a:ext>
                </a:extLst>
              </a:tr>
              <a:tr h="51125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4. EGRESADOS</a:t>
                      </a:r>
                      <a:endParaRPr lang="es-CO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Consolidar mecanismos de seguimiento a egresados y su impacto en el medio laboral.</a:t>
                      </a:r>
                      <a:endParaRPr lang="es-CO" sz="1100" b="0" i="0" dirty="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Proponer a la Oficina de egresados de la Universidad la creación de una plataforma tecnológica que permita mantener comunicación permanente con los egresados.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Plataforma tecnológica con acceso a los diferentes proyectos curriculares.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|||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456182"/>
                  </a:ext>
                </a:extLst>
              </a:tr>
              <a:tr h="69233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5. ASPECTOS ACADÉMICOS Y RESULTADOS DE APRENDIZAJE</a:t>
                      </a:r>
                      <a:endParaRPr lang="es-CO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Actualizar y optimizar el uso de recursos tecnológicos e informáticos especializados.</a:t>
                      </a:r>
                      <a:endParaRPr lang="es-CO" sz="1100" b="0" i="0" dirty="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Renovar continuamente  las licencias de software académico, fortalecer la capacitación en las mismas.</a:t>
                      </a:r>
                      <a:endParaRPr lang="es-CO" sz="1100" b="0" i="0" dirty="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Contar con licencias de software especializado activas durante todo el tiempo.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7254344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F85AC3F-EF8A-4B8E-8D3E-B0DE6A497506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896F2FA-2A10-4B90-B49F-55FCB48B5BB3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A0089AF8-6414-46B9-9F1B-DE043F89099A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57B25C20-FEB2-44A2-9952-56FC2F1E6C63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48D568D3-F599-46B7-9B11-246DA3AC26B5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redondeado 41">
            <a:extLst>
              <a:ext uri="{FF2B5EF4-FFF2-40B4-BE49-F238E27FC236}">
                <a16:creationId xmlns:a16="http://schemas.microsoft.com/office/drawing/2014/main" id="{D23B0167-47BA-487F-A36C-91199C2F7AA8}"/>
              </a:ext>
            </a:extLst>
          </p:cNvPr>
          <p:cNvSpPr/>
          <p:nvPr/>
        </p:nvSpPr>
        <p:spPr>
          <a:xfrm>
            <a:off x="1669141" y="1244167"/>
            <a:ext cx="5080001" cy="369261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PLAN DE MEJORAMIENTO RENOVACION AAC</a:t>
            </a:r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370730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8959DEF-F975-4970-BDDA-E1F641545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9096695"/>
              </p:ext>
            </p:extLst>
          </p:nvPr>
        </p:nvGraphicFramePr>
        <p:xfrm>
          <a:off x="838199" y="1832928"/>
          <a:ext cx="10587088" cy="6104567"/>
        </p:xfrm>
        <a:graphic>
          <a:graphicData uri="http://schemas.openxmlformats.org/drawingml/2006/table">
            <a:tbl>
              <a:tblPr/>
              <a:tblGrid>
                <a:gridCol w="2374674">
                  <a:extLst>
                    <a:ext uri="{9D8B030D-6E8A-4147-A177-3AD203B41FA5}">
                      <a16:colId xmlns:a16="http://schemas.microsoft.com/office/drawing/2014/main" val="2248234423"/>
                    </a:ext>
                  </a:extLst>
                </a:gridCol>
                <a:gridCol w="2106109">
                  <a:extLst>
                    <a:ext uri="{9D8B030D-6E8A-4147-A177-3AD203B41FA5}">
                      <a16:colId xmlns:a16="http://schemas.microsoft.com/office/drawing/2014/main" val="1365072667"/>
                    </a:ext>
                  </a:extLst>
                </a:gridCol>
                <a:gridCol w="1978895">
                  <a:extLst>
                    <a:ext uri="{9D8B030D-6E8A-4147-A177-3AD203B41FA5}">
                      <a16:colId xmlns:a16="http://schemas.microsoft.com/office/drawing/2014/main" val="414483496"/>
                    </a:ext>
                  </a:extLst>
                </a:gridCol>
                <a:gridCol w="1583116">
                  <a:extLst>
                    <a:ext uri="{9D8B030D-6E8A-4147-A177-3AD203B41FA5}">
                      <a16:colId xmlns:a16="http://schemas.microsoft.com/office/drawing/2014/main" val="397189021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137590835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724488823"/>
                    </a:ext>
                  </a:extLst>
                </a:gridCol>
              </a:tblGrid>
              <a:tr h="348388"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Factor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200" b="1" i="0" dirty="0">
                          <a:effectLst/>
                          <a:latin typeface="Times New Roman" panose="02020603050405020304" pitchFamily="18" charset="0"/>
                        </a:rPr>
                        <a:t>Descripción de fortaleza u oportunidad de mejora</a:t>
                      </a:r>
                      <a:r>
                        <a:rPr lang="es-ES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200" b="1" i="0" dirty="0">
                          <a:effectLst/>
                          <a:latin typeface="Times New Roman" panose="02020603050405020304" pitchFamily="18" charset="0"/>
                        </a:rPr>
                        <a:t>Nombre del proyecto o acción a ejecutar</a:t>
                      </a:r>
                      <a:r>
                        <a:rPr lang="es-ES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ES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Meta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Período de ejecución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5844"/>
                  </a:ext>
                </a:extLst>
              </a:tr>
              <a:tr h="348388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Inicio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200" b="1" i="0" dirty="0">
                          <a:effectLst/>
                          <a:latin typeface="Times New Roman" panose="02020603050405020304" pitchFamily="18" charset="0"/>
                        </a:rPr>
                        <a:t>Finalización</a:t>
                      </a:r>
                      <a:r>
                        <a:rPr lang="es-CO" sz="1200" b="0" i="0" dirty="0">
                          <a:effectLst/>
                          <a:latin typeface="Times New Roman" panose="02020603050405020304" pitchFamily="18" charset="0"/>
                        </a:rPr>
                        <a:t> </a:t>
                      </a:r>
                      <a:endParaRPr lang="es-CO" sz="2000" b="0" i="0" dirty="0">
                        <a:effectLst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865439"/>
                  </a:ext>
                </a:extLst>
              </a:tr>
              <a:tr h="464517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6. PERMANENCIA Y GRADUACIÓN</a:t>
                      </a:r>
                      <a:endParaRPr lang="es-CO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1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Implementar estrategias de acompañamiento académico y administrativo (tutorías, asesorías metodológicas, gestión eficiente de trámites) que faciliten el desarrollo y finalización oportuna de los trabajos de grado, procurando que el tiempo total del proceso de graduación sea el establecido inicialmente.</a:t>
                      </a:r>
                      <a:endParaRPr lang="es-CO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Acompañamiento estudiantes a través de consejerías.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Crear un mecanismo de comunicación y seguimiento a los estudiantes que inscriben la tesis de maestría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943857"/>
                  </a:ext>
                </a:extLst>
              </a:tr>
              <a:tr h="445566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7. INTERACCIÓN CON EL ENTORNO NACIONAL E INTERNACIONAL</a:t>
                      </a:r>
                      <a:endParaRPr lang="es-CO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Acercamientos al sector productivo nacional e internacional con el fin de buscar alianzas estratégicas para apoyar y proponer proyectos de investigación que apoyen el sector productivo.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Convenios específicos para adelantar proyectos de investigación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Suscribir al menos dos (2) convenios a nivel nacional y/o internacional.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121284"/>
                  </a:ext>
                </a:extLst>
              </a:tr>
              <a:tr h="112903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8. APORTES DE LA INVESTIGACIÓN, LA INNOVACIÓN, EL DESARROLLO TECNOLÓGICO Y LA CREACIÓN ASOCIADOS AL PROGRAMA ACADÉMICO</a:t>
                      </a:r>
                      <a:endParaRPr lang="es-CO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Consolidar laboratorios especializados que permitan un acercamiento con la industria, para apoyar procesos de transferencia tecnológica e innovación.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Participar en convocatorios de MINCIENCIS, MINTIC, con el fin de buscar recursos para la creación de esta infraestructura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Participar en al menos siete (7) convocatorias.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802025"/>
                  </a:ext>
                </a:extLst>
              </a:tr>
              <a:tr h="83273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9. BIENESTAR DE LA COMUNIDAD ACADÉMICA DEL PROGRAMA</a:t>
                      </a:r>
                      <a:endParaRPr lang="es-CO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1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Promocionar  la visibilidad de las actividades de bienestar que también aplican  a los estudiantes de posgrado y se desconocen.</a:t>
                      </a:r>
                      <a:endParaRPr lang="es-CO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1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Diseñar una agenda permanente de divulgación de las actividades de  bienestar que permita la promoción a los estudiantes de posgrado</a:t>
                      </a:r>
                      <a:endParaRPr lang="es-CO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Ampliar la cobertura de los servicios de bienestar a por lo menos un 50% de los estudiantes de posgrado.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73456182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B36FFB97-D5BD-4503-9E0E-3176D80375F6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54071B6-42F5-40B9-9D46-06E0FA44C963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BE67C134-AE25-4591-A568-B426EE7C4325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B7007A13-3ACB-4117-8D4D-C0575F01DF3D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B4887580-83F7-4460-8108-F106B2799F18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redondeado 41">
            <a:extLst>
              <a:ext uri="{FF2B5EF4-FFF2-40B4-BE49-F238E27FC236}">
                <a16:creationId xmlns:a16="http://schemas.microsoft.com/office/drawing/2014/main" id="{320F7645-BE13-46F3-A29B-834938656FA3}"/>
              </a:ext>
            </a:extLst>
          </p:cNvPr>
          <p:cNvSpPr/>
          <p:nvPr/>
        </p:nvSpPr>
        <p:spPr>
          <a:xfrm>
            <a:off x="1669141" y="1244167"/>
            <a:ext cx="5080001" cy="369261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PLAN DE MEJORAMIENTO RENOVACION AAC</a:t>
            </a:r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1932520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78959DEF-F975-4970-BDDA-E1F6415457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1695078"/>
              </p:ext>
            </p:extLst>
          </p:nvPr>
        </p:nvGraphicFramePr>
        <p:xfrm>
          <a:off x="838199" y="1832928"/>
          <a:ext cx="10587088" cy="4906843"/>
        </p:xfrm>
        <a:graphic>
          <a:graphicData uri="http://schemas.openxmlformats.org/drawingml/2006/table">
            <a:tbl>
              <a:tblPr/>
              <a:tblGrid>
                <a:gridCol w="2374674">
                  <a:extLst>
                    <a:ext uri="{9D8B030D-6E8A-4147-A177-3AD203B41FA5}">
                      <a16:colId xmlns:a16="http://schemas.microsoft.com/office/drawing/2014/main" val="2248234423"/>
                    </a:ext>
                  </a:extLst>
                </a:gridCol>
                <a:gridCol w="2106109">
                  <a:extLst>
                    <a:ext uri="{9D8B030D-6E8A-4147-A177-3AD203B41FA5}">
                      <a16:colId xmlns:a16="http://schemas.microsoft.com/office/drawing/2014/main" val="1365072667"/>
                    </a:ext>
                  </a:extLst>
                </a:gridCol>
                <a:gridCol w="1978895">
                  <a:extLst>
                    <a:ext uri="{9D8B030D-6E8A-4147-A177-3AD203B41FA5}">
                      <a16:colId xmlns:a16="http://schemas.microsoft.com/office/drawing/2014/main" val="414483496"/>
                    </a:ext>
                  </a:extLst>
                </a:gridCol>
                <a:gridCol w="1583116">
                  <a:extLst>
                    <a:ext uri="{9D8B030D-6E8A-4147-A177-3AD203B41FA5}">
                      <a16:colId xmlns:a16="http://schemas.microsoft.com/office/drawing/2014/main" val="397189021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1375908351"/>
                    </a:ext>
                  </a:extLst>
                </a:gridCol>
                <a:gridCol w="1272147">
                  <a:extLst>
                    <a:ext uri="{9D8B030D-6E8A-4147-A177-3AD203B41FA5}">
                      <a16:colId xmlns:a16="http://schemas.microsoft.com/office/drawing/2014/main" val="724488823"/>
                    </a:ext>
                  </a:extLst>
                </a:gridCol>
              </a:tblGrid>
              <a:tr h="661896"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100" b="1" i="0" dirty="0">
                          <a:effectLst/>
                          <a:latin typeface="+mn-lt"/>
                        </a:rPr>
                        <a:t>Factor</a:t>
                      </a:r>
                      <a:r>
                        <a:rPr lang="es-CO" sz="11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100" b="1" i="0" dirty="0">
                          <a:effectLst/>
                          <a:latin typeface="+mn-lt"/>
                        </a:rPr>
                        <a:t>Descripción de fortaleza u oportunidad de mejora</a:t>
                      </a:r>
                      <a:r>
                        <a:rPr lang="es-ES" sz="11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ES" sz="1100" b="1" i="0" dirty="0">
                          <a:effectLst/>
                          <a:latin typeface="+mn-lt"/>
                        </a:rPr>
                        <a:t>Nombre del proyecto o acción a ejecutar</a:t>
                      </a:r>
                      <a:r>
                        <a:rPr lang="es-ES" sz="11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rtl="0" fontAlgn="base"/>
                      <a:r>
                        <a:rPr lang="es-CO" sz="1100" b="1" i="0" dirty="0">
                          <a:effectLst/>
                          <a:latin typeface="+mn-lt"/>
                        </a:rPr>
                        <a:t>Meta</a:t>
                      </a:r>
                      <a:r>
                        <a:rPr lang="es-CO" sz="11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base"/>
                      <a:r>
                        <a:rPr lang="es-CO" sz="1100" b="1" i="0" dirty="0">
                          <a:effectLst/>
                          <a:latin typeface="+mn-lt"/>
                        </a:rPr>
                        <a:t>Período de ejecución</a:t>
                      </a:r>
                      <a:r>
                        <a:rPr lang="es-CO" sz="11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67285844"/>
                  </a:ext>
                </a:extLst>
              </a:tr>
              <a:tr h="661896"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C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1" i="0" dirty="0">
                          <a:effectLst/>
                          <a:latin typeface="+mn-lt"/>
                        </a:rPr>
                        <a:t>Inicio</a:t>
                      </a:r>
                      <a:r>
                        <a:rPr lang="es-CO" sz="11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1" i="0" dirty="0">
                          <a:effectLst/>
                          <a:latin typeface="+mn-lt"/>
                        </a:rPr>
                        <a:t>Finalización</a:t>
                      </a:r>
                      <a:r>
                        <a:rPr lang="es-CO" sz="1100" b="0" i="0" dirty="0"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EA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5865439"/>
                  </a:ext>
                </a:extLst>
              </a:tr>
              <a:tr h="88252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10. MEDIOS EDUCATIVOS Y AMBIENTES DE APRENDIZAJE</a:t>
                      </a:r>
                      <a:endParaRPr lang="es-CO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Promover como una política la capacitación de todos los docentes en el manejo de las plataformas tecnológicas para el desarrollo de contenidos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Capacitación en ambientes de aprendizaje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Cursos periódicos y recurrentes para diseño y desarrollo de cursos mediados por TIC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943857"/>
                  </a:ext>
                </a:extLst>
              </a:tr>
              <a:tr h="127935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11. ORGANIZACIÓN, ADMINISTRACIÓN Y FINANCIACIÓN DEL PROGRAMA ACADÉMICO</a:t>
                      </a:r>
                      <a:endParaRPr lang="es-CO" sz="1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1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Mejorar la flexibilidad y agilidad de los procesos administrativos relacionados con el ciclo completo desde la  inscripción al programa, matrícula, inscripción de asignaturas y tramites de grado. </a:t>
                      </a:r>
                      <a:endParaRPr lang="es-CO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s-CO" sz="1100" kern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Mejorar  los procedimientos internos mediante la mejorar en los procesos de sistematización y simplificación de trámites, aumentando la eficiencia de los procesos existentes con el fin de mejorar la experiencia académica acorde con los estudiantes de posgrado.</a:t>
                      </a:r>
                      <a:endParaRPr lang="es-CO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Digitalizar todo el proceso para automatizar los tramites desde la inscripción al programa hasta el grado 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58121284"/>
                  </a:ext>
                </a:extLst>
              </a:tr>
              <a:tr h="84652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s-CO" sz="1100" dirty="0">
                          <a:solidFill>
                            <a:srgbClr val="3F3F3F"/>
                          </a:solidFill>
                          <a:effectLst/>
                          <a:latin typeface="+mn-lt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FACTOR 12. RECURSOS FÍSICOS Y TECNOLÓGICOS</a:t>
                      </a:r>
                      <a:endParaRPr lang="es-CO" sz="1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Fortalecer y ampliar las aulas y laboratorios especializados dotándolos de recursos tecnológicos a nivel de software y hardware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Consolidación de aulas y laboratorios especializados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Contar con al menos dos laboratorios especializados entre ellos uno en inteligencia artificial e </a:t>
                      </a:r>
                      <a:r>
                        <a:rPr lang="es-CO" sz="1100" b="0" i="0" dirty="0" err="1">
                          <a:effectLst/>
                          <a:latin typeface="+mn-lt"/>
                        </a:rPr>
                        <a:t>IoT</a:t>
                      </a:r>
                      <a:endParaRPr lang="es-CO" sz="1100" b="0" i="0" dirty="0">
                        <a:effectLst/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01/02/2026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s-CO" sz="1100" b="0" i="0" dirty="0">
                          <a:effectLst/>
                          <a:latin typeface="+mn-lt"/>
                        </a:rPr>
                        <a:t>01/06/2033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2802025"/>
                  </a:ext>
                </a:extLst>
              </a:tr>
            </a:tbl>
          </a:graphicData>
        </a:graphic>
      </p:graphicFrame>
      <p:sp>
        <p:nvSpPr>
          <p:cNvPr id="5" name="CuadroTexto 4">
            <a:extLst>
              <a:ext uri="{FF2B5EF4-FFF2-40B4-BE49-F238E27FC236}">
                <a16:creationId xmlns:a16="http://schemas.microsoft.com/office/drawing/2014/main" id="{1D4E0043-18B2-4BE7-B01B-A5AC04B42E0E}"/>
              </a:ext>
            </a:extLst>
          </p:cNvPr>
          <p:cNvSpPr txBox="1"/>
          <p:nvPr/>
        </p:nvSpPr>
        <p:spPr>
          <a:xfrm>
            <a:off x="11080528" y="119196"/>
            <a:ext cx="10438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O" sz="2000" b="1" dirty="0">
                <a:latin typeface="Palace Script MT" panose="030303020206070C0B05" pitchFamily="66" charset="0"/>
              </a:rPr>
              <a:t>A. E. O. D.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DECA9398-3C14-4C6F-985E-41D0CFC2E3BC}"/>
              </a:ext>
            </a:extLst>
          </p:cNvPr>
          <p:cNvSpPr txBox="1"/>
          <p:nvPr/>
        </p:nvSpPr>
        <p:spPr>
          <a:xfrm>
            <a:off x="2440450" y="77269"/>
            <a:ext cx="82051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Maestría en Ciencias de la Información y las Comunicaciones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11472779-22E2-450A-8363-1C8ABBA61943}"/>
              </a:ext>
            </a:extLst>
          </p:cNvPr>
          <p:cNvCxnSpPr>
            <a:cxnSpLocks/>
          </p:cNvCxnSpPr>
          <p:nvPr/>
        </p:nvCxnSpPr>
        <p:spPr>
          <a:xfrm flipV="1">
            <a:off x="2561220" y="519306"/>
            <a:ext cx="7987374" cy="19628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9B97B9AF-2306-4D00-9F1C-014F2BFA37C5}"/>
              </a:ext>
            </a:extLst>
          </p:cNvPr>
          <p:cNvSpPr txBox="1"/>
          <p:nvPr/>
        </p:nvSpPr>
        <p:spPr>
          <a:xfrm>
            <a:off x="5974774" y="715546"/>
            <a:ext cx="6133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CO" b="1" dirty="0"/>
              <a:t>Plan de Mejoramiento</a:t>
            </a: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3A8544FA-4709-4895-8799-F4BA8319BF2C}"/>
              </a:ext>
            </a:extLst>
          </p:cNvPr>
          <p:cNvCxnSpPr/>
          <p:nvPr/>
        </p:nvCxnSpPr>
        <p:spPr>
          <a:xfrm>
            <a:off x="6035160" y="1100632"/>
            <a:ext cx="6012611" cy="0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ángulo redondeado 41">
            <a:extLst>
              <a:ext uri="{FF2B5EF4-FFF2-40B4-BE49-F238E27FC236}">
                <a16:creationId xmlns:a16="http://schemas.microsoft.com/office/drawing/2014/main" id="{DEE7CB9F-A180-497C-BC12-BC640C986A41}"/>
              </a:ext>
            </a:extLst>
          </p:cNvPr>
          <p:cNvSpPr/>
          <p:nvPr/>
        </p:nvSpPr>
        <p:spPr>
          <a:xfrm>
            <a:off x="1669141" y="1244167"/>
            <a:ext cx="5080001" cy="369261"/>
          </a:xfrm>
          <a:prstGeom prst="roundRect">
            <a:avLst/>
          </a:prstGeom>
          <a:solidFill>
            <a:srgbClr val="A4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b="1" i="1" dirty="0"/>
              <a:t>PLAN DE MEJORAMIENTO RENOVACION AAC</a:t>
            </a:r>
            <a:endParaRPr lang="es-CO" i="1" dirty="0"/>
          </a:p>
        </p:txBody>
      </p:sp>
    </p:spTree>
    <p:extLst>
      <p:ext uri="{BB962C8B-B14F-4D97-AF65-F5344CB8AC3E}">
        <p14:creationId xmlns:p14="http://schemas.microsoft.com/office/powerpoint/2010/main" val="33873269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E9AF963F-95E0-4D28-8AE5-880AC99C3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4162720"/>
            <a:ext cx="3135085" cy="1255222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s-MX" sz="15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ALVARO E. ORTIZ DÁVILA</a:t>
            </a:r>
            <a:br>
              <a:rPr lang="es-MX" sz="1500" b="1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r>
              <a:rPr lang="es-MX" sz="1500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  <a:hlinkClick r:id="rId3"/>
              </a:rPr>
              <a:t>aeortizd@udistrital.edu.co</a:t>
            </a:r>
            <a:br>
              <a:rPr lang="es-MX" sz="1500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s-MX" sz="1500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br>
              <a:rPr lang="es-MX" sz="1500" dirty="0">
                <a:solidFill>
                  <a:srgbClr val="69180B"/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</a:br>
            <a:endParaRPr lang="es-CO" sz="1500" dirty="0">
              <a:solidFill>
                <a:srgbClr val="69180B"/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1C39F99-EFED-472C-9F3A-ECE3D9B933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2320" y="4904017"/>
            <a:ext cx="2042836" cy="718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PRESENTACIONES  -  Modo de compatibilidad" id="{A26AC363-5CC9-42B4-9B1D-1CA3C1F394C1}" vid="{CD804E11-8059-44C7-A030-65C6AE20793C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d885472-1b03-4c27-abea-e0b86428d9b9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1403A950870724FBC411EEB7EC1F630" ma:contentTypeVersion="17" ma:contentTypeDescription="Crear nuevo documento." ma:contentTypeScope="" ma:versionID="672131d3cff55c56c3d82662b68e4fba">
  <xsd:schema xmlns:xsd="http://www.w3.org/2001/XMLSchema" xmlns:xs="http://www.w3.org/2001/XMLSchema" xmlns:p="http://schemas.microsoft.com/office/2006/metadata/properties" xmlns:ns3="1d885472-1b03-4c27-abea-e0b86428d9b9" xmlns:ns4="2d6b6581-d0cd-4f64-a2b3-c7ef1a89b301" targetNamespace="http://schemas.microsoft.com/office/2006/metadata/properties" ma:root="true" ma:fieldsID="2d30db0b5fc9061517ccd9472574d8f4" ns3:_="" ns4:_="">
    <xsd:import namespace="1d885472-1b03-4c27-abea-e0b86428d9b9"/>
    <xsd:import namespace="2d6b6581-d0cd-4f64-a2b3-c7ef1a89b3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LengthInSecond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SystemTags" minOccurs="0"/>
                <xsd:element ref="ns3:MediaServiceLocation" minOccurs="0"/>
                <xsd:element ref="ns3:MediaServiceSearchProperties" minOccurs="0"/>
                <xsd:element ref="ns3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885472-1b03-4c27-abea-e0b86428d9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b6581-d0cd-4f64-a2b3-c7ef1a89b301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0CD684-D49A-4FEC-99D1-6C64D5A4A52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A6ED72-5F8F-48BB-B36F-AB8BDD66F527}">
  <ds:schemaRefs>
    <ds:schemaRef ds:uri="http://purl.org/dc/terms/"/>
    <ds:schemaRef ds:uri="http://schemas.microsoft.com/office/2006/metadata/properties"/>
    <ds:schemaRef ds:uri="http://purl.org/dc/dcmitype/"/>
    <ds:schemaRef ds:uri="http://schemas.microsoft.com/office/2006/documentManagement/types"/>
    <ds:schemaRef ds:uri="1d885472-1b03-4c27-abea-e0b86428d9b9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2d6b6581-d0cd-4f64-a2b3-c7ef1a89b301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AE2E040-A762-4F83-BD77-35A21D325D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d885472-1b03-4c27-abea-e0b86428d9b9"/>
    <ds:schemaRef ds:uri="2d6b6581-d0cd-4f64-a2b3-c7ef1a89b3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PLANTILLA_PRESENTACIONES (2)</Template>
  <TotalTime>3232</TotalTime>
  <Words>5794</Words>
  <Application>Microsoft Office PowerPoint</Application>
  <PresentationFormat>Panorámica</PresentationFormat>
  <Paragraphs>781</Paragraphs>
  <Slides>28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28</vt:i4>
      </vt:variant>
    </vt:vector>
  </HeadingPairs>
  <TitlesOfParts>
    <vt:vector size="35" baseType="lpstr">
      <vt:lpstr>Arial</vt:lpstr>
      <vt:lpstr>Calibri</vt:lpstr>
      <vt:lpstr>Calibri Light</vt:lpstr>
      <vt:lpstr>Palace Script MT</vt:lpstr>
      <vt:lpstr>Symbol</vt:lpstr>
      <vt:lpstr>Times New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ALVARO E. ORTIZ DÁVILA aeortizd@udistrital.edu.co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Angélica M. Pabon Rodríguez</dc:creator>
  <cp:lastModifiedBy>ALVARO ESPINEL ORTEGA</cp:lastModifiedBy>
  <cp:revision>454</cp:revision>
  <dcterms:created xsi:type="dcterms:W3CDTF">2024-02-23T20:11:37Z</dcterms:created>
  <dcterms:modified xsi:type="dcterms:W3CDTF">2025-11-10T19:02:59Z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0x01010001403A950870724FBC411EEB7EC1F630</vt:lpwstr>
  </property>
</Properties>
</file>