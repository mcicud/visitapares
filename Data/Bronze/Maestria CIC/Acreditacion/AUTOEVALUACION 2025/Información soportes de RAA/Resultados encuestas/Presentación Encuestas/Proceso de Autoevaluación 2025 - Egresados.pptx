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amilo%20U\15avo%20Semestre\Monitorias\Encuestas\Proceso%20de%20Autoevaluaci&#243;n%202025%20-%20Egresado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'!$O$40</c:f>
              <c:strCache>
                <c:ptCount val="1"/>
                <c:pt idx="0">
                  <c:v>25 a 30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'!$P$39</c:f>
              <c:strCache>
                <c:ptCount val="1"/>
                <c:pt idx="0">
                  <c:v>¿En que rango de edad se encuentra?</c:v>
                </c:pt>
              </c:strCache>
            </c:strRef>
          </c:cat>
          <c:val>
            <c:numRef>
              <c:f>'Proceso de Autoevaluación 2025 '!$P$40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E-42FB-9B54-AE6BAE13799B}"/>
            </c:ext>
          </c:extLst>
        </c:ser>
        <c:ser>
          <c:idx val="1"/>
          <c:order val="1"/>
          <c:tx>
            <c:strRef>
              <c:f>'Proceso de Autoevaluación 2025 '!$O$41</c:f>
              <c:strCache>
                <c:ptCount val="1"/>
                <c:pt idx="0">
                  <c:v>31 a 40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'!$P$39</c:f>
              <c:strCache>
                <c:ptCount val="1"/>
                <c:pt idx="0">
                  <c:v>¿En que rango de edad se encuentra?</c:v>
                </c:pt>
              </c:strCache>
            </c:strRef>
          </c:cat>
          <c:val>
            <c:numRef>
              <c:f>'Proceso de Autoevaluación 2025 '!$P$41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CE-42FB-9B54-AE6BAE13799B}"/>
            </c:ext>
          </c:extLst>
        </c:ser>
        <c:ser>
          <c:idx val="2"/>
          <c:order val="2"/>
          <c:tx>
            <c:strRef>
              <c:f>'Proceso de Autoevaluación 2025 '!$O$42</c:f>
              <c:strCache>
                <c:ptCount val="1"/>
                <c:pt idx="0">
                  <c:v>41 a 50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'!$P$39</c:f>
              <c:strCache>
                <c:ptCount val="1"/>
                <c:pt idx="0">
                  <c:v>¿En que rango de edad se encuentra?</c:v>
                </c:pt>
              </c:strCache>
            </c:strRef>
          </c:cat>
          <c:val>
            <c:numRef>
              <c:f>'Proceso de Autoevaluación 2025 '!$P$42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CE-42FB-9B54-AE6BAE13799B}"/>
            </c:ext>
          </c:extLst>
        </c:ser>
        <c:ser>
          <c:idx val="3"/>
          <c:order val="3"/>
          <c:tx>
            <c:strRef>
              <c:f>'Proceso de Autoevaluación 2025 '!$O$43</c:f>
              <c:strCache>
                <c:ptCount val="1"/>
                <c:pt idx="0">
                  <c:v>51 o más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'!$P$39</c:f>
              <c:strCache>
                <c:ptCount val="1"/>
                <c:pt idx="0">
                  <c:v>¿En que rango de edad se encuentra?</c:v>
                </c:pt>
              </c:strCache>
            </c:strRef>
          </c:cat>
          <c:val>
            <c:numRef>
              <c:f>'Proceso de Autoevaluación 2025 '!$P$43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CE-42FB-9B54-AE6BAE13799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03443440"/>
        <c:axId val="703443800"/>
      </c:barChart>
      <c:catAx>
        <c:axId val="70344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03443800"/>
        <c:crosses val="autoZero"/>
        <c:auto val="1"/>
        <c:lblAlgn val="ctr"/>
        <c:lblOffset val="100"/>
        <c:noMultiLvlLbl val="0"/>
      </c:catAx>
      <c:valAx>
        <c:axId val="703443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0344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¿En qué énfasis se encuentra inscrito?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'!$U$40</c:f>
              <c:strCache>
                <c:ptCount val="1"/>
                <c:pt idx="0">
                  <c:v>Geomtatica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'!$V$40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86-4D6E-ABCA-1D0713452643}"/>
            </c:ext>
          </c:extLst>
        </c:ser>
        <c:ser>
          <c:idx val="1"/>
          <c:order val="1"/>
          <c:tx>
            <c:strRef>
              <c:f>'Proceso de Autoevaluación 2025 '!$U$41</c:f>
              <c:strCache>
                <c:ptCount val="1"/>
                <c:pt idx="0">
                  <c:v>Ingeniería de Software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'!$V$41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86-4D6E-ABCA-1D0713452643}"/>
            </c:ext>
          </c:extLst>
        </c:ser>
        <c:ser>
          <c:idx val="2"/>
          <c:order val="2"/>
          <c:tx>
            <c:strRef>
              <c:f>'Proceso de Autoevaluación 2025 '!$U$42</c:f>
              <c:strCache>
                <c:ptCount val="1"/>
                <c:pt idx="0">
                  <c:v>Sistemas de información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'!$V$42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86-4D6E-ABCA-1D0713452643}"/>
            </c:ext>
          </c:extLst>
        </c:ser>
        <c:ser>
          <c:idx val="3"/>
          <c:order val="3"/>
          <c:tx>
            <c:strRef>
              <c:f>'Proceso de Autoevaluación 2025 '!$U$43</c:f>
              <c:strCache>
                <c:ptCount val="1"/>
                <c:pt idx="0">
                  <c:v>Teleinformatica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'!$V$43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486-4D6E-ABCA-1D07134526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96240888"/>
        <c:axId val="610202144"/>
      </c:barChart>
      <c:catAx>
        <c:axId val="4962408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10202144"/>
        <c:crosses val="autoZero"/>
        <c:auto val="1"/>
        <c:lblAlgn val="ctr"/>
        <c:lblOffset val="100"/>
        <c:noMultiLvlLbl val="0"/>
      </c:catAx>
      <c:valAx>
        <c:axId val="61020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96240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1005125717980905"/>
          <c:y val="6.38081895729543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'Proceso de Autoevaluación 2025 '!$Y$39</c:f>
              <c:strCache>
                <c:ptCount val="1"/>
                <c:pt idx="0">
                  <c:v>¿En qué Modalidad o Metodología se encuentra inscrito?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A3-4212-84DD-92D930A27D1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A3-4212-84DD-92D930A27D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'Proceso de Autoevaluación 2025 '!$X$40:$X$41</c:f>
              <c:strCache>
                <c:ptCount val="2"/>
                <c:pt idx="0">
                  <c:v>Investigación</c:v>
                </c:pt>
                <c:pt idx="1">
                  <c:v>Profundización</c:v>
                </c:pt>
              </c:strCache>
            </c:strRef>
          </c:cat>
          <c:val>
            <c:numRef>
              <c:f>'Proceso de Autoevaluación 2025 '!$Y$40:$Y$41</c:f>
              <c:numCache>
                <c:formatCode>General</c:formatCode>
                <c:ptCount val="2"/>
                <c:pt idx="0">
                  <c:v>25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A3-4212-84DD-92D930A27D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Las competencias adquiridas durante mi formación en la maestría (técnicas, investigativas, pedagógicas, etc.) han sido suficientes y relevantes para mi desarrollo profesional.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'!$AA$40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'!$AB$40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76-487C-8878-3E0DF87B2B01}"/>
            </c:ext>
          </c:extLst>
        </c:ser>
        <c:ser>
          <c:idx val="1"/>
          <c:order val="1"/>
          <c:tx>
            <c:strRef>
              <c:f>'Proceso de Autoevaluación 2025 '!$AA$41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'!$AB$41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76-487C-8878-3E0DF87B2B01}"/>
            </c:ext>
          </c:extLst>
        </c:ser>
        <c:ser>
          <c:idx val="2"/>
          <c:order val="2"/>
          <c:tx>
            <c:strRef>
              <c:f>'Proceso de Autoevaluación 2025 '!$AA$42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'!$AB$42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76-487C-8878-3E0DF87B2B01}"/>
            </c:ext>
          </c:extLst>
        </c:ser>
        <c:ser>
          <c:idx val="3"/>
          <c:order val="3"/>
          <c:tx>
            <c:strRef>
              <c:f>'Proceso de Autoevaluación 2025 '!$AA$43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'!$AB$43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576-487C-8878-3E0DF87B2B01}"/>
            </c:ext>
          </c:extLst>
        </c:ser>
        <c:ser>
          <c:idx val="4"/>
          <c:order val="4"/>
          <c:tx>
            <c:strRef>
              <c:f>'Proceso de Autoevaluación 2025 '!$AA$44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60000"/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60000"/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lumMod val="60000"/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'!$AB$44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76-487C-8878-3E0DF87B2B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24912056"/>
        <c:axId val="724912776"/>
      </c:barChart>
      <c:catAx>
        <c:axId val="724912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12776"/>
        <c:crosses val="autoZero"/>
        <c:auto val="1"/>
        <c:lblAlgn val="ctr"/>
        <c:lblOffset val="100"/>
        <c:noMultiLvlLbl val="0"/>
      </c:catAx>
      <c:valAx>
        <c:axId val="724912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12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2000"/>
              <a:t>Considero que mi formación en la maestría ha influido positivamente en mi desarrollo profesional, así como en la mejora de oportunidades en mi campo laboral.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'!$AD$40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'!$AE$40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61-4E62-BAF8-2C20E117E0DD}"/>
            </c:ext>
          </c:extLst>
        </c:ser>
        <c:ser>
          <c:idx val="1"/>
          <c:order val="1"/>
          <c:tx>
            <c:strRef>
              <c:f>'Proceso de Autoevaluación 2025 '!$AD$41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'!$AE$41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61-4E62-BAF8-2C20E117E0DD}"/>
            </c:ext>
          </c:extLst>
        </c:ser>
        <c:ser>
          <c:idx val="2"/>
          <c:order val="2"/>
          <c:tx>
            <c:strRef>
              <c:f>'Proceso de Autoevaluación 2025 '!$AD$42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'!$AE$42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61-4E62-BAF8-2C20E117E0DD}"/>
            </c:ext>
          </c:extLst>
        </c:ser>
        <c:ser>
          <c:idx val="3"/>
          <c:order val="3"/>
          <c:tx>
            <c:strRef>
              <c:f>'Proceso de Autoevaluación 2025 '!$AD$43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'!$AE$43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61-4E62-BAF8-2C20E117E0DD}"/>
            </c:ext>
          </c:extLst>
        </c:ser>
        <c:ser>
          <c:idx val="4"/>
          <c:order val="4"/>
          <c:tx>
            <c:strRef>
              <c:f>'Proceso de Autoevaluación 2025 '!$AD$44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'!$AE$44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61-4E62-BAF8-2C20E117E0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24909536"/>
        <c:axId val="724913856"/>
      </c:barChart>
      <c:catAx>
        <c:axId val="72490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13856"/>
        <c:crosses val="autoZero"/>
        <c:auto val="1"/>
        <c:lblAlgn val="ctr"/>
        <c:lblOffset val="100"/>
        <c:noMultiLvlLbl val="0"/>
      </c:catAx>
      <c:valAx>
        <c:axId val="724913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09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2000"/>
              <a:t>Considero que las estrategias de flexibilidad curricular me permitieron personalizar mi formación de acuerdo con mis objetivos profesionales y académicos.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'!$AJ$40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'!$AK$40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E8-47B0-871A-33A1FBF90969}"/>
            </c:ext>
          </c:extLst>
        </c:ser>
        <c:ser>
          <c:idx val="1"/>
          <c:order val="1"/>
          <c:tx>
            <c:strRef>
              <c:f>'Proceso de Autoevaluación 2025 '!$AJ$41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'!$AK$41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E8-47B0-871A-33A1FBF90969}"/>
            </c:ext>
          </c:extLst>
        </c:ser>
        <c:ser>
          <c:idx val="2"/>
          <c:order val="2"/>
          <c:tx>
            <c:strRef>
              <c:f>'Proceso de Autoevaluación 2025 '!$AJ$42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'!$AK$42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E8-47B0-871A-33A1FBF90969}"/>
            </c:ext>
          </c:extLst>
        </c:ser>
        <c:ser>
          <c:idx val="3"/>
          <c:order val="3"/>
          <c:tx>
            <c:strRef>
              <c:f>'Proceso de Autoevaluación 2025 '!$AJ$43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'!$AK$43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E8-47B0-871A-33A1FBF90969}"/>
            </c:ext>
          </c:extLst>
        </c:ser>
        <c:ser>
          <c:idx val="4"/>
          <c:order val="4"/>
          <c:tx>
            <c:strRef>
              <c:f>'Proceso de Autoevaluación 2025 '!$AJ$44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'!$AK$44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E8-47B0-871A-33A1FBF9096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09328424"/>
        <c:axId val="709326264"/>
      </c:barChart>
      <c:catAx>
        <c:axId val="7093284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9326264"/>
        <c:crosses val="autoZero"/>
        <c:auto val="1"/>
        <c:lblAlgn val="ctr"/>
        <c:lblOffset val="100"/>
        <c:noMultiLvlLbl val="0"/>
      </c:catAx>
      <c:valAx>
        <c:axId val="709326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09328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Considero que la interacción con homólogos nacionales e internacionales me permitió mejorar mis competencias académicas y científicas, así como las oportunidades de desarrollo profesional.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'!$AP$40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'!$AQ$40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1F-45F8-A818-F1A6DE2AEDD9}"/>
            </c:ext>
          </c:extLst>
        </c:ser>
        <c:ser>
          <c:idx val="1"/>
          <c:order val="1"/>
          <c:tx>
            <c:strRef>
              <c:f>'Proceso de Autoevaluación 2025 '!$AP$41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'!$AQ$41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1F-45F8-A818-F1A6DE2AEDD9}"/>
            </c:ext>
          </c:extLst>
        </c:ser>
        <c:ser>
          <c:idx val="2"/>
          <c:order val="2"/>
          <c:tx>
            <c:strRef>
              <c:f>'Proceso de Autoevaluación 2025 '!$AP$42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'!$AQ$42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1F-45F8-A818-F1A6DE2AEDD9}"/>
            </c:ext>
          </c:extLst>
        </c:ser>
        <c:ser>
          <c:idx val="3"/>
          <c:order val="3"/>
          <c:tx>
            <c:strRef>
              <c:f>'Proceso de Autoevaluación 2025 '!$AP$43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'!$AQ$43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1F-45F8-A818-F1A6DE2AEDD9}"/>
            </c:ext>
          </c:extLst>
        </c:ser>
        <c:ser>
          <c:idx val="4"/>
          <c:order val="4"/>
          <c:tx>
            <c:strRef>
              <c:f>'Proceso de Autoevaluación 2025 '!$AP$44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'!$AQ$44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1F-45F8-A818-F1A6DE2AED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23199688"/>
        <c:axId val="723201848"/>
      </c:barChart>
      <c:catAx>
        <c:axId val="7231996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3201848"/>
        <c:crosses val="autoZero"/>
        <c:auto val="1"/>
        <c:lblAlgn val="ctr"/>
        <c:lblOffset val="100"/>
        <c:noMultiLvlLbl val="0"/>
      </c:catAx>
      <c:valAx>
        <c:axId val="723201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3199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'!$AV$40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'!$AW$39</c:f>
              <c:strCache>
                <c:ptCount val="1"/>
                <c:pt idx="0">
                  <c:v>Considero que el representante estudiantil y de egresados en los diferentes escenarios institucionales, ha sido valorada y ha influido en las decisiones orientadas al mejoramiento de la Maestría en Ci</c:v>
                </c:pt>
              </c:strCache>
            </c:strRef>
          </c:cat>
          <c:val>
            <c:numRef>
              <c:f>'Proceso de Autoevaluación 2025 '!$AW$40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2-4116-AF3E-EF031FDB5553}"/>
            </c:ext>
          </c:extLst>
        </c:ser>
        <c:ser>
          <c:idx val="1"/>
          <c:order val="1"/>
          <c:tx>
            <c:strRef>
              <c:f>'Proceso de Autoevaluación 2025 '!$AV$41</c:f>
              <c:strCache>
                <c:ptCount val="1"/>
                <c:pt idx="0">
                  <c:v>De acuerdo.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'!$AW$39</c:f>
              <c:strCache>
                <c:ptCount val="1"/>
                <c:pt idx="0">
                  <c:v>Considero que el representante estudiantil y de egresados en los diferentes escenarios institucionales, ha sido valorada y ha influido en las decisiones orientadas al mejoramiento de la Maestría en Ci</c:v>
                </c:pt>
              </c:strCache>
            </c:strRef>
          </c:cat>
          <c:val>
            <c:numRef>
              <c:f>'Proceso de Autoevaluación 2025 '!$AW$41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02-4116-AF3E-EF031FDB5553}"/>
            </c:ext>
          </c:extLst>
        </c:ser>
        <c:ser>
          <c:idx val="2"/>
          <c:order val="2"/>
          <c:tx>
            <c:strRef>
              <c:f>'Proceso de Autoevaluación 2025 '!$AV$42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'!$AW$39</c:f>
              <c:strCache>
                <c:ptCount val="1"/>
                <c:pt idx="0">
                  <c:v>Considero que el representante estudiantil y de egresados en los diferentes escenarios institucionales, ha sido valorada y ha influido en las decisiones orientadas al mejoramiento de la Maestría en Ci</c:v>
                </c:pt>
              </c:strCache>
            </c:strRef>
          </c:cat>
          <c:val>
            <c:numRef>
              <c:f>'Proceso de Autoevaluación 2025 '!$AW$42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02-4116-AF3E-EF031FDB5553}"/>
            </c:ext>
          </c:extLst>
        </c:ser>
        <c:ser>
          <c:idx val="3"/>
          <c:order val="3"/>
          <c:tx>
            <c:strRef>
              <c:f>'Proceso de Autoevaluación 2025 '!$AV$43</c:f>
              <c:strCache>
                <c:ptCount val="1"/>
                <c:pt idx="0">
                  <c:v>En desacuerdo.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'!$AW$39</c:f>
              <c:strCache>
                <c:ptCount val="1"/>
                <c:pt idx="0">
                  <c:v>Considero que el representante estudiantil y de egresados en los diferentes escenarios institucionales, ha sido valorada y ha influido en las decisiones orientadas al mejoramiento de la Maestría en Ci</c:v>
                </c:pt>
              </c:strCache>
            </c:strRef>
          </c:cat>
          <c:val>
            <c:numRef>
              <c:f>'Proceso de Autoevaluación 2025 '!$AW$43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02-4116-AF3E-EF031FDB5553}"/>
            </c:ext>
          </c:extLst>
        </c:ser>
        <c:ser>
          <c:idx val="4"/>
          <c:order val="4"/>
          <c:tx>
            <c:strRef>
              <c:f>'Proceso de Autoevaluación 2025 '!$AV$44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'Proceso de Autoevaluación 2025 '!$AW$39</c:f>
              <c:strCache>
                <c:ptCount val="1"/>
                <c:pt idx="0">
                  <c:v>Considero que el representante estudiantil y de egresados en los diferentes escenarios institucionales, ha sido valorada y ha influido en las decisiones orientadas al mejoramiento de la Maestría en Ci</c:v>
                </c:pt>
              </c:strCache>
            </c:strRef>
          </c:cat>
          <c:val>
            <c:numRef>
              <c:f>'Proceso de Autoevaluación 2025 '!$AW$44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02-4116-AF3E-EF031FDB55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4910976"/>
        <c:axId val="724911696"/>
      </c:barChart>
      <c:catAx>
        <c:axId val="72491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11696"/>
        <c:crosses val="autoZero"/>
        <c:auto val="1"/>
        <c:lblAlgn val="ctr"/>
        <c:lblOffset val="100"/>
        <c:noMultiLvlLbl val="0"/>
      </c:catAx>
      <c:valAx>
        <c:axId val="72491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10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¿En qué sector se desempeña su trabajo actual?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'Proceso de Autoevaluación 2025 '!$BB$40</c:f>
              <c:strCache>
                <c:ptCount val="1"/>
                <c:pt idx="0">
                  <c:v>Sector primario (agricultura, ganadería, pesca, minería)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'!$BC$40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59-4618-AB70-81251A86A0DF}"/>
            </c:ext>
          </c:extLst>
        </c:ser>
        <c:ser>
          <c:idx val="1"/>
          <c:order val="1"/>
          <c:tx>
            <c:strRef>
              <c:f>'Proceso de Autoevaluación 2025 '!$BB$41</c:f>
              <c:strCache>
                <c:ptCount val="1"/>
                <c:pt idx="0">
                  <c:v>Sector público (administración pública, gobierno)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'!$BC$41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59-4618-AB70-81251A86A0DF}"/>
            </c:ext>
          </c:extLst>
        </c:ser>
        <c:ser>
          <c:idx val="2"/>
          <c:order val="2"/>
          <c:tx>
            <c:strRef>
              <c:f>'Proceso de Autoevaluación 2025 '!$BB$42</c:f>
              <c:strCache>
                <c:ptCount val="1"/>
                <c:pt idx="0">
                  <c:v>Sector secundario (industria manufacturera, construcción, energía)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'!$BC$42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59-4618-AB70-81251A86A0DF}"/>
            </c:ext>
          </c:extLst>
        </c:ser>
        <c:ser>
          <c:idx val="3"/>
          <c:order val="3"/>
          <c:tx>
            <c:strRef>
              <c:f>'Proceso de Autoevaluación 2025 '!$BB$43</c:f>
              <c:strCache>
                <c:ptCount val="1"/>
                <c:pt idx="0">
                  <c:v>Sector terciario (comercio, servicios: educación, salud, finanzas, etc.)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'!$BC$43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759-4618-AB70-81251A86A0DF}"/>
            </c:ext>
          </c:extLst>
        </c:ser>
        <c:ser>
          <c:idx val="4"/>
          <c:order val="4"/>
          <c:tx>
            <c:strRef>
              <c:f>'Proceso de Autoevaluación 2025 '!$BB$44</c:f>
              <c:strCache>
                <c:ptCount val="1"/>
                <c:pt idx="0">
                  <c:v>Tecnología (desarrollo de software, IA, ciberseguridad, telecomunicaciones)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'!$BC$44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59-4618-AB70-81251A86A0DF}"/>
            </c:ext>
          </c:extLst>
        </c:ser>
        <c:ser>
          <c:idx val="5"/>
          <c:order val="5"/>
          <c:tx>
            <c:strRef>
              <c:f>'Proceso de Autoevaluación 2025 '!$BB$45</c:f>
              <c:strCache>
                <c:ptCount val="1"/>
                <c:pt idx="0">
                  <c:v>Otro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110000"/>
                    <a:satMod val="105000"/>
                    <a:tint val="67000"/>
                  </a:schemeClr>
                </a:gs>
                <a:gs pos="50000">
                  <a:schemeClr val="accent6">
                    <a:lumMod val="105000"/>
                    <a:satMod val="103000"/>
                    <a:tint val="73000"/>
                  </a:schemeClr>
                </a:gs>
                <a:gs pos="100000">
                  <a:schemeClr val="accent6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'!$BC$45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759-4618-AB70-81251A86A0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724947528"/>
        <c:axId val="724951128"/>
      </c:barChart>
      <c:catAx>
        <c:axId val="724947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51128"/>
        <c:crossesAt val="0"/>
        <c:auto val="1"/>
        <c:lblAlgn val="ctr"/>
        <c:lblOffset val="100"/>
        <c:noMultiLvlLbl val="0"/>
      </c:catAx>
      <c:valAx>
        <c:axId val="724951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249475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¿El trabajo que realiza actualmente se relaciona directamente con los conocimientos adquiridos en la maestría?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'!$BE$40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'!$BF$40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B1-479F-A649-37CD2603F3A8}"/>
            </c:ext>
          </c:extLst>
        </c:ser>
        <c:ser>
          <c:idx val="1"/>
          <c:order val="1"/>
          <c:tx>
            <c:strRef>
              <c:f>'Proceso de Autoevaluación 2025 '!$BE$41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'!$BF$41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B1-479F-A649-37CD2603F3A8}"/>
            </c:ext>
          </c:extLst>
        </c:ser>
        <c:ser>
          <c:idx val="2"/>
          <c:order val="2"/>
          <c:tx>
            <c:strRef>
              <c:f>'Proceso de Autoevaluación 2025 '!$BE$42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'!$BF$42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B1-479F-A649-37CD2603F3A8}"/>
            </c:ext>
          </c:extLst>
        </c:ser>
        <c:ser>
          <c:idx val="3"/>
          <c:order val="3"/>
          <c:tx>
            <c:strRef>
              <c:f>'Proceso de Autoevaluación 2025 '!$BE$43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'!$BF$43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B1-479F-A649-37CD2603F3A8}"/>
            </c:ext>
          </c:extLst>
        </c:ser>
        <c:ser>
          <c:idx val="4"/>
          <c:order val="4"/>
          <c:tx>
            <c:strRef>
              <c:f>'Proceso de Autoevaluación 2025 '!$BE$44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'!$BF$44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B1-479F-A649-37CD2603F3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38052232"/>
        <c:axId val="338052592"/>
      </c:barChart>
      <c:catAx>
        <c:axId val="338052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38052592"/>
        <c:crosses val="autoZero"/>
        <c:auto val="1"/>
        <c:lblAlgn val="ctr"/>
        <c:lblOffset val="100"/>
        <c:noMultiLvlLbl val="0"/>
      </c:catAx>
      <c:valAx>
        <c:axId val="338052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38052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¿Siente que la maestría te ha abierto nuevas oportunidades laborales?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'Proceso de Autoevaluación 2025 '!$BH$40</c:f>
              <c:strCache>
                <c:ptCount val="1"/>
                <c:pt idx="0">
                  <c:v>Totalmente de acuerdo.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'!$BI$40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8-4273-B2B2-C6EF2C53C5E2}"/>
            </c:ext>
          </c:extLst>
        </c:ser>
        <c:ser>
          <c:idx val="1"/>
          <c:order val="1"/>
          <c:tx>
            <c:strRef>
              <c:f>'Proceso de Autoevaluación 2025 '!$BH$41</c:f>
              <c:strCache>
                <c:ptCount val="1"/>
                <c:pt idx="0">
                  <c:v>De acuerdo.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'!$BI$41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08-4273-B2B2-C6EF2C53C5E2}"/>
            </c:ext>
          </c:extLst>
        </c:ser>
        <c:ser>
          <c:idx val="2"/>
          <c:order val="2"/>
          <c:tx>
            <c:strRef>
              <c:f>'Proceso de Autoevaluación 2025 '!$BH$42</c:f>
              <c:strCache>
                <c:ptCount val="1"/>
                <c:pt idx="0">
                  <c:v>En desacuerdo.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'!$BI$42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8-4273-B2B2-C6EF2C53C5E2}"/>
            </c:ext>
          </c:extLst>
        </c:ser>
        <c:ser>
          <c:idx val="3"/>
          <c:order val="3"/>
          <c:tx>
            <c:strRef>
              <c:f>'Proceso de Autoevaluación 2025 '!$BH$43</c:f>
              <c:strCache>
                <c:ptCount val="1"/>
                <c:pt idx="0">
                  <c:v>Ni en acuerdo, ni en desacuerdo.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'!$BI$43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08-4273-B2B2-C6EF2C53C5E2}"/>
            </c:ext>
          </c:extLst>
        </c:ser>
        <c:ser>
          <c:idx val="4"/>
          <c:order val="4"/>
          <c:tx>
            <c:strRef>
              <c:f>'Proceso de Autoevaluación 2025 '!$BH$44</c:f>
              <c:strCache>
                <c:ptCount val="1"/>
                <c:pt idx="0">
                  <c:v>Totalmente en desacuerdo.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'Proceso de Autoevaluación 2025 '!$BI$44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08-4273-B2B2-C6EF2C53C5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02335648"/>
        <c:axId val="602334568"/>
      </c:barChart>
      <c:catAx>
        <c:axId val="602335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02334568"/>
        <c:crosses val="autoZero"/>
        <c:auto val="1"/>
        <c:lblAlgn val="ctr"/>
        <c:lblOffset val="100"/>
        <c:noMultiLvlLbl val="0"/>
      </c:catAx>
      <c:valAx>
        <c:axId val="602334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02335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BAC12-45A7-6167-09ED-56E1E120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3B5EBC-DF63-1F98-A415-C9236A849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CAE80F-EF2B-4FAF-3456-0006B462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65D160-C220-6C04-E6D8-84B86343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01A4C-44A4-6CBA-4777-681AE7EF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02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091CF-2D99-BDDA-1A4A-25D9DD2B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774CF0-C9FE-45EA-5117-678DDECA4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B5CE2-6818-0D0A-C448-1688875D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601297-89E2-B66B-2D37-3998DB80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CDDCC7-A643-5AD7-14D2-55232A72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139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93582-80AA-3A5E-208E-E6E5808BE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A83494-7DB9-43F8-726F-FE26DB4B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A18DD5-49B7-B993-A00F-2AFFFBA0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D6D95D-4BB9-EBE2-2A77-8AF5D8DC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6B5337-5C87-022D-5B7E-DAC1CE9F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739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28809-C059-81DD-CB26-19A19AF5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4E2DA1-A39A-C2AB-CB61-66AA75113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8908A5-6EB7-298B-DA71-E0A0406FF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6E11D5-1C2B-AD29-6C92-EFCC5FB3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5ABCB6-D995-1ACD-DE66-5C1D50B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AECC8B-7D09-DA0F-0126-3C1FC87D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111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887FD-AE79-AFF5-3343-25793B2D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622789-5D99-939C-DB63-46F3A2F89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262A32-AC48-C428-E71A-D9E52D63B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F1389-DBC3-8136-BAAB-F1869F5B2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678ED7-E32C-7FBE-71A4-D55A25BA7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9F57B1-BAA6-53AB-6EEE-204955375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FCA64C-BF08-2BEE-E928-2285E7CE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F4E2EC-053C-F417-4512-78B90C25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292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57146-B0D8-D9D3-E0F1-13E745C3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51160E-FC49-0D15-0CB5-8F9D1A74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B60543-008C-C165-94DA-2754B2E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61AE4F-876B-181A-CC11-EBDEC26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324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3FF00C-B094-F977-14D2-D9ECB21C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97266F-2EF3-5E4E-89A7-0809FBC5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5C9AA6-DAB9-4163-FF6F-9954AD26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741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2DE86-8ECB-3B84-1411-EBDAAB8B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D344C-38E1-307A-D307-E13E50B27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51A9C6-96CD-1054-86C1-3A264FEEA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07E7E0-05E8-0E6B-3DFF-977975216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96743E-C058-5B38-D2B1-51121623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77D5B5-1CAA-D9E0-FCE3-8ADECAE1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141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7A83-3AB9-9D6F-CE17-EAD912EA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2C83D48-C5E2-F061-6355-8A83700F1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702306-9CFD-6E66-4C9F-D50E54685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5583F6-20A4-9B17-5D0B-2667A60E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678E70-DF4D-2CE6-77AF-5443C250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2CEE3E-E65C-B8E9-B01D-84D381F8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234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9C28D-51D1-590A-7FFF-9CDA52AA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415E8F-8012-1000-0017-1DC7B0FA6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C2FB7B-9EF5-4080-6F42-292F423F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6DC99-2B41-6694-22D7-E380BD91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C66657-9EF7-B33B-0B4C-3B433908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370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E5453E-B51B-27B2-4A3F-D140EB66F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688249-FB7C-AFD2-44D2-AAD63F3AD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73C907-4F5D-33BC-FB74-05AC08CD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CCC08B-0026-3727-F9B2-14C53CF9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1B0D49-EFE4-2BA0-C5EF-2C328C0B9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76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74F3B1-A6BA-956F-555A-C2C058DE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5C65EF-6CF5-AA66-CD2A-E642B9EE2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8306A4-A732-E27B-5490-524E51EB5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E570F-80C0-4C48-B947-DF78AA782DBC}" type="datetimeFigureOut">
              <a:rPr lang="es-CO" smtClean="0"/>
              <a:t>6/04/2025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529206-81DC-1A78-1DDA-2255E31B2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3EC7C8-F300-C36F-6545-A64EA6729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68F1D-AC69-4639-8EAF-5A7DD59655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963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02175-A240-C2E0-727C-E4B723A32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PROCESO DE AUTOEVALUACIÓN 2025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34E10C-F1BB-E0C8-1B3B-0DEB326072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020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DCCBA-D5F4-DD9F-721E-BE5BCF9E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AFD52004-7CE8-BC4E-920D-A532D8EAE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3327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762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09D19-2167-A388-A87E-ABA85239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2C10BB85-2608-B694-E301-1A855AC5D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8989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761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DCD6F-2B6A-7A64-4561-59B66D18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09693C79-FBCF-36C0-DF39-603B9D12E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5382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9534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B6725-B93E-6C38-F659-C956879F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0E076772-2A19-235C-CC43-F257BF589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5714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467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7514E-E8EA-0682-6C03-F246AD8A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EE939C3-B5E9-F53A-E8B2-1CD9F56B5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1339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6588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3AB71-795D-A052-77E7-9FA5605F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17EA3EA-22D2-3155-13A5-25C1465CE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1319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739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73C2D-3648-EDF2-87C6-A2AE4614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23D9741-78F4-975A-A009-EA921D24B8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1670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8288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DD4A0-D69D-BAEC-EEF8-BEEE7F4C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D5E8B99A-49C9-625D-09E1-606E252EA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7164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37695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71D55-4B72-392A-EF30-2B2C4C6D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30A56275-2C24-5A6E-4753-F3F5E6435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0553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931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F2369-B9C7-7C11-D6A8-B1A65179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6D39FAD-10C5-4291-7E5A-AC7B80DDCB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48392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7230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E2439-20CB-ADD8-F479-716CD01C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0FE4753-43D5-013F-E2A3-0B7239DEC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9206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163</Words>
  <Application>Microsoft Office PowerPoint</Application>
  <PresentationFormat>Panorámica</PresentationFormat>
  <Paragraphs>10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PROCESO DE AUTOEVALUACIÓN 2025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CAIMAN URQUIJO CAMILO ANDRES</dc:creator>
  <cp:lastModifiedBy>CAIMAN URQUIJO CAMILO ANDRES</cp:lastModifiedBy>
  <cp:revision>7</cp:revision>
  <dcterms:created xsi:type="dcterms:W3CDTF">2025-04-04T20:35:57Z</dcterms:created>
  <dcterms:modified xsi:type="dcterms:W3CDTF">2025-04-07T04:01:37Z</dcterms:modified>
</cp:coreProperties>
</file>