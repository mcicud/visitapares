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313" r:id="rId5"/>
    <p:sldId id="310" r:id="rId6"/>
    <p:sldId id="311" r:id="rId7"/>
    <p:sldId id="257" r:id="rId8"/>
    <p:sldId id="327" r:id="rId9"/>
    <p:sldId id="328" r:id="rId10"/>
    <p:sldId id="332" r:id="rId11"/>
    <p:sldId id="333" r:id="rId12"/>
    <p:sldId id="329" r:id="rId13"/>
    <p:sldId id="330" r:id="rId14"/>
    <p:sldId id="331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lson Vera" initials="NV" lastIdx="1" clrIdx="0">
    <p:extLst>
      <p:ext uri="{19B8F6BF-5375-455C-9EA6-DF929625EA0E}">
        <p15:presenceInfo xmlns:p15="http://schemas.microsoft.com/office/powerpoint/2012/main" userId="c1babb5aaf7dc19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FF7"/>
    <a:srgbClr val="7F6000"/>
    <a:srgbClr val="767171"/>
    <a:srgbClr val="D6DCE5"/>
    <a:srgbClr val="1F4E79"/>
    <a:srgbClr val="015986"/>
    <a:srgbClr val="DEEBF7"/>
    <a:srgbClr val="7F7F7F"/>
    <a:srgbClr val="8497B0"/>
    <a:srgbClr val="449B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2803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830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5261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574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214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765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9436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888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697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5674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481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B96FF-F013-4B72-B217-7318E88468C5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394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A12A38F-4237-427B-9FE7-89DA6E9C4A6D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s-CO" sz="1600" dirty="0"/>
              <a:t>– UNIVERSIDAD DISTRITAL FRANCISCO JOSÉ DE CALDAS,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984505-7E43-431D-9020-1BE09D8B8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496DBC9-A5AB-4471-9E1D-70B63B04C9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281" y="1610445"/>
            <a:ext cx="4494638" cy="363710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7349C10-2E04-4EEC-9B6F-D2114A52B6F3}"/>
              </a:ext>
            </a:extLst>
          </p:cNvPr>
          <p:cNvSpPr txBox="1"/>
          <p:nvPr/>
        </p:nvSpPr>
        <p:spPr>
          <a:xfrm>
            <a:off x="4459828" y="5247554"/>
            <a:ext cx="34576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dirty="0"/>
              <a:t>ACREDITADA DE ALTA CALIDAD</a:t>
            </a:r>
          </a:p>
          <a:p>
            <a:pPr algn="ctr"/>
            <a:r>
              <a:rPr lang="es-ES" sz="2000" b="1" dirty="0"/>
              <a:t>30 de Diciembre de 2022</a:t>
            </a:r>
          </a:p>
          <a:p>
            <a:pPr algn="ctr"/>
            <a:r>
              <a:rPr lang="es-ES" sz="2000" b="1" dirty="0"/>
              <a:t>4 años</a:t>
            </a:r>
            <a:endParaRPr lang="es-CO" sz="2000" b="1" dirty="0"/>
          </a:p>
        </p:txBody>
      </p:sp>
    </p:spTree>
    <p:extLst>
      <p:ext uri="{BB962C8B-B14F-4D97-AF65-F5344CB8AC3E}">
        <p14:creationId xmlns:p14="http://schemas.microsoft.com/office/powerpoint/2010/main" val="2406378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1483417" y="1743473"/>
            <a:ext cx="901843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2400" dirty="0"/>
              <a:t>PRESENTACIÓN GENERAL DEL PROYECTO CURRICULAR</a:t>
            </a:r>
          </a:p>
          <a:p>
            <a:pPr algn="ctr"/>
            <a:r>
              <a:rPr lang="es-CO" sz="2400" dirty="0"/>
              <a:t>MAESTRÍA EN CIENCIAS DE LA INFORMACIÓN Y LAS COMUNICACIONES</a:t>
            </a:r>
          </a:p>
          <a:p>
            <a:pPr algn="ctr"/>
            <a:r>
              <a:rPr lang="es-ES" b="1" dirty="0"/>
              <a:t>Investigación</a:t>
            </a:r>
            <a:r>
              <a:rPr lang="es-ES" dirty="0"/>
              <a:t> (Código SNIES: 17528)</a:t>
            </a:r>
            <a:r>
              <a:rPr lang="es-ES" b="1" dirty="0"/>
              <a:t> – Profundización</a:t>
            </a:r>
            <a:r>
              <a:rPr lang="es-ES" dirty="0"/>
              <a:t> (Código SNIES: 116070)</a:t>
            </a:r>
            <a:endParaRPr lang="es-CO" sz="2400" dirty="0"/>
          </a:p>
        </p:txBody>
      </p:sp>
      <p:sp>
        <p:nvSpPr>
          <p:cNvPr id="6" name="CuadroTexto 5"/>
          <p:cNvSpPr txBox="1"/>
          <p:nvPr/>
        </p:nvSpPr>
        <p:spPr>
          <a:xfrm>
            <a:off x="4823919" y="5197931"/>
            <a:ext cx="7050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/>
              <a:t>COORDINADOR: ALVARO ENRIQUE ORTIZ D. PhD</a:t>
            </a:r>
          </a:p>
          <a:p>
            <a:pPr algn="ctr"/>
            <a:r>
              <a:rPr lang="es-CO" sz="2400" dirty="0"/>
              <a:t>ASISTENTE: Esp. ALISON KATHERINE RUBIANO SUAREZ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809D89-B8E5-4AFF-B348-597D90356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94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343734" y="4626984"/>
            <a:ext cx="5496332" cy="69299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/>
          </a:p>
        </p:txBody>
      </p:sp>
      <p:sp>
        <p:nvSpPr>
          <p:cNvPr id="10" name="Rectángulo redondeado 9"/>
          <p:cNvSpPr/>
          <p:nvPr/>
        </p:nvSpPr>
        <p:spPr>
          <a:xfrm>
            <a:off x="472321" y="4736426"/>
            <a:ext cx="1712311" cy="500159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Teleinformática</a:t>
            </a:r>
          </a:p>
        </p:txBody>
      </p:sp>
      <p:sp>
        <p:nvSpPr>
          <p:cNvPr id="11" name="Rectángulo redondeado 10"/>
          <p:cNvSpPr/>
          <p:nvPr/>
        </p:nvSpPr>
        <p:spPr>
          <a:xfrm>
            <a:off x="2303695" y="4736426"/>
            <a:ext cx="1324566" cy="500159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Geomática</a:t>
            </a:r>
          </a:p>
        </p:txBody>
      </p:sp>
      <p:sp>
        <p:nvSpPr>
          <p:cNvPr id="12" name="Rectángulo redondeado 11"/>
          <p:cNvSpPr/>
          <p:nvPr/>
        </p:nvSpPr>
        <p:spPr>
          <a:xfrm>
            <a:off x="3756257" y="4736426"/>
            <a:ext cx="1894104" cy="500159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Ing. de Software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338971" y="2564141"/>
            <a:ext cx="5501094" cy="194854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/>
          </a:p>
        </p:txBody>
      </p:sp>
      <p:sp>
        <p:nvSpPr>
          <p:cNvPr id="14" name="Rectángulo redondeado 13"/>
          <p:cNvSpPr/>
          <p:nvPr/>
        </p:nvSpPr>
        <p:spPr>
          <a:xfrm>
            <a:off x="480656" y="2675971"/>
            <a:ext cx="5207537" cy="360687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Fundamentales (8 créditos)</a:t>
            </a:r>
          </a:p>
        </p:txBody>
      </p:sp>
      <p:sp>
        <p:nvSpPr>
          <p:cNvPr id="15" name="Rectángulo redondeado 14"/>
          <p:cNvSpPr/>
          <p:nvPr/>
        </p:nvSpPr>
        <p:spPr>
          <a:xfrm>
            <a:off x="461606" y="3545218"/>
            <a:ext cx="5218702" cy="396093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Profundización (12 créditos)</a:t>
            </a:r>
          </a:p>
        </p:txBody>
      </p:sp>
      <p:sp>
        <p:nvSpPr>
          <p:cNvPr id="16" name="Rectángulo redondeado 15"/>
          <p:cNvSpPr/>
          <p:nvPr/>
        </p:nvSpPr>
        <p:spPr>
          <a:xfrm>
            <a:off x="469941" y="3091810"/>
            <a:ext cx="5207537" cy="396093"/>
          </a:xfrm>
          <a:prstGeom prst="roundRect">
            <a:avLst/>
          </a:prstGeom>
          <a:solidFill>
            <a:srgbClr val="7F6000"/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Investigación (16 créditos)</a:t>
            </a:r>
          </a:p>
        </p:txBody>
      </p:sp>
      <p:sp>
        <p:nvSpPr>
          <p:cNvPr id="17" name="Rectángulo redondeado 16"/>
          <p:cNvSpPr/>
          <p:nvPr/>
        </p:nvSpPr>
        <p:spPr>
          <a:xfrm>
            <a:off x="450484" y="4019348"/>
            <a:ext cx="5226994" cy="399709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Electivos (8 créditos)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587759" y="488846"/>
            <a:ext cx="73629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Font typeface="+mj-lt"/>
              <a:buAutoNum type="arabicPeriod" startAt="2"/>
            </a:pPr>
            <a:r>
              <a:rPr lang="es-CO" sz="2800" dirty="0"/>
              <a:t>ESTRUCTURA CURRICULAR - General</a:t>
            </a: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47" name="Rectángulo 46">
            <a:extLst>
              <a:ext uri="{FF2B5EF4-FFF2-40B4-BE49-F238E27FC236}">
                <a16:creationId xmlns:a16="http://schemas.microsoft.com/office/drawing/2014/main" id="{593E874A-C980-4D7D-90A7-6D9508C35176}"/>
              </a:ext>
            </a:extLst>
          </p:cNvPr>
          <p:cNvSpPr/>
          <p:nvPr/>
        </p:nvSpPr>
        <p:spPr>
          <a:xfrm>
            <a:off x="6392129" y="4626984"/>
            <a:ext cx="5496332" cy="69299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/>
          </a:p>
        </p:txBody>
      </p:sp>
      <p:sp>
        <p:nvSpPr>
          <p:cNvPr id="49" name="Rectángulo redondeado 9">
            <a:extLst>
              <a:ext uri="{FF2B5EF4-FFF2-40B4-BE49-F238E27FC236}">
                <a16:creationId xmlns:a16="http://schemas.microsoft.com/office/drawing/2014/main" id="{F9EE6841-F162-4D90-A3D8-92C30AB8C641}"/>
              </a:ext>
            </a:extLst>
          </p:cNvPr>
          <p:cNvSpPr/>
          <p:nvPr/>
        </p:nvSpPr>
        <p:spPr>
          <a:xfrm>
            <a:off x="6520716" y="4736426"/>
            <a:ext cx="1712311" cy="500159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Teleinformática</a:t>
            </a:r>
          </a:p>
        </p:txBody>
      </p:sp>
      <p:sp>
        <p:nvSpPr>
          <p:cNvPr id="51" name="Rectángulo redondeado 10">
            <a:extLst>
              <a:ext uri="{FF2B5EF4-FFF2-40B4-BE49-F238E27FC236}">
                <a16:creationId xmlns:a16="http://schemas.microsoft.com/office/drawing/2014/main" id="{9F512F29-1C61-4EEF-A059-478F03F150DE}"/>
              </a:ext>
            </a:extLst>
          </p:cNvPr>
          <p:cNvSpPr/>
          <p:nvPr/>
        </p:nvSpPr>
        <p:spPr>
          <a:xfrm>
            <a:off x="8352090" y="4736426"/>
            <a:ext cx="1324566" cy="500159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Geomática</a:t>
            </a:r>
          </a:p>
        </p:txBody>
      </p:sp>
      <p:sp>
        <p:nvSpPr>
          <p:cNvPr id="53" name="Rectángulo redondeado 11">
            <a:extLst>
              <a:ext uri="{FF2B5EF4-FFF2-40B4-BE49-F238E27FC236}">
                <a16:creationId xmlns:a16="http://schemas.microsoft.com/office/drawing/2014/main" id="{6010BEC3-5D5D-4215-B85D-3B2503AB7C33}"/>
              </a:ext>
            </a:extLst>
          </p:cNvPr>
          <p:cNvSpPr/>
          <p:nvPr/>
        </p:nvSpPr>
        <p:spPr>
          <a:xfrm>
            <a:off x="9804652" y="4736426"/>
            <a:ext cx="1894104" cy="500159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Ing. de Software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B5481E55-CA76-4F22-802D-29784DEB3A4F}"/>
              </a:ext>
            </a:extLst>
          </p:cNvPr>
          <p:cNvSpPr/>
          <p:nvPr/>
        </p:nvSpPr>
        <p:spPr>
          <a:xfrm>
            <a:off x="6387366" y="2564141"/>
            <a:ext cx="5501094" cy="194854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/>
          </a:p>
        </p:txBody>
      </p:sp>
      <p:sp>
        <p:nvSpPr>
          <p:cNvPr id="57" name="Rectángulo redondeado 13">
            <a:extLst>
              <a:ext uri="{FF2B5EF4-FFF2-40B4-BE49-F238E27FC236}">
                <a16:creationId xmlns:a16="http://schemas.microsoft.com/office/drawing/2014/main" id="{F3E79DC5-36E3-4315-BE20-1A2BBB6D1117}"/>
              </a:ext>
            </a:extLst>
          </p:cNvPr>
          <p:cNvSpPr/>
          <p:nvPr/>
        </p:nvSpPr>
        <p:spPr>
          <a:xfrm>
            <a:off x="6529051" y="2675971"/>
            <a:ext cx="5207537" cy="360687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Fundamentales (8 créditos)</a:t>
            </a:r>
          </a:p>
        </p:txBody>
      </p:sp>
      <p:sp>
        <p:nvSpPr>
          <p:cNvPr id="59" name="Rectángulo redondeado 14">
            <a:extLst>
              <a:ext uri="{FF2B5EF4-FFF2-40B4-BE49-F238E27FC236}">
                <a16:creationId xmlns:a16="http://schemas.microsoft.com/office/drawing/2014/main" id="{D9A1ADA9-22E3-4768-AC1D-A88FA9F0F614}"/>
              </a:ext>
            </a:extLst>
          </p:cNvPr>
          <p:cNvSpPr/>
          <p:nvPr/>
        </p:nvSpPr>
        <p:spPr>
          <a:xfrm>
            <a:off x="6510001" y="3545218"/>
            <a:ext cx="5218702" cy="396093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Profundización (20 créditos)</a:t>
            </a:r>
          </a:p>
        </p:txBody>
      </p:sp>
      <p:sp>
        <p:nvSpPr>
          <p:cNvPr id="61" name="Rectángulo redondeado 15">
            <a:extLst>
              <a:ext uri="{FF2B5EF4-FFF2-40B4-BE49-F238E27FC236}">
                <a16:creationId xmlns:a16="http://schemas.microsoft.com/office/drawing/2014/main" id="{936EC398-3202-49C9-93DF-87910832935E}"/>
              </a:ext>
            </a:extLst>
          </p:cNvPr>
          <p:cNvSpPr/>
          <p:nvPr/>
        </p:nvSpPr>
        <p:spPr>
          <a:xfrm>
            <a:off x="6518336" y="3091810"/>
            <a:ext cx="5207537" cy="396093"/>
          </a:xfrm>
          <a:prstGeom prst="roundRect">
            <a:avLst/>
          </a:prstGeom>
          <a:solidFill>
            <a:srgbClr val="7F6000"/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Investigación (8 créditos)</a:t>
            </a:r>
          </a:p>
        </p:txBody>
      </p:sp>
      <p:sp>
        <p:nvSpPr>
          <p:cNvPr id="63" name="Rectángulo redondeado 16">
            <a:extLst>
              <a:ext uri="{FF2B5EF4-FFF2-40B4-BE49-F238E27FC236}">
                <a16:creationId xmlns:a16="http://schemas.microsoft.com/office/drawing/2014/main" id="{DC198BF7-AF89-48C3-89EE-54824D82FC59}"/>
              </a:ext>
            </a:extLst>
          </p:cNvPr>
          <p:cNvSpPr/>
          <p:nvPr/>
        </p:nvSpPr>
        <p:spPr>
          <a:xfrm>
            <a:off x="6498879" y="4019348"/>
            <a:ext cx="5226994" cy="399709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Electivos (8 créditos)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1EB0A0A0-5BBB-4174-8081-D684626737F2}"/>
              </a:ext>
            </a:extLst>
          </p:cNvPr>
          <p:cNvSpPr/>
          <p:nvPr/>
        </p:nvSpPr>
        <p:spPr>
          <a:xfrm>
            <a:off x="315815" y="1894448"/>
            <a:ext cx="5496332" cy="397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2">
                    <a:lumMod val="75000"/>
                  </a:schemeClr>
                </a:solidFill>
                <a:latin typeface="Stencil" panose="040409050D0802020404" pitchFamily="82" charset="0"/>
              </a:rPr>
              <a:t>INVESTIGACIÓN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3D2D5098-683B-4818-9DEB-E34A30C1CC1A}"/>
              </a:ext>
            </a:extLst>
          </p:cNvPr>
          <p:cNvSpPr/>
          <p:nvPr/>
        </p:nvSpPr>
        <p:spPr>
          <a:xfrm>
            <a:off x="6392765" y="1903973"/>
            <a:ext cx="5496332" cy="397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2">
                    <a:lumMod val="75000"/>
                  </a:schemeClr>
                </a:solidFill>
                <a:latin typeface="Stencil" panose="040409050D0802020404" pitchFamily="82" charset="0"/>
              </a:rPr>
              <a:t>PROFUNDIZACIÓN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86E9A6F-8CB5-4589-9CBC-354422089148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56AF72-B1E9-412C-83C5-15ACB80F2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ángulo redondeado 11">
            <a:extLst>
              <a:ext uri="{FF2B5EF4-FFF2-40B4-BE49-F238E27FC236}">
                <a16:creationId xmlns:a16="http://schemas.microsoft.com/office/drawing/2014/main" id="{952DB5E3-8205-4EF4-985D-ED8B85F84DB4}"/>
              </a:ext>
            </a:extLst>
          </p:cNvPr>
          <p:cNvSpPr/>
          <p:nvPr/>
        </p:nvSpPr>
        <p:spPr>
          <a:xfrm>
            <a:off x="3381465" y="5557083"/>
            <a:ext cx="5632908" cy="50015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En espera de inclusión Énfasis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2163526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ángulo redondeado 53"/>
          <p:cNvSpPr/>
          <p:nvPr/>
        </p:nvSpPr>
        <p:spPr>
          <a:xfrm>
            <a:off x="9276949" y="2526735"/>
            <a:ext cx="1323975" cy="2629418"/>
          </a:xfrm>
          <a:prstGeom prst="roundRect">
            <a:avLst/>
          </a:prstGeom>
          <a:solidFill>
            <a:srgbClr val="D6DCE5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/>
          </a:p>
        </p:txBody>
      </p:sp>
      <p:sp>
        <p:nvSpPr>
          <p:cNvPr id="43" name="Rectángulo redondeado 42"/>
          <p:cNvSpPr/>
          <p:nvPr/>
        </p:nvSpPr>
        <p:spPr>
          <a:xfrm>
            <a:off x="7881114" y="2532399"/>
            <a:ext cx="1323975" cy="262941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/>
          </a:p>
        </p:txBody>
      </p:sp>
      <p:sp>
        <p:nvSpPr>
          <p:cNvPr id="3" name="Rectángulo redondeado 2"/>
          <p:cNvSpPr/>
          <p:nvPr/>
        </p:nvSpPr>
        <p:spPr>
          <a:xfrm>
            <a:off x="6481195" y="2526735"/>
            <a:ext cx="1323975" cy="262941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/>
          </a:p>
        </p:txBody>
      </p:sp>
      <p:sp>
        <p:nvSpPr>
          <p:cNvPr id="19" name="CuadroTexto 18"/>
          <p:cNvSpPr txBox="1"/>
          <p:nvPr/>
        </p:nvSpPr>
        <p:spPr>
          <a:xfrm>
            <a:off x="551063" y="589522"/>
            <a:ext cx="7848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Font typeface="+mj-lt"/>
              <a:buAutoNum type="arabicPeriod" startAt="2"/>
            </a:pPr>
            <a:r>
              <a:rPr lang="es-CO" sz="2800" dirty="0"/>
              <a:t>ESTRUCTURA CURRICULAR – Semestral</a:t>
            </a:r>
          </a:p>
        </p:txBody>
      </p:sp>
      <p:sp>
        <p:nvSpPr>
          <p:cNvPr id="8" name="Rectángulo redondeado 7"/>
          <p:cNvSpPr/>
          <p:nvPr/>
        </p:nvSpPr>
        <p:spPr>
          <a:xfrm>
            <a:off x="6613553" y="2669397"/>
            <a:ext cx="1071302" cy="552678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Fundamental</a:t>
            </a:r>
          </a:p>
        </p:txBody>
      </p:sp>
      <p:sp>
        <p:nvSpPr>
          <p:cNvPr id="2" name="Rectángulo 1"/>
          <p:cNvSpPr/>
          <p:nvPr/>
        </p:nvSpPr>
        <p:spPr>
          <a:xfrm>
            <a:off x="6586844" y="2938700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11" name="Rectángulo redondeado 10"/>
          <p:cNvSpPr/>
          <p:nvPr/>
        </p:nvSpPr>
        <p:spPr>
          <a:xfrm>
            <a:off x="6601021" y="3871024"/>
            <a:ext cx="1083834" cy="55267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6574311" y="4140327"/>
            <a:ext cx="1142126" cy="171643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13" name="Rectángulo redondeado 12"/>
          <p:cNvSpPr/>
          <p:nvPr/>
        </p:nvSpPr>
        <p:spPr>
          <a:xfrm>
            <a:off x="6613554" y="4464610"/>
            <a:ext cx="1071302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Seminario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6558269" y="4733913"/>
            <a:ext cx="1158168" cy="167952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35" name="Rectángulo redondeado 34"/>
          <p:cNvSpPr/>
          <p:nvPr/>
        </p:nvSpPr>
        <p:spPr>
          <a:xfrm>
            <a:off x="6613554" y="3268867"/>
            <a:ext cx="1083834" cy="552678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Fundamental</a:t>
            </a:r>
          </a:p>
        </p:txBody>
      </p:sp>
      <p:sp>
        <p:nvSpPr>
          <p:cNvPr id="36" name="Rectángulo 35"/>
          <p:cNvSpPr/>
          <p:nvPr/>
        </p:nvSpPr>
        <p:spPr>
          <a:xfrm>
            <a:off x="6586844" y="3538170"/>
            <a:ext cx="1142126" cy="179355"/>
          </a:xfrm>
          <a:prstGeom prst="rect">
            <a:avLst/>
          </a:prstGeom>
          <a:solidFill>
            <a:schemeClr val="bg1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37" name="Rectángulo redondeado 36"/>
          <p:cNvSpPr/>
          <p:nvPr/>
        </p:nvSpPr>
        <p:spPr>
          <a:xfrm>
            <a:off x="8013472" y="2675061"/>
            <a:ext cx="1083834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38" name="Rectángulo 37"/>
          <p:cNvSpPr/>
          <p:nvPr/>
        </p:nvSpPr>
        <p:spPr>
          <a:xfrm>
            <a:off x="7986763" y="2944364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46" name="Rectángulo redondeado 45"/>
          <p:cNvSpPr/>
          <p:nvPr/>
        </p:nvSpPr>
        <p:spPr>
          <a:xfrm>
            <a:off x="8000940" y="3275171"/>
            <a:ext cx="1083834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47" name="Rectángulo 46"/>
          <p:cNvSpPr/>
          <p:nvPr/>
        </p:nvSpPr>
        <p:spPr>
          <a:xfrm>
            <a:off x="7974231" y="3544474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50" name="Rectángulo redondeado 49"/>
          <p:cNvSpPr/>
          <p:nvPr/>
        </p:nvSpPr>
        <p:spPr>
          <a:xfrm>
            <a:off x="9410894" y="3270235"/>
            <a:ext cx="1083834" cy="552678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Electiva</a:t>
            </a:r>
          </a:p>
        </p:txBody>
      </p:sp>
      <p:sp>
        <p:nvSpPr>
          <p:cNvPr id="51" name="Rectángulo 50"/>
          <p:cNvSpPr/>
          <p:nvPr/>
        </p:nvSpPr>
        <p:spPr>
          <a:xfrm>
            <a:off x="9384184" y="3539538"/>
            <a:ext cx="1142126" cy="171643"/>
          </a:xfrm>
          <a:prstGeom prst="rect">
            <a:avLst/>
          </a:prstGeom>
          <a:solidFill>
            <a:schemeClr val="bg1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52" name="Rectángulo redondeado 51"/>
          <p:cNvSpPr/>
          <p:nvPr/>
        </p:nvSpPr>
        <p:spPr>
          <a:xfrm>
            <a:off x="9423427" y="3863821"/>
            <a:ext cx="1071302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Tesis I</a:t>
            </a:r>
          </a:p>
        </p:txBody>
      </p:sp>
      <p:sp>
        <p:nvSpPr>
          <p:cNvPr id="53" name="Rectángulo 52"/>
          <p:cNvSpPr/>
          <p:nvPr/>
        </p:nvSpPr>
        <p:spPr>
          <a:xfrm>
            <a:off x="9368142" y="4133124"/>
            <a:ext cx="1158168" cy="167952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57" name="Rectángulo redondeado 56"/>
          <p:cNvSpPr/>
          <p:nvPr/>
        </p:nvSpPr>
        <p:spPr>
          <a:xfrm>
            <a:off x="10736815" y="2662361"/>
            <a:ext cx="1159778" cy="552678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Fundamentales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10723754" y="2931664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8 Créditos</a:t>
            </a:r>
          </a:p>
        </p:txBody>
      </p:sp>
      <p:sp>
        <p:nvSpPr>
          <p:cNvPr id="59" name="Rectángulo redondeado 58"/>
          <p:cNvSpPr/>
          <p:nvPr/>
        </p:nvSpPr>
        <p:spPr>
          <a:xfrm>
            <a:off x="10736815" y="3265384"/>
            <a:ext cx="1159778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60" name="Rectángulo 59"/>
          <p:cNvSpPr/>
          <p:nvPr/>
        </p:nvSpPr>
        <p:spPr>
          <a:xfrm>
            <a:off x="10723754" y="3534687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20 Créditos</a:t>
            </a:r>
          </a:p>
        </p:txBody>
      </p:sp>
      <p:sp>
        <p:nvSpPr>
          <p:cNvPr id="63" name="Rectángulo redondeado 62"/>
          <p:cNvSpPr/>
          <p:nvPr/>
        </p:nvSpPr>
        <p:spPr>
          <a:xfrm>
            <a:off x="10736815" y="3869652"/>
            <a:ext cx="1159778" cy="552678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Electivas</a:t>
            </a:r>
          </a:p>
        </p:txBody>
      </p:sp>
      <p:sp>
        <p:nvSpPr>
          <p:cNvPr id="64" name="Rectángulo 63"/>
          <p:cNvSpPr/>
          <p:nvPr/>
        </p:nvSpPr>
        <p:spPr>
          <a:xfrm>
            <a:off x="10723754" y="4138955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8 Créditos</a:t>
            </a:r>
          </a:p>
        </p:txBody>
      </p:sp>
      <p:sp>
        <p:nvSpPr>
          <p:cNvPr id="65" name="Rectángulo redondeado 64"/>
          <p:cNvSpPr/>
          <p:nvPr/>
        </p:nvSpPr>
        <p:spPr>
          <a:xfrm>
            <a:off x="10740181" y="4489644"/>
            <a:ext cx="1159778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Investigación</a:t>
            </a:r>
          </a:p>
        </p:txBody>
      </p:sp>
      <p:sp>
        <p:nvSpPr>
          <p:cNvPr id="66" name="Rectángulo 65"/>
          <p:cNvSpPr/>
          <p:nvPr/>
        </p:nvSpPr>
        <p:spPr>
          <a:xfrm>
            <a:off x="10727120" y="4758947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8 Créditos</a:t>
            </a:r>
          </a:p>
        </p:txBody>
      </p:sp>
      <p:sp>
        <p:nvSpPr>
          <p:cNvPr id="67" name="Rectángulo 66"/>
          <p:cNvSpPr/>
          <p:nvPr/>
        </p:nvSpPr>
        <p:spPr>
          <a:xfrm>
            <a:off x="6612530" y="5215962"/>
            <a:ext cx="12025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PRIMER</a:t>
            </a:r>
          </a:p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SEMESTRE</a:t>
            </a:r>
          </a:p>
        </p:txBody>
      </p:sp>
      <p:sp>
        <p:nvSpPr>
          <p:cNvPr id="68" name="Rectángulo 67"/>
          <p:cNvSpPr/>
          <p:nvPr/>
        </p:nvSpPr>
        <p:spPr>
          <a:xfrm>
            <a:off x="7966345" y="5215962"/>
            <a:ext cx="12025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SEGUNDO</a:t>
            </a:r>
          </a:p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SEMESTRE</a:t>
            </a:r>
          </a:p>
        </p:txBody>
      </p:sp>
      <p:sp>
        <p:nvSpPr>
          <p:cNvPr id="69" name="Rectángulo 68"/>
          <p:cNvSpPr/>
          <p:nvPr/>
        </p:nvSpPr>
        <p:spPr>
          <a:xfrm>
            <a:off x="9345035" y="5205719"/>
            <a:ext cx="12025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TERCER</a:t>
            </a:r>
          </a:p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SEMESTRE</a:t>
            </a:r>
          </a:p>
        </p:txBody>
      </p:sp>
      <p:sp>
        <p:nvSpPr>
          <p:cNvPr id="70" name="Rectángulo redondeado 69"/>
          <p:cNvSpPr/>
          <p:nvPr/>
        </p:nvSpPr>
        <p:spPr>
          <a:xfrm>
            <a:off x="3151459" y="2498527"/>
            <a:ext cx="1323975" cy="2629418"/>
          </a:xfrm>
          <a:prstGeom prst="roundRect">
            <a:avLst/>
          </a:prstGeom>
          <a:solidFill>
            <a:srgbClr val="D6DCE5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/>
          </a:p>
        </p:txBody>
      </p:sp>
      <p:sp>
        <p:nvSpPr>
          <p:cNvPr id="71" name="Rectángulo redondeado 70"/>
          <p:cNvSpPr/>
          <p:nvPr/>
        </p:nvSpPr>
        <p:spPr>
          <a:xfrm>
            <a:off x="1755624" y="2504191"/>
            <a:ext cx="1323975" cy="262941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/>
          </a:p>
        </p:txBody>
      </p:sp>
      <p:sp>
        <p:nvSpPr>
          <p:cNvPr id="72" name="Rectángulo redondeado 71"/>
          <p:cNvSpPr/>
          <p:nvPr/>
        </p:nvSpPr>
        <p:spPr>
          <a:xfrm>
            <a:off x="355705" y="2498527"/>
            <a:ext cx="1323975" cy="262941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/>
          </a:p>
        </p:txBody>
      </p:sp>
      <p:sp>
        <p:nvSpPr>
          <p:cNvPr id="73" name="Rectángulo redondeado 72"/>
          <p:cNvSpPr/>
          <p:nvPr/>
        </p:nvSpPr>
        <p:spPr>
          <a:xfrm>
            <a:off x="488063" y="2641189"/>
            <a:ext cx="1071302" cy="552678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Fundamental</a:t>
            </a:r>
          </a:p>
        </p:txBody>
      </p:sp>
      <p:sp>
        <p:nvSpPr>
          <p:cNvPr id="74" name="Rectángulo 73"/>
          <p:cNvSpPr/>
          <p:nvPr/>
        </p:nvSpPr>
        <p:spPr>
          <a:xfrm>
            <a:off x="461354" y="2910492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75" name="Rectángulo redondeado 74"/>
          <p:cNvSpPr/>
          <p:nvPr/>
        </p:nvSpPr>
        <p:spPr>
          <a:xfrm>
            <a:off x="475531" y="3842816"/>
            <a:ext cx="1083834" cy="55267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76" name="Rectángulo 75"/>
          <p:cNvSpPr/>
          <p:nvPr/>
        </p:nvSpPr>
        <p:spPr>
          <a:xfrm>
            <a:off x="448821" y="4112119"/>
            <a:ext cx="1142126" cy="171643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77" name="Rectángulo redondeado 76"/>
          <p:cNvSpPr/>
          <p:nvPr/>
        </p:nvSpPr>
        <p:spPr>
          <a:xfrm>
            <a:off x="488064" y="4436402"/>
            <a:ext cx="1071302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Seminario</a:t>
            </a:r>
          </a:p>
        </p:txBody>
      </p:sp>
      <p:sp>
        <p:nvSpPr>
          <p:cNvPr id="78" name="Rectángulo 77"/>
          <p:cNvSpPr/>
          <p:nvPr/>
        </p:nvSpPr>
        <p:spPr>
          <a:xfrm>
            <a:off x="432779" y="4705705"/>
            <a:ext cx="1158168" cy="167952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79" name="Rectángulo redondeado 78"/>
          <p:cNvSpPr/>
          <p:nvPr/>
        </p:nvSpPr>
        <p:spPr>
          <a:xfrm>
            <a:off x="488064" y="3240659"/>
            <a:ext cx="1083834" cy="552678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Fundamental</a:t>
            </a:r>
          </a:p>
        </p:txBody>
      </p:sp>
      <p:sp>
        <p:nvSpPr>
          <p:cNvPr id="80" name="Rectángulo 79"/>
          <p:cNvSpPr/>
          <p:nvPr/>
        </p:nvSpPr>
        <p:spPr>
          <a:xfrm>
            <a:off x="461354" y="3509962"/>
            <a:ext cx="1142126" cy="179355"/>
          </a:xfrm>
          <a:prstGeom prst="rect">
            <a:avLst/>
          </a:prstGeom>
          <a:solidFill>
            <a:schemeClr val="bg1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81" name="Rectángulo redondeado 80"/>
          <p:cNvSpPr/>
          <p:nvPr/>
        </p:nvSpPr>
        <p:spPr>
          <a:xfrm>
            <a:off x="1887982" y="2646853"/>
            <a:ext cx="1083834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82" name="Rectángulo 81"/>
          <p:cNvSpPr/>
          <p:nvPr/>
        </p:nvSpPr>
        <p:spPr>
          <a:xfrm>
            <a:off x="1861273" y="2916156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83" name="Rectángulo redondeado 82"/>
          <p:cNvSpPr/>
          <p:nvPr/>
        </p:nvSpPr>
        <p:spPr>
          <a:xfrm>
            <a:off x="1875450" y="3848480"/>
            <a:ext cx="1083834" cy="552678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Electiva</a:t>
            </a:r>
          </a:p>
        </p:txBody>
      </p:sp>
      <p:sp>
        <p:nvSpPr>
          <p:cNvPr id="84" name="Rectángulo 83"/>
          <p:cNvSpPr/>
          <p:nvPr/>
        </p:nvSpPr>
        <p:spPr>
          <a:xfrm>
            <a:off x="1848740" y="4117783"/>
            <a:ext cx="1142126" cy="171643"/>
          </a:xfrm>
          <a:prstGeom prst="rect">
            <a:avLst/>
          </a:prstGeom>
          <a:solidFill>
            <a:schemeClr val="bg1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85" name="Rectángulo redondeado 84"/>
          <p:cNvSpPr/>
          <p:nvPr/>
        </p:nvSpPr>
        <p:spPr>
          <a:xfrm>
            <a:off x="1887983" y="4442066"/>
            <a:ext cx="1071302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Tesis I</a:t>
            </a:r>
          </a:p>
        </p:txBody>
      </p:sp>
      <p:sp>
        <p:nvSpPr>
          <p:cNvPr id="86" name="Rectángulo 85"/>
          <p:cNvSpPr/>
          <p:nvPr/>
        </p:nvSpPr>
        <p:spPr>
          <a:xfrm>
            <a:off x="1832698" y="4711369"/>
            <a:ext cx="1158168" cy="167952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87" name="Rectángulo redondeado 86"/>
          <p:cNvSpPr/>
          <p:nvPr/>
        </p:nvSpPr>
        <p:spPr>
          <a:xfrm>
            <a:off x="1875450" y="3246963"/>
            <a:ext cx="1083834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88" name="Rectángulo 87"/>
          <p:cNvSpPr/>
          <p:nvPr/>
        </p:nvSpPr>
        <p:spPr>
          <a:xfrm>
            <a:off x="1848741" y="3516266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89" name="Rectángulo redondeado 88"/>
          <p:cNvSpPr/>
          <p:nvPr/>
        </p:nvSpPr>
        <p:spPr>
          <a:xfrm>
            <a:off x="3262297" y="2643590"/>
            <a:ext cx="1083834" cy="552678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Electiva</a:t>
            </a:r>
          </a:p>
        </p:txBody>
      </p:sp>
      <p:sp>
        <p:nvSpPr>
          <p:cNvPr id="90" name="Rectángulo 89"/>
          <p:cNvSpPr/>
          <p:nvPr/>
        </p:nvSpPr>
        <p:spPr>
          <a:xfrm>
            <a:off x="3235587" y="2912893"/>
            <a:ext cx="1142126" cy="171643"/>
          </a:xfrm>
          <a:prstGeom prst="rect">
            <a:avLst/>
          </a:prstGeom>
          <a:solidFill>
            <a:schemeClr val="bg1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91" name="Rectángulo redondeado 90"/>
          <p:cNvSpPr/>
          <p:nvPr/>
        </p:nvSpPr>
        <p:spPr>
          <a:xfrm>
            <a:off x="3274830" y="3237176"/>
            <a:ext cx="1071302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Defensa tesis</a:t>
            </a:r>
          </a:p>
        </p:txBody>
      </p:sp>
      <p:sp>
        <p:nvSpPr>
          <p:cNvPr id="92" name="Rectángulo 91"/>
          <p:cNvSpPr/>
          <p:nvPr/>
        </p:nvSpPr>
        <p:spPr>
          <a:xfrm>
            <a:off x="3219545" y="3506479"/>
            <a:ext cx="1158168" cy="167952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8 Créditos</a:t>
            </a:r>
          </a:p>
        </p:txBody>
      </p:sp>
      <p:sp>
        <p:nvSpPr>
          <p:cNvPr id="93" name="Rectángulo redondeado 92"/>
          <p:cNvSpPr/>
          <p:nvPr/>
        </p:nvSpPr>
        <p:spPr>
          <a:xfrm>
            <a:off x="4611325" y="2634153"/>
            <a:ext cx="1159778" cy="552678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Fundamentales</a:t>
            </a:r>
          </a:p>
        </p:txBody>
      </p:sp>
      <p:sp>
        <p:nvSpPr>
          <p:cNvPr id="94" name="Rectángulo 93"/>
          <p:cNvSpPr/>
          <p:nvPr/>
        </p:nvSpPr>
        <p:spPr>
          <a:xfrm>
            <a:off x="4598264" y="2903456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8 Créditos</a:t>
            </a:r>
          </a:p>
        </p:txBody>
      </p:sp>
      <p:sp>
        <p:nvSpPr>
          <p:cNvPr id="95" name="Rectángulo redondeado 94"/>
          <p:cNvSpPr/>
          <p:nvPr/>
        </p:nvSpPr>
        <p:spPr>
          <a:xfrm>
            <a:off x="4611325" y="3237176"/>
            <a:ext cx="1159778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96" name="Rectángulo 95"/>
          <p:cNvSpPr/>
          <p:nvPr/>
        </p:nvSpPr>
        <p:spPr>
          <a:xfrm>
            <a:off x="4598264" y="3506479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12 Créditos</a:t>
            </a:r>
          </a:p>
        </p:txBody>
      </p:sp>
      <p:sp>
        <p:nvSpPr>
          <p:cNvPr id="97" name="Rectángulo redondeado 96"/>
          <p:cNvSpPr/>
          <p:nvPr/>
        </p:nvSpPr>
        <p:spPr>
          <a:xfrm>
            <a:off x="4611325" y="3841444"/>
            <a:ext cx="1159778" cy="552678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Electivas</a:t>
            </a:r>
          </a:p>
        </p:txBody>
      </p:sp>
      <p:sp>
        <p:nvSpPr>
          <p:cNvPr id="98" name="Rectángulo 97"/>
          <p:cNvSpPr/>
          <p:nvPr/>
        </p:nvSpPr>
        <p:spPr>
          <a:xfrm>
            <a:off x="4598264" y="4110747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8 Créditos</a:t>
            </a:r>
          </a:p>
        </p:txBody>
      </p:sp>
      <p:sp>
        <p:nvSpPr>
          <p:cNvPr id="99" name="Rectángulo redondeado 98"/>
          <p:cNvSpPr/>
          <p:nvPr/>
        </p:nvSpPr>
        <p:spPr>
          <a:xfrm>
            <a:off x="4614691" y="4461436"/>
            <a:ext cx="1159778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Investigación</a:t>
            </a:r>
          </a:p>
        </p:txBody>
      </p:sp>
      <p:sp>
        <p:nvSpPr>
          <p:cNvPr id="100" name="Rectángulo 99"/>
          <p:cNvSpPr/>
          <p:nvPr/>
        </p:nvSpPr>
        <p:spPr>
          <a:xfrm>
            <a:off x="4601630" y="4730739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16 Créditos</a:t>
            </a:r>
          </a:p>
        </p:txBody>
      </p:sp>
      <p:sp>
        <p:nvSpPr>
          <p:cNvPr id="101" name="Rectángulo 100"/>
          <p:cNvSpPr/>
          <p:nvPr/>
        </p:nvSpPr>
        <p:spPr>
          <a:xfrm>
            <a:off x="487040" y="5187754"/>
            <a:ext cx="12025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PRIMER</a:t>
            </a:r>
          </a:p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SEMESTRE</a:t>
            </a:r>
          </a:p>
        </p:txBody>
      </p:sp>
      <p:sp>
        <p:nvSpPr>
          <p:cNvPr id="102" name="Rectángulo 101"/>
          <p:cNvSpPr/>
          <p:nvPr/>
        </p:nvSpPr>
        <p:spPr>
          <a:xfrm>
            <a:off x="1840855" y="5187754"/>
            <a:ext cx="12025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SEGUNDO</a:t>
            </a:r>
          </a:p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SEMESTRE</a:t>
            </a:r>
          </a:p>
        </p:txBody>
      </p:sp>
      <p:sp>
        <p:nvSpPr>
          <p:cNvPr id="103" name="Rectángulo 102"/>
          <p:cNvSpPr/>
          <p:nvPr/>
        </p:nvSpPr>
        <p:spPr>
          <a:xfrm>
            <a:off x="3219545" y="5177511"/>
            <a:ext cx="12025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TERCER</a:t>
            </a:r>
          </a:p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SEMESTRE</a:t>
            </a:r>
          </a:p>
        </p:txBody>
      </p:sp>
      <p:sp>
        <p:nvSpPr>
          <p:cNvPr id="104" name="Rectángulo redondeado 103"/>
          <p:cNvSpPr/>
          <p:nvPr/>
        </p:nvSpPr>
        <p:spPr>
          <a:xfrm>
            <a:off x="7991618" y="3890524"/>
            <a:ext cx="1083834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105" name="Rectángulo 104"/>
          <p:cNvSpPr/>
          <p:nvPr/>
        </p:nvSpPr>
        <p:spPr>
          <a:xfrm>
            <a:off x="7974231" y="4159639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106" name="Rectángulo redondeado 105"/>
          <p:cNvSpPr/>
          <p:nvPr/>
        </p:nvSpPr>
        <p:spPr>
          <a:xfrm>
            <a:off x="8000940" y="4499804"/>
            <a:ext cx="1083834" cy="552678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Electiva</a:t>
            </a:r>
          </a:p>
        </p:txBody>
      </p:sp>
      <p:sp>
        <p:nvSpPr>
          <p:cNvPr id="107" name="Rectángulo 106"/>
          <p:cNvSpPr/>
          <p:nvPr/>
        </p:nvSpPr>
        <p:spPr>
          <a:xfrm>
            <a:off x="7974230" y="4769107"/>
            <a:ext cx="1142126" cy="171643"/>
          </a:xfrm>
          <a:prstGeom prst="rect">
            <a:avLst/>
          </a:prstGeom>
          <a:solidFill>
            <a:schemeClr val="bg1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108" name="Rectángulo redondeado 107"/>
          <p:cNvSpPr/>
          <p:nvPr/>
        </p:nvSpPr>
        <p:spPr>
          <a:xfrm>
            <a:off x="9410894" y="2663648"/>
            <a:ext cx="1083834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109" name="Rectángulo 108"/>
          <p:cNvSpPr/>
          <p:nvPr/>
        </p:nvSpPr>
        <p:spPr>
          <a:xfrm>
            <a:off x="9397833" y="2932951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110" name="Rectángulo 109"/>
          <p:cNvSpPr/>
          <p:nvPr/>
        </p:nvSpPr>
        <p:spPr>
          <a:xfrm>
            <a:off x="355705" y="2041516"/>
            <a:ext cx="5429046" cy="397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2">
                    <a:lumMod val="75000"/>
                  </a:schemeClr>
                </a:solidFill>
                <a:latin typeface="Stencil" panose="040409050D0802020404" pitchFamily="82" charset="0"/>
              </a:rPr>
              <a:t>INVESTIGACIÓN</a:t>
            </a:r>
          </a:p>
        </p:txBody>
      </p:sp>
      <p:sp>
        <p:nvSpPr>
          <p:cNvPr id="111" name="Rectángulo 110"/>
          <p:cNvSpPr/>
          <p:nvPr/>
        </p:nvSpPr>
        <p:spPr>
          <a:xfrm>
            <a:off x="6481195" y="2080089"/>
            <a:ext cx="54153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2">
                    <a:lumMod val="75000"/>
                  </a:schemeClr>
                </a:solidFill>
                <a:latin typeface="Stencil" panose="040409050D0802020404" pitchFamily="82" charset="0"/>
              </a:rPr>
              <a:t>PROFUNDIZACIÓN</a:t>
            </a:r>
          </a:p>
        </p:txBody>
      </p:sp>
      <p:pic>
        <p:nvPicPr>
          <p:cNvPr id="112" name="Imagen 1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3FAFE1A-337B-4F72-8E8F-906B34D20CE1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2025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60C6D2B-D3C8-450B-92DE-510087C07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55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/>
          <p:cNvSpPr txBox="1"/>
          <p:nvPr/>
        </p:nvSpPr>
        <p:spPr>
          <a:xfrm>
            <a:off x="732038" y="38525"/>
            <a:ext cx="7848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Font typeface="+mj-lt"/>
              <a:buAutoNum type="arabicPeriod" startAt="2"/>
            </a:pPr>
            <a:r>
              <a:rPr lang="es-CO" sz="2800" dirty="0"/>
              <a:t>ESTRUCTURA CURRICULAR</a:t>
            </a:r>
          </a:p>
        </p:txBody>
      </p:sp>
      <p:sp>
        <p:nvSpPr>
          <p:cNvPr id="110" name="Rectángulo 109"/>
          <p:cNvSpPr/>
          <p:nvPr/>
        </p:nvSpPr>
        <p:spPr>
          <a:xfrm>
            <a:off x="1680995" y="397331"/>
            <a:ext cx="4523605" cy="397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2">
                    <a:lumMod val="75000"/>
                  </a:schemeClr>
                </a:solidFill>
                <a:latin typeface="Stencil" panose="040409050D0802020404" pitchFamily="82" charset="0"/>
              </a:rPr>
              <a:t>INVESTIGACIÓN</a:t>
            </a:r>
          </a:p>
        </p:txBody>
      </p:sp>
      <p:pic>
        <p:nvPicPr>
          <p:cNvPr id="112" name="Imagen 1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004" y="116017"/>
            <a:ext cx="1501693" cy="635305"/>
          </a:xfrm>
          <a:prstGeom prst="rect">
            <a:avLst/>
          </a:prstGeom>
        </p:spPr>
      </p:pic>
      <p:sp>
        <p:nvSpPr>
          <p:cNvPr id="113" name="Rectángulo 112"/>
          <p:cNvSpPr/>
          <p:nvPr/>
        </p:nvSpPr>
        <p:spPr>
          <a:xfrm>
            <a:off x="0" y="6332449"/>
            <a:ext cx="12192000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2025</a:t>
            </a: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EBA728CD-68A2-481C-ADC1-433CE5184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017247"/>
              </p:ext>
            </p:extLst>
          </p:nvPr>
        </p:nvGraphicFramePr>
        <p:xfrm>
          <a:off x="536147" y="828621"/>
          <a:ext cx="10583100" cy="495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175598763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07075551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66923736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51026105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928304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ÉNFASIS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048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INTELIGENCIA </a:t>
                      </a:r>
                    </a:p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INGENIERÍA DE SOFTWARE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GEOMÁTICA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TELEINFORMÁTICA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760460"/>
                  </a:ext>
                </a:extLst>
              </a:tr>
              <a:tr h="560988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Fundamentales</a:t>
                      </a:r>
                    </a:p>
                    <a:p>
                      <a:pPr algn="ctr"/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(obligatorios)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A8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Herramientas matemáticas para el manejo de la información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Informática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4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Investigación</a:t>
                      </a:r>
                    </a:p>
                    <a:p>
                      <a:pPr algn="ctr"/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(obligatorios)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6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Seminario de investigación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Trabajo de grado I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Trabajo de grado II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41592"/>
                  </a:ext>
                </a:extLst>
              </a:tr>
              <a:tr h="141017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Énfasis</a:t>
                      </a:r>
                    </a:p>
                    <a:p>
                      <a:pPr algn="ctr"/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(electivos del énfasis – seleccionar 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Big data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Analítica de datos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Inteligencia computacional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Inteligencia de negocios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Computación paralela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Robótica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Ingeniería de software I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ES" sz="1200" dirty="0"/>
                        <a:t>Ingeniería de software II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Patrones y arquitectura de software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Construcción y pruebas de software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Tendencias en ingeniería de software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Bases de 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Bases de datos espaciales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Análisis espacial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Servicios geográficos web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Sistemas de posicionamiento geodésico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Métodos avanzados en el análisis de imágenes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Estadística espacial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Procesamiento digital de imágenes y elaboración de productos cartográficos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Procesos estocásticos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Modelado y simulación de redes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Aplicaciones sobre internet/la nube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Política Sectorial y Regulación en Telecomunicaciones.</a:t>
                      </a:r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816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Complementarios</a:t>
                      </a:r>
                    </a:p>
                    <a:p>
                      <a:pPr algn="ctr"/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(electivos complementarios – seleccionar 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 electivo del mismo o de otros énfasis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 académico de otras maestrías de la facultad de ingeniería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O" sz="1200" dirty="0"/>
                        <a:t>Espacio académico de las maestrías de las otras facultades de la Universidad (Sujeto a aprobación del consejo curricular)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 académico de maestrías de otras Universidades (Sujeto a aprobación del consejo curricular)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413491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C99DFD85-5FF0-4FE6-A1D8-C74CC5AD5987}"/>
              </a:ext>
            </a:extLst>
          </p:cNvPr>
          <p:cNvSpPr txBox="1"/>
          <p:nvPr/>
        </p:nvSpPr>
        <p:spPr>
          <a:xfrm>
            <a:off x="452803" y="6122115"/>
            <a:ext cx="106664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600" dirty="0"/>
              <a:t>Nota: Todos los espacios académicos tienen 4 créditos con excepción de Trabajo de grado II que tiene 8 créditos. </a:t>
            </a:r>
          </a:p>
        </p:txBody>
      </p:sp>
    </p:spTree>
    <p:extLst>
      <p:ext uri="{BB962C8B-B14F-4D97-AF65-F5344CB8AC3E}">
        <p14:creationId xmlns:p14="http://schemas.microsoft.com/office/powerpoint/2010/main" val="3238060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/>
          <p:cNvSpPr txBox="1"/>
          <p:nvPr/>
        </p:nvSpPr>
        <p:spPr>
          <a:xfrm>
            <a:off x="621506" y="71209"/>
            <a:ext cx="7848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Font typeface="+mj-lt"/>
              <a:buAutoNum type="arabicPeriod" startAt="2"/>
            </a:pPr>
            <a:r>
              <a:rPr lang="es-CO" sz="2800" dirty="0"/>
              <a:t>ESTRUCTURA CURRICULAR</a:t>
            </a:r>
          </a:p>
        </p:txBody>
      </p:sp>
      <p:sp>
        <p:nvSpPr>
          <p:cNvPr id="111" name="Rectángulo 110"/>
          <p:cNvSpPr/>
          <p:nvPr/>
        </p:nvSpPr>
        <p:spPr>
          <a:xfrm>
            <a:off x="1650199" y="471871"/>
            <a:ext cx="45236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2">
                    <a:lumMod val="75000"/>
                  </a:schemeClr>
                </a:solidFill>
                <a:latin typeface="Stencil" panose="040409050D0802020404" pitchFamily="82" charset="0"/>
              </a:rPr>
              <a:t>PROFUNDIZACIÓN</a:t>
            </a:r>
          </a:p>
        </p:txBody>
      </p:sp>
      <p:pic>
        <p:nvPicPr>
          <p:cNvPr id="112" name="Imagen 1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113" name="Rectángulo 112"/>
          <p:cNvSpPr/>
          <p:nvPr/>
        </p:nvSpPr>
        <p:spPr>
          <a:xfrm>
            <a:off x="0" y="6332449"/>
            <a:ext cx="12192000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UNIVERSIDAD DISTRITAL FRANCISCO JOSÉ DE CALDAS, 2025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039486-305F-4B19-B713-CBFC08B750B4}"/>
              </a:ext>
            </a:extLst>
          </p:cNvPr>
          <p:cNvSpPr txBox="1"/>
          <p:nvPr/>
        </p:nvSpPr>
        <p:spPr>
          <a:xfrm>
            <a:off x="538162" y="5993895"/>
            <a:ext cx="106664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600" dirty="0"/>
              <a:t>Nota: Todos los espacios académicos tienen 4 créditos.</a:t>
            </a:r>
          </a:p>
        </p:txBody>
      </p:sp>
      <p:graphicFrame>
        <p:nvGraphicFramePr>
          <p:cNvPr id="8" name="Tabla 2">
            <a:extLst>
              <a:ext uri="{FF2B5EF4-FFF2-40B4-BE49-F238E27FC236}">
                <a16:creationId xmlns:a16="http://schemas.microsoft.com/office/drawing/2014/main" id="{0EFB8267-0A6E-4978-8E53-E16A6B5F1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174527"/>
              </p:ext>
            </p:extLst>
          </p:nvPr>
        </p:nvGraphicFramePr>
        <p:xfrm>
          <a:off x="400198" y="853922"/>
          <a:ext cx="10583100" cy="4802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952">
                  <a:extLst>
                    <a:ext uri="{9D8B030D-6E8A-4147-A177-3AD203B41FA5}">
                      <a16:colId xmlns:a16="http://schemas.microsoft.com/office/drawing/2014/main" val="1755987637"/>
                    </a:ext>
                  </a:extLst>
                </a:gridCol>
                <a:gridCol w="2160148">
                  <a:extLst>
                    <a:ext uri="{9D8B030D-6E8A-4147-A177-3AD203B41FA5}">
                      <a16:colId xmlns:a16="http://schemas.microsoft.com/office/drawing/2014/main" val="307075551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66923736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51026105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928304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ÉNFASIS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048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INTELIGENCIA </a:t>
                      </a:r>
                    </a:p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INGENIERÍA DE SOFTWARE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GEOMÁTICA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TELEINFORMÁTICA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760460"/>
                  </a:ext>
                </a:extLst>
              </a:tr>
              <a:tr h="560988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Fundamentales</a:t>
                      </a:r>
                    </a:p>
                    <a:p>
                      <a:pPr algn="ctr"/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(obligatorios)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A8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Herramientas matemáticas para el manejo de la información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Informática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4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Investigación</a:t>
                      </a:r>
                    </a:p>
                    <a:p>
                      <a:pPr algn="ctr"/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(obligatorios)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6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Seminario de investigación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Trabajo de grado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4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Énfasis</a:t>
                      </a:r>
                    </a:p>
                    <a:p>
                      <a:pPr algn="ctr"/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(electivos del énfasis – seleccionar 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Big data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Analítica de datos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Inteligencia computacional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Inteligencia de negocios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Computación paralela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Robótica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Ingeniería de software I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ES" sz="1200" dirty="0"/>
                        <a:t>Ingeniería de software II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Patrones y arquitectura de software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Construcción y pruebas de software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Tendencias en ingeniería de software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Bases de 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Bases de datos espaciales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Análisis espacial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Servicios geográficos web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Sistemas de posicionamiento geodésico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Métodos avanzados en el análisis de imágenes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Estadística espacial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Procesamiento digital de imágenes y elaboración de productos cartográficos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Procesos estocásticos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Modelado y simulación de redes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Aplicaciones sobre internet/la nube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Avances en redes inalámbricas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Política Sectorial y Regulación en Telecomunicaciones.</a:t>
                      </a:r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816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Complementarios</a:t>
                      </a:r>
                    </a:p>
                    <a:p>
                      <a:pPr algn="ctr"/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(electivos complementarios – seleccionar 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 electivo del mismo o de otros énfasis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 académico de otras maestrías de la facultad de ingeniería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O" sz="1200" dirty="0"/>
                        <a:t>Espacio académico de las maestrías de las otras facultades de la Universidad (Sujeto a aprobación del consejo curricular)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 académico de maestrías de otras Universidades (Sujeto a aprobación del consejo curricular)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413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389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– UNIVERSIDAD DISTRITAL FRANCISCO JOSÉ DE CALDAS, 2025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809D89-B8E5-4AFF-B348-597D90356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4FFCD59-D267-4A44-8E4D-BB6E46BE3B26}"/>
              </a:ext>
            </a:extLst>
          </p:cNvPr>
          <p:cNvSpPr txBox="1"/>
          <p:nvPr/>
        </p:nvSpPr>
        <p:spPr>
          <a:xfrm>
            <a:off x="385836" y="289904"/>
            <a:ext cx="5798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/>
              <a:t>3. PLAN DE MEJORAMIENTO 2024</a:t>
            </a:r>
            <a:endParaRPr lang="es-CO" sz="280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BD121F7-005A-4434-8DDE-61C473C68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371661"/>
              </p:ext>
            </p:extLst>
          </p:nvPr>
        </p:nvGraphicFramePr>
        <p:xfrm>
          <a:off x="1280671" y="1292749"/>
          <a:ext cx="8985120" cy="4363333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911002">
                  <a:extLst>
                    <a:ext uri="{9D8B030D-6E8A-4147-A177-3AD203B41FA5}">
                      <a16:colId xmlns:a16="http://schemas.microsoft.com/office/drawing/2014/main" val="275619364"/>
                    </a:ext>
                  </a:extLst>
                </a:gridCol>
                <a:gridCol w="2051213">
                  <a:extLst>
                    <a:ext uri="{9D8B030D-6E8A-4147-A177-3AD203B41FA5}">
                      <a16:colId xmlns:a16="http://schemas.microsoft.com/office/drawing/2014/main" val="2128641419"/>
                    </a:ext>
                  </a:extLst>
                </a:gridCol>
                <a:gridCol w="2051213">
                  <a:extLst>
                    <a:ext uri="{9D8B030D-6E8A-4147-A177-3AD203B41FA5}">
                      <a16:colId xmlns:a16="http://schemas.microsoft.com/office/drawing/2014/main" val="2179183516"/>
                    </a:ext>
                  </a:extLst>
                </a:gridCol>
                <a:gridCol w="1971692">
                  <a:extLst>
                    <a:ext uri="{9D8B030D-6E8A-4147-A177-3AD203B41FA5}">
                      <a16:colId xmlns:a16="http://schemas.microsoft.com/office/drawing/2014/main" val="3407123678"/>
                    </a:ext>
                  </a:extLst>
                </a:gridCol>
              </a:tblGrid>
              <a:tr h="203359">
                <a:tc gridSpan="4"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Seguimiento y evaluación a plan de mejoramiento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215110"/>
                  </a:ext>
                </a:extLst>
              </a:tr>
              <a:tr h="37451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Nombre del proyecto o acción global ejecutada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Factor (es)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Oportunidad</a:t>
                      </a:r>
                      <a:r>
                        <a:rPr lang="es-CO" sz="1100">
                          <a:effectLst/>
                        </a:rPr>
                        <a:t> </a:t>
                      </a:r>
                      <a:br>
                        <a:rPr lang="es-CO" sz="1100">
                          <a:effectLst/>
                        </a:rPr>
                      </a:br>
                      <a:r>
                        <a:rPr lang="es-ES" sz="1100">
                          <a:effectLst/>
                        </a:rPr>
                        <a:t>de mejora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% avance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134794"/>
                  </a:ext>
                </a:extLst>
              </a:tr>
              <a:tr h="101794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effectLst/>
                        </a:rPr>
                        <a:t>Actualización y socialización del </a:t>
                      </a:r>
                      <a:r>
                        <a:rPr lang="es-CO" sz="1200" u="none" strike="noStrike" dirty="0">
                          <a:effectLst/>
                        </a:rPr>
                        <a:t>documento del Proyecto Educativo del Programa para los componentes en Investigación y Profundización.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effectLst/>
                        </a:rPr>
                        <a:t>FACTOR 1. PROYECTO EDUCATIVO DEL PROGRAMA E IDENTIDAD INSTITUCIONAL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Celeridad en el proceso de aprobación de documentos por parte del comité institucional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80%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943963"/>
                  </a:ext>
                </a:extLst>
              </a:tr>
              <a:tr h="8264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Estrategias de</a:t>
                      </a:r>
                      <a:r>
                        <a:rPr lang="es-CO" sz="1200" u="none" strike="noStrike">
                          <a:effectLst/>
                        </a:rPr>
                        <a:t> divulgación de las propuestas académicas para los componentes de Investigación y de Profundización.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2. ESTUDIANTES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CO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900">
                          <a:effectLst/>
                        </a:rPr>
                        <a:t>100%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668752"/>
                  </a:ext>
                </a:extLst>
              </a:tr>
              <a:tr h="5660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Procesos Institucionales Capacitación permanente del equipo docente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3. PROFESORES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Se amplíen las convocatorias de capacitación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70%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875547"/>
                  </a:ext>
                </a:extLst>
              </a:tr>
              <a:tr h="6175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200" u="none" strike="noStrike">
                          <a:effectLst/>
                        </a:rPr>
                        <a:t>Impacto de las Maestrías en Investigación y en Profundización en el medio.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4. EGRESADOS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Generar una política formar de seguimiento para los egresados.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50%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6444356"/>
                  </a:ext>
                </a:extLst>
              </a:tr>
              <a:tr h="7575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Definición de los Resultados de Aprendizaje.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5. ASPECTOS ACADÉMICOS Y RESULTADOS DE APRENDIZAJE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50%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490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252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– UNIVERSIDAD DISTRITAL FRANCISCO JOSÉ DE CALDAS, 2025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809D89-B8E5-4AFF-B348-597D90356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4FFCD59-D267-4A44-8E4D-BB6E46BE3B26}"/>
              </a:ext>
            </a:extLst>
          </p:cNvPr>
          <p:cNvSpPr txBox="1"/>
          <p:nvPr/>
        </p:nvSpPr>
        <p:spPr>
          <a:xfrm>
            <a:off x="376409" y="289904"/>
            <a:ext cx="5986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/>
              <a:t>3. PLAN DE MEJORAMIENTO 2024</a:t>
            </a:r>
            <a:endParaRPr lang="es-CO" sz="28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97463E9-698A-40DB-80E0-AACC0D08D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306526"/>
              </p:ext>
            </p:extLst>
          </p:nvPr>
        </p:nvGraphicFramePr>
        <p:xfrm>
          <a:off x="1290097" y="1409287"/>
          <a:ext cx="9267923" cy="3945137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000680">
                  <a:extLst>
                    <a:ext uri="{9D8B030D-6E8A-4147-A177-3AD203B41FA5}">
                      <a16:colId xmlns:a16="http://schemas.microsoft.com/office/drawing/2014/main" val="3193529209"/>
                    </a:ext>
                  </a:extLst>
                </a:gridCol>
                <a:gridCol w="2114403">
                  <a:extLst>
                    <a:ext uri="{9D8B030D-6E8A-4147-A177-3AD203B41FA5}">
                      <a16:colId xmlns:a16="http://schemas.microsoft.com/office/drawing/2014/main" val="3799754618"/>
                    </a:ext>
                  </a:extLst>
                </a:gridCol>
                <a:gridCol w="2114403">
                  <a:extLst>
                    <a:ext uri="{9D8B030D-6E8A-4147-A177-3AD203B41FA5}">
                      <a16:colId xmlns:a16="http://schemas.microsoft.com/office/drawing/2014/main" val="1784706857"/>
                    </a:ext>
                  </a:extLst>
                </a:gridCol>
                <a:gridCol w="2038437">
                  <a:extLst>
                    <a:ext uri="{9D8B030D-6E8A-4147-A177-3AD203B41FA5}">
                      <a16:colId xmlns:a16="http://schemas.microsoft.com/office/drawing/2014/main" val="4066935109"/>
                    </a:ext>
                  </a:extLst>
                </a:gridCol>
              </a:tblGrid>
              <a:tr h="241667">
                <a:tc gridSpan="4"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Seguimiento y evaluación a plan de mejoramiento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080384"/>
                  </a:ext>
                </a:extLst>
              </a:tr>
              <a:tr h="44507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Nombre del proyecto o acción global ejecutada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Factor (es)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Oportunidad</a:t>
                      </a:r>
                      <a:r>
                        <a:rPr lang="es-CO" sz="1100" dirty="0">
                          <a:effectLst/>
                        </a:rPr>
                        <a:t> </a:t>
                      </a:r>
                      <a:br>
                        <a:rPr lang="es-CO" sz="1100" dirty="0">
                          <a:effectLst/>
                        </a:rPr>
                      </a:br>
                      <a:r>
                        <a:rPr lang="es-ES" sz="1100" dirty="0">
                          <a:effectLst/>
                        </a:rPr>
                        <a:t>de mejora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% avance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188564"/>
                  </a:ext>
                </a:extLst>
              </a:tr>
              <a:tr h="12304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200" u="none" strike="noStrike">
                          <a:effectLst/>
                        </a:rPr>
                        <a:t>Información continua y oportuna de los tiempos establecidos en el reglamentos para la permanencia y la correspondiente Gaduación Oportuna de los estudiantes en las Maestrías de Investigación y de Profundización.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6. PERMANENCIA Y GRADUACIÓN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90%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81191199"/>
                  </a:ext>
                </a:extLst>
              </a:tr>
              <a:tr h="9002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Cooperación interinstitucional de orden Nacional e internacional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7. INTERACCIÓN CON EL ENTORNO NACIONAL E INTERNACIONAL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Aplicar los acuerdos de doble y multi titulación y generar convenio de doble titulación con otras universidades. 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50%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85999771"/>
                  </a:ext>
                </a:extLst>
              </a:tr>
              <a:tr h="11277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200" u="none" strike="noStrike">
                          <a:effectLst/>
                        </a:rPr>
                        <a:t>Vinculación de estudiantes a los procesos en Investigación o en Profundización.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8. APORTES DE LA INVESTIGACIÓN, LA INNOVACIÓN, EL DESARROLLO TECNOLÓGICO Y LA CREACIÓN ASOCIADOS AL PROGRAMA ACADÉMICO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100%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88081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998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– UNIVERSIDAD DISTRITAL FRANCISCO JOSÉ DE CALDAS, 2025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809D89-B8E5-4AFF-B348-597D90356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4FFCD59-D267-4A44-8E4D-BB6E46BE3B26}"/>
              </a:ext>
            </a:extLst>
          </p:cNvPr>
          <p:cNvSpPr txBox="1"/>
          <p:nvPr/>
        </p:nvSpPr>
        <p:spPr>
          <a:xfrm>
            <a:off x="376410" y="289904"/>
            <a:ext cx="6561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/>
              <a:t>3. PLAN DE MEJORAMIENTO 2024</a:t>
            </a:r>
            <a:endParaRPr lang="es-CO" sz="28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B034D10-E024-4B16-9A19-AD71E5D7B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319483"/>
              </p:ext>
            </p:extLst>
          </p:nvPr>
        </p:nvGraphicFramePr>
        <p:xfrm>
          <a:off x="1152524" y="1238005"/>
          <a:ext cx="9254667" cy="447463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996388">
                  <a:extLst>
                    <a:ext uri="{9D8B030D-6E8A-4147-A177-3AD203B41FA5}">
                      <a16:colId xmlns:a16="http://schemas.microsoft.com/office/drawing/2014/main" val="2437723113"/>
                    </a:ext>
                  </a:extLst>
                </a:gridCol>
                <a:gridCol w="2111379">
                  <a:extLst>
                    <a:ext uri="{9D8B030D-6E8A-4147-A177-3AD203B41FA5}">
                      <a16:colId xmlns:a16="http://schemas.microsoft.com/office/drawing/2014/main" val="4000820457"/>
                    </a:ext>
                  </a:extLst>
                </a:gridCol>
                <a:gridCol w="2111379">
                  <a:extLst>
                    <a:ext uri="{9D8B030D-6E8A-4147-A177-3AD203B41FA5}">
                      <a16:colId xmlns:a16="http://schemas.microsoft.com/office/drawing/2014/main" val="3248407956"/>
                    </a:ext>
                  </a:extLst>
                </a:gridCol>
                <a:gridCol w="2035521">
                  <a:extLst>
                    <a:ext uri="{9D8B030D-6E8A-4147-A177-3AD203B41FA5}">
                      <a16:colId xmlns:a16="http://schemas.microsoft.com/office/drawing/2014/main" val="1520048722"/>
                    </a:ext>
                  </a:extLst>
                </a:gridCol>
              </a:tblGrid>
              <a:tr h="241502">
                <a:tc gridSpan="4"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Seguimiento y evaluación a plan de mejoramiento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86294"/>
                  </a:ext>
                </a:extLst>
              </a:tr>
              <a:tr h="444767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Nombre del proyecto o acción global ejecutada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Factor (es)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Oportunidad</a:t>
                      </a:r>
                      <a:r>
                        <a:rPr lang="es-CO" sz="1100" dirty="0">
                          <a:effectLst/>
                        </a:rPr>
                        <a:t> </a:t>
                      </a:r>
                      <a:br>
                        <a:rPr lang="es-CO" sz="1100" dirty="0">
                          <a:effectLst/>
                        </a:rPr>
                      </a:br>
                      <a:r>
                        <a:rPr lang="es-ES" sz="1100" dirty="0">
                          <a:effectLst/>
                        </a:rPr>
                        <a:t>de mejora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% avance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867462"/>
                  </a:ext>
                </a:extLst>
              </a:tr>
              <a:tr h="14832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200" u="none" strike="noStrike">
                          <a:effectLst/>
                        </a:rPr>
                        <a:t>Informar acerca de los Servicios que ofrece Bienestar Universitario a las Maestrías para los componentes de Investigación y de Profundización.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9. BIENESTAR DE LA COMUNIDAD ACADÉMICA DEL PROGRAMA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Ampliar los horarios de atención para que los estudiantes de posgrado también puedan acceder a estos.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100%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2801073"/>
                  </a:ext>
                </a:extLst>
              </a:tr>
              <a:tr h="73336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200" u="none" strike="noStrike">
                          <a:effectLst/>
                        </a:rPr>
                        <a:t>Medios educativos y ambientes de aprendizaje en las Maestrías en Investigación y en Profundización.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10. MEDIOS EDUCATIVOS Y AMBIENTES DE APRENDIZAJE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32526488"/>
                  </a:ext>
                </a:extLst>
              </a:tr>
              <a:tr h="6721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Sistema Interno de Aseguramiento de la Calidad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11. ORGANIZACIÓN, ADMINISTRACIÓN Y FINANCIACIÓN DEL PROGRAMA ACADÉMICO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CO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CO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37167687"/>
                  </a:ext>
                </a:extLst>
              </a:tr>
              <a:tr h="8995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Seguimiento al proyecto de Infraestructura de la Facultad de Ingeniería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12. RECURSOS FÍSICOS Y TECNOLÓGICOS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Finalización de la obra del edificio de ingeniería, para la ampliación de la infraestructura física usada por el programa,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90%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99080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545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BE7CE-04FB-4BDC-A6A0-CE7DF0CA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2000" dirty="0"/>
              <a:t>Resultado comparativo de valoración cuantitativa de factores proceso 2018 y 2023 del proyecto curricular Maestría en Ciencias de la Información y las Comunicaciones. </a:t>
            </a:r>
            <a:endParaRPr lang="es-CO" sz="2000" dirty="0"/>
          </a:p>
        </p:txBody>
      </p:sp>
      <p:pic>
        <p:nvPicPr>
          <p:cNvPr id="5122" name="Picture 2" descr="Gráfico 31, Elemento de gráfico">
            <a:extLst>
              <a:ext uri="{FF2B5EF4-FFF2-40B4-BE49-F238E27FC236}">
                <a16:creationId xmlns:a16="http://schemas.microsoft.com/office/drawing/2014/main" id="{A451E803-15F3-4BF7-8E96-C85B1DC3B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756" y="1690688"/>
            <a:ext cx="573405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708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84C04-FAA3-492F-80B5-53717099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4054"/>
          </a:xfrm>
        </p:spPr>
        <p:txBody>
          <a:bodyPr>
            <a:normAutofit/>
          </a:bodyPr>
          <a:lstStyle/>
          <a:p>
            <a:r>
              <a:rPr lang="es-ES" sz="2800" dirty="0"/>
              <a:t>Resultados de autoevaluación y valoración global de cumplimiento</a:t>
            </a:r>
            <a:endParaRPr lang="es-CO" sz="28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F39F882-75A5-4502-AB08-F4562FA39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256373"/>
              </p:ext>
            </p:extLst>
          </p:nvPr>
        </p:nvGraphicFramePr>
        <p:xfrm>
          <a:off x="599780" y="1175176"/>
          <a:ext cx="10992439" cy="5239811"/>
        </p:xfrm>
        <a:graphic>
          <a:graphicData uri="http://schemas.openxmlformats.org/drawingml/2006/table">
            <a:tbl>
              <a:tblPr/>
              <a:tblGrid>
                <a:gridCol w="4469516">
                  <a:extLst>
                    <a:ext uri="{9D8B030D-6E8A-4147-A177-3AD203B41FA5}">
                      <a16:colId xmlns:a16="http://schemas.microsoft.com/office/drawing/2014/main" val="2831328100"/>
                    </a:ext>
                  </a:extLst>
                </a:gridCol>
                <a:gridCol w="1362283">
                  <a:extLst>
                    <a:ext uri="{9D8B030D-6E8A-4147-A177-3AD203B41FA5}">
                      <a16:colId xmlns:a16="http://schemas.microsoft.com/office/drawing/2014/main" val="1496993103"/>
                    </a:ext>
                  </a:extLst>
                </a:gridCol>
                <a:gridCol w="2464574">
                  <a:extLst>
                    <a:ext uri="{9D8B030D-6E8A-4147-A177-3AD203B41FA5}">
                      <a16:colId xmlns:a16="http://schemas.microsoft.com/office/drawing/2014/main" val="1053618497"/>
                    </a:ext>
                  </a:extLst>
                </a:gridCol>
                <a:gridCol w="1206631">
                  <a:extLst>
                    <a:ext uri="{9D8B030D-6E8A-4147-A177-3AD203B41FA5}">
                      <a16:colId xmlns:a16="http://schemas.microsoft.com/office/drawing/2014/main" val="2618789865"/>
                    </a:ext>
                  </a:extLst>
                </a:gridCol>
                <a:gridCol w="1489435">
                  <a:extLst>
                    <a:ext uri="{9D8B030D-6E8A-4147-A177-3AD203B41FA5}">
                      <a16:colId xmlns:a16="http://schemas.microsoft.com/office/drawing/2014/main" val="155851653"/>
                    </a:ext>
                  </a:extLst>
                </a:gridCol>
              </a:tblGrid>
              <a:tr h="36763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1" i="0" dirty="0">
                          <a:effectLst/>
                          <a:latin typeface="Times New Roman" panose="02020603050405020304" pitchFamily="18" charset="0"/>
                        </a:rPr>
                        <a:t>Factor</a:t>
                      </a:r>
                      <a:r>
                        <a:rPr lang="es-ES" sz="14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1" i="0">
                          <a:effectLst/>
                          <a:latin typeface="Times New Roman" panose="02020603050405020304" pitchFamily="18" charset="0"/>
                        </a:rPr>
                        <a:t>Ponderación</a:t>
                      </a:r>
                      <a:r>
                        <a:rPr lang="es-ES" sz="14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1" i="0"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ES" sz="14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1" i="0">
                          <a:effectLst/>
                          <a:latin typeface="Times New Roman" panose="02020603050405020304" pitchFamily="18" charset="0"/>
                        </a:rPr>
                        <a:t>Calificación</a:t>
                      </a:r>
                      <a:r>
                        <a:rPr lang="es-ES" sz="1400" b="0" i="0"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s-ES" sz="1400" b="0" i="0">
                          <a:effectLst/>
                          <a:latin typeface="WordVisiCarriageReturn_MSFontService"/>
                        </a:rPr>
                      </a:br>
                      <a:r>
                        <a:rPr lang="es-ES" sz="1400" b="1" i="0">
                          <a:effectLst/>
                          <a:latin typeface="Times New Roman" panose="02020603050405020304" pitchFamily="18" charset="0"/>
                        </a:rPr>
                        <a:t>actual</a:t>
                      </a:r>
                      <a:r>
                        <a:rPr lang="es-ES" sz="14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1" i="0">
                          <a:effectLst/>
                          <a:latin typeface="Times New Roman" panose="02020603050405020304" pitchFamily="18" charset="0"/>
                        </a:rPr>
                        <a:t>Calificación</a:t>
                      </a:r>
                      <a:r>
                        <a:rPr lang="es-ES" sz="1400" b="0" i="0"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s-ES" sz="1400" b="0" i="0">
                          <a:effectLst/>
                          <a:latin typeface="WordVisiCarriageReturn_MSFontService"/>
                        </a:rPr>
                      </a:br>
                      <a:r>
                        <a:rPr lang="es-ES" sz="1400" b="1" i="0">
                          <a:effectLst/>
                          <a:latin typeface="Times New Roman" panose="02020603050405020304" pitchFamily="18" charset="0"/>
                        </a:rPr>
                        <a:t>proceso anterior</a:t>
                      </a:r>
                      <a:r>
                        <a:rPr lang="es-ES" sz="14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549455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Factor 1. Proyecto Educativo del Programa e identidad institucional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12,08%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4,4 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987361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Factor 2. Estudiantes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12,42%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4,6 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368770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Factor 3. Profesores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11,67%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4,7 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4,2 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861780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Factor 4. Egresados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10,80%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4,8 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247025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Factor 5. Aspectos Académicos y Resultados de Aprendizaje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6,75%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4,3 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4,2 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0209350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Factor 6. Permanencia y graduación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7,29%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1874773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Factor 7. Interacción con el entorno nacional e internacional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10,59%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4,5 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105381"/>
                  </a:ext>
                </a:extLst>
              </a:tr>
              <a:tr h="367634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Factor 8. Aportes de la investigación, la innovación, el desarrollo tecnológico y la creación, asociados al programa académico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4,79%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4,5 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3,4 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237033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Factor 9. Bienestar de la comunidad académica del programa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6,41%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4,8 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4,1 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78780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Factor 10. Medios educativos y ambientes de aprendizaje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6,88%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690722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Factor 11. Organización, administración y financiación del programa académico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6,68%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3,9 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000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Factor 12. Recursos físicos y tecnológicos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3,64%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3,9 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753497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Juicio global de calidad</a:t>
                      </a:r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</a:t>
                      </a:r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4,64</a:t>
                      </a:r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4,05</a:t>
                      </a: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marL="36161" marR="36161" marT="18080" marB="180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628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271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21F48-17E5-4A72-8CBE-112AB1AE7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4. PLAN DE MEJORAMIENTO RENOVACION AAC</a:t>
            </a:r>
            <a:endParaRPr lang="es-CO" sz="40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8959DEF-F975-4970-BDDA-E1F641545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616272"/>
              </p:ext>
            </p:extLst>
          </p:nvPr>
        </p:nvGraphicFramePr>
        <p:xfrm>
          <a:off x="838199" y="1832928"/>
          <a:ext cx="10587088" cy="4030544"/>
        </p:xfrm>
        <a:graphic>
          <a:graphicData uri="http://schemas.openxmlformats.org/drawingml/2006/table">
            <a:tbl>
              <a:tblPr/>
              <a:tblGrid>
                <a:gridCol w="2374674">
                  <a:extLst>
                    <a:ext uri="{9D8B030D-6E8A-4147-A177-3AD203B41FA5}">
                      <a16:colId xmlns:a16="http://schemas.microsoft.com/office/drawing/2014/main" val="2248234423"/>
                    </a:ext>
                  </a:extLst>
                </a:gridCol>
                <a:gridCol w="2106109">
                  <a:extLst>
                    <a:ext uri="{9D8B030D-6E8A-4147-A177-3AD203B41FA5}">
                      <a16:colId xmlns:a16="http://schemas.microsoft.com/office/drawing/2014/main" val="1365072667"/>
                    </a:ext>
                  </a:extLst>
                </a:gridCol>
                <a:gridCol w="1978895">
                  <a:extLst>
                    <a:ext uri="{9D8B030D-6E8A-4147-A177-3AD203B41FA5}">
                      <a16:colId xmlns:a16="http://schemas.microsoft.com/office/drawing/2014/main" val="414483496"/>
                    </a:ext>
                  </a:extLst>
                </a:gridCol>
                <a:gridCol w="1583116">
                  <a:extLst>
                    <a:ext uri="{9D8B030D-6E8A-4147-A177-3AD203B41FA5}">
                      <a16:colId xmlns:a16="http://schemas.microsoft.com/office/drawing/2014/main" val="3971890211"/>
                    </a:ext>
                  </a:extLst>
                </a:gridCol>
                <a:gridCol w="1272147">
                  <a:extLst>
                    <a:ext uri="{9D8B030D-6E8A-4147-A177-3AD203B41FA5}">
                      <a16:colId xmlns:a16="http://schemas.microsoft.com/office/drawing/2014/main" val="1375908351"/>
                    </a:ext>
                  </a:extLst>
                </a:gridCol>
                <a:gridCol w="1272147">
                  <a:extLst>
                    <a:ext uri="{9D8B030D-6E8A-4147-A177-3AD203B41FA5}">
                      <a16:colId xmlns:a16="http://schemas.microsoft.com/office/drawing/2014/main" val="724488823"/>
                    </a:ext>
                  </a:extLst>
                </a:gridCol>
              </a:tblGrid>
              <a:tr h="541332"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Factor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ES" sz="1200" b="1" i="0" dirty="0">
                          <a:effectLst/>
                          <a:latin typeface="Times New Roman" panose="02020603050405020304" pitchFamily="18" charset="0"/>
                        </a:rPr>
                        <a:t>Descripción de fortaleza u oportunidad de mejora</a:t>
                      </a:r>
                      <a:r>
                        <a:rPr lang="es-ES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ES" sz="1200" b="1" i="0" dirty="0">
                          <a:effectLst/>
                          <a:latin typeface="Times New Roman" panose="02020603050405020304" pitchFamily="18" charset="0"/>
                        </a:rPr>
                        <a:t>Nombre del proyecto o acción a ejecutar</a:t>
                      </a:r>
                      <a:r>
                        <a:rPr lang="es-ES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Meta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Período de ejecución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85844"/>
                  </a:ext>
                </a:extLst>
              </a:tr>
              <a:tr h="54133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Inicio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Finalización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865439"/>
                  </a:ext>
                </a:extLst>
              </a:tr>
              <a:tr h="7217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1. PROYECTO EDUCATIVO DEL PROGRAMA E IDENTIDAD INSTITUCIONAL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943857"/>
                  </a:ext>
                </a:extLst>
              </a:tr>
              <a:tr h="511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2. ESTUDIANTES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121284"/>
                  </a:ext>
                </a:extLst>
              </a:tr>
              <a:tr h="511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3. PROFESORES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802025"/>
                  </a:ext>
                </a:extLst>
              </a:tr>
              <a:tr h="511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4. EGRESADOS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456182"/>
                  </a:ext>
                </a:extLst>
              </a:tr>
              <a:tr h="6923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5. ASPECTOS ACADÉMICOS Y RESULTADOS DE APRENDIZAJE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254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30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21F48-17E5-4A72-8CBE-112AB1AE7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4. PLAN DE MEJORAMIENTO RENOVACION AAC</a:t>
            </a:r>
            <a:endParaRPr lang="es-CO" sz="40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8959DEF-F975-4970-BDDA-E1F641545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731134"/>
              </p:ext>
            </p:extLst>
          </p:nvPr>
        </p:nvGraphicFramePr>
        <p:xfrm>
          <a:off x="838199" y="1832928"/>
          <a:ext cx="10587088" cy="3568631"/>
        </p:xfrm>
        <a:graphic>
          <a:graphicData uri="http://schemas.openxmlformats.org/drawingml/2006/table">
            <a:tbl>
              <a:tblPr/>
              <a:tblGrid>
                <a:gridCol w="2374674">
                  <a:extLst>
                    <a:ext uri="{9D8B030D-6E8A-4147-A177-3AD203B41FA5}">
                      <a16:colId xmlns:a16="http://schemas.microsoft.com/office/drawing/2014/main" val="2248234423"/>
                    </a:ext>
                  </a:extLst>
                </a:gridCol>
                <a:gridCol w="2106109">
                  <a:extLst>
                    <a:ext uri="{9D8B030D-6E8A-4147-A177-3AD203B41FA5}">
                      <a16:colId xmlns:a16="http://schemas.microsoft.com/office/drawing/2014/main" val="1365072667"/>
                    </a:ext>
                  </a:extLst>
                </a:gridCol>
                <a:gridCol w="1978895">
                  <a:extLst>
                    <a:ext uri="{9D8B030D-6E8A-4147-A177-3AD203B41FA5}">
                      <a16:colId xmlns:a16="http://schemas.microsoft.com/office/drawing/2014/main" val="414483496"/>
                    </a:ext>
                  </a:extLst>
                </a:gridCol>
                <a:gridCol w="1583116">
                  <a:extLst>
                    <a:ext uri="{9D8B030D-6E8A-4147-A177-3AD203B41FA5}">
                      <a16:colId xmlns:a16="http://schemas.microsoft.com/office/drawing/2014/main" val="3971890211"/>
                    </a:ext>
                  </a:extLst>
                </a:gridCol>
                <a:gridCol w="1272147">
                  <a:extLst>
                    <a:ext uri="{9D8B030D-6E8A-4147-A177-3AD203B41FA5}">
                      <a16:colId xmlns:a16="http://schemas.microsoft.com/office/drawing/2014/main" val="1375908351"/>
                    </a:ext>
                  </a:extLst>
                </a:gridCol>
                <a:gridCol w="1272147">
                  <a:extLst>
                    <a:ext uri="{9D8B030D-6E8A-4147-A177-3AD203B41FA5}">
                      <a16:colId xmlns:a16="http://schemas.microsoft.com/office/drawing/2014/main" val="724488823"/>
                    </a:ext>
                  </a:extLst>
                </a:gridCol>
              </a:tblGrid>
              <a:tr h="348388"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Factor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ES" sz="1200" b="1" i="0" dirty="0">
                          <a:effectLst/>
                          <a:latin typeface="Times New Roman" panose="02020603050405020304" pitchFamily="18" charset="0"/>
                        </a:rPr>
                        <a:t>Descripción de fortaleza u oportunidad de mejora</a:t>
                      </a:r>
                      <a:r>
                        <a:rPr lang="es-ES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ES" sz="1200" b="1" i="0" dirty="0">
                          <a:effectLst/>
                          <a:latin typeface="Times New Roman" panose="02020603050405020304" pitchFamily="18" charset="0"/>
                        </a:rPr>
                        <a:t>Nombre del proyecto o acción a ejecutar</a:t>
                      </a:r>
                      <a:r>
                        <a:rPr lang="es-ES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Meta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Período de ejecución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85844"/>
                  </a:ext>
                </a:extLst>
              </a:tr>
              <a:tr h="34838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Inicio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Finalización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865439"/>
                  </a:ext>
                </a:extLst>
              </a:tr>
              <a:tr h="46451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6. PERMANENCIA Y GRADUACIÓN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943857"/>
                  </a:ext>
                </a:extLst>
              </a:tr>
              <a:tr h="4455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7. INTERACCIÓN CON EL ENTORNO NACIONAL E INTERNACIONAL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121284"/>
                  </a:ext>
                </a:extLst>
              </a:tr>
              <a:tr h="112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8. APORTES DE LA INVESTIGACIÓN, LA INNOVACIÓN, EL DESARROLLO TECNOLÓGICO Y LA CREACIÓN ASOCIADOS AL PROGRAMA ACADÉMICO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802025"/>
                  </a:ext>
                </a:extLst>
              </a:tr>
              <a:tr h="8327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9. BIENESTAR DE LA COMUNIDAD ACADÉMICA DEL PROGRAMA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456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2520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21F48-17E5-4A72-8CBE-112AB1AE7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4. PLAN DE MEJORAMIENTO RENOVACION AAC</a:t>
            </a:r>
            <a:endParaRPr lang="es-CO" sz="40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8959DEF-F975-4970-BDDA-E1F641545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407276"/>
              </p:ext>
            </p:extLst>
          </p:nvPr>
        </p:nvGraphicFramePr>
        <p:xfrm>
          <a:off x="838199" y="1832928"/>
          <a:ext cx="10587088" cy="4332203"/>
        </p:xfrm>
        <a:graphic>
          <a:graphicData uri="http://schemas.openxmlformats.org/drawingml/2006/table">
            <a:tbl>
              <a:tblPr/>
              <a:tblGrid>
                <a:gridCol w="2374674">
                  <a:extLst>
                    <a:ext uri="{9D8B030D-6E8A-4147-A177-3AD203B41FA5}">
                      <a16:colId xmlns:a16="http://schemas.microsoft.com/office/drawing/2014/main" val="2248234423"/>
                    </a:ext>
                  </a:extLst>
                </a:gridCol>
                <a:gridCol w="2106109">
                  <a:extLst>
                    <a:ext uri="{9D8B030D-6E8A-4147-A177-3AD203B41FA5}">
                      <a16:colId xmlns:a16="http://schemas.microsoft.com/office/drawing/2014/main" val="1365072667"/>
                    </a:ext>
                  </a:extLst>
                </a:gridCol>
                <a:gridCol w="1978895">
                  <a:extLst>
                    <a:ext uri="{9D8B030D-6E8A-4147-A177-3AD203B41FA5}">
                      <a16:colId xmlns:a16="http://schemas.microsoft.com/office/drawing/2014/main" val="414483496"/>
                    </a:ext>
                  </a:extLst>
                </a:gridCol>
                <a:gridCol w="1583116">
                  <a:extLst>
                    <a:ext uri="{9D8B030D-6E8A-4147-A177-3AD203B41FA5}">
                      <a16:colId xmlns:a16="http://schemas.microsoft.com/office/drawing/2014/main" val="3971890211"/>
                    </a:ext>
                  </a:extLst>
                </a:gridCol>
                <a:gridCol w="1272147">
                  <a:extLst>
                    <a:ext uri="{9D8B030D-6E8A-4147-A177-3AD203B41FA5}">
                      <a16:colId xmlns:a16="http://schemas.microsoft.com/office/drawing/2014/main" val="1375908351"/>
                    </a:ext>
                  </a:extLst>
                </a:gridCol>
                <a:gridCol w="1272147">
                  <a:extLst>
                    <a:ext uri="{9D8B030D-6E8A-4147-A177-3AD203B41FA5}">
                      <a16:colId xmlns:a16="http://schemas.microsoft.com/office/drawing/2014/main" val="724488823"/>
                    </a:ext>
                  </a:extLst>
                </a:gridCol>
              </a:tblGrid>
              <a:tr h="661896"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Factor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ES" sz="1200" b="1" i="0" dirty="0">
                          <a:effectLst/>
                          <a:latin typeface="Times New Roman" panose="02020603050405020304" pitchFamily="18" charset="0"/>
                        </a:rPr>
                        <a:t>Descripción de fortaleza u oportunidad de mejora</a:t>
                      </a:r>
                      <a:r>
                        <a:rPr lang="es-ES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ES" sz="1200" b="1" i="0" dirty="0">
                          <a:effectLst/>
                          <a:latin typeface="Times New Roman" panose="02020603050405020304" pitchFamily="18" charset="0"/>
                        </a:rPr>
                        <a:t>Nombre del proyecto o acción a ejecutar</a:t>
                      </a:r>
                      <a:r>
                        <a:rPr lang="es-ES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Meta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Período de ejecución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85844"/>
                  </a:ext>
                </a:extLst>
              </a:tr>
              <a:tr h="6618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Inicio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Finalización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865439"/>
                  </a:ext>
                </a:extLst>
              </a:tr>
              <a:tr h="8825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10. MEDIOS EDUCATIVOS Y AMBIENTES DE APRENDIZAJE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943857"/>
                  </a:ext>
                </a:extLst>
              </a:tr>
              <a:tr h="12793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11. ORGANIZACIÓN, ADMINISTRACIÓN Y FINANCIACIÓN DEL PROGRAMA ACADÉMICO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121284"/>
                  </a:ext>
                </a:extLst>
              </a:tr>
              <a:tr h="8465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12. RECURSOS FÍSICOS Y TECNOLÓGICOS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s-CO" sz="11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802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3269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23203</TotalTime>
  <Words>1807</Words>
  <Application>Microsoft Office PowerPoint</Application>
  <PresentationFormat>Panorámica</PresentationFormat>
  <Paragraphs>396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Stencil</vt:lpstr>
      <vt:lpstr>Times New Roman</vt:lpstr>
      <vt:lpstr>WordVisiCarriageReturn_MSFontService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 comparativo de valoración cuantitativa de factores proceso 2018 y 2023 del proyecto curricular Maestría en Ciencias de la Información y las Comunicaciones. </vt:lpstr>
      <vt:lpstr>Resultados de autoevaluación y valoración global de cumplimiento</vt:lpstr>
      <vt:lpstr>4. PLAN DE MEJORAMIENTO RENOVACION AAC</vt:lpstr>
      <vt:lpstr>4. PLAN DE MEJORAMIENTO RENOVACION AAC</vt:lpstr>
      <vt:lpstr>4. PLAN DE MEJORAMIENTO RENOVACION AAC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Nelson</dc:creator>
  <cp:lastModifiedBy>ASUS</cp:lastModifiedBy>
  <cp:revision>371</cp:revision>
  <cp:lastPrinted>2020-03-04T20:34:47Z</cp:lastPrinted>
  <dcterms:created xsi:type="dcterms:W3CDTF">2019-07-14T20:41:47Z</dcterms:created>
  <dcterms:modified xsi:type="dcterms:W3CDTF">2025-10-29T03:19:06Z</dcterms:modified>
</cp:coreProperties>
</file>