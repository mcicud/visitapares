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3" r:id="rId2"/>
    <p:sldId id="295" r:id="rId3"/>
    <p:sldId id="300" r:id="rId4"/>
    <p:sldId id="301" r:id="rId5"/>
    <p:sldId id="303" r:id="rId6"/>
    <p:sldId id="296" r:id="rId7"/>
    <p:sldId id="297" r:id="rId8"/>
    <p:sldId id="294" r:id="rId9"/>
    <p:sldId id="298" r:id="rId10"/>
    <p:sldId id="299" r:id="rId11"/>
    <p:sldId id="302" r:id="rId12"/>
    <p:sldId id="304" r:id="rId13"/>
    <p:sldId id="30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12A46-D2A9-9B66-8F7A-DA0994A8F6E5}" v="61" dt="2026-09-30T21:28:56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E4769-CD44-4358-8508-050195C6DAF0}" type="datetimeFigureOut"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55DB4-8117-4C41-9210-B50FEC348E7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56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0843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46" y="308698"/>
            <a:ext cx="5238313" cy="853352"/>
          </a:xfrm>
        </p:spPr>
        <p:txBody>
          <a:bodyPr rtlCol="0">
            <a:noAutofit/>
          </a:bodyPr>
          <a:lstStyle>
            <a:lvl1pPr>
              <a:defRPr sz="2025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4DA4B-6AA0-4965-A92B-6F540FC54C36}" type="datetime1">
              <a:rPr lang="es-ES" noProof="0" smtClean="0"/>
              <a:t>01/10/2026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507"/>
              </a:spcBef>
              <a:buNone/>
              <a:defRPr sz="1125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" y="1543051"/>
            <a:ext cx="11353800" cy="4733925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301087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50B416D-C40D-8B73-EF64-A0A863A5C3D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alphaModFix amt="50000"/>
          </a:blip>
          <a:srcRect t="904" b="1693"/>
          <a:stretch/>
        </p:blipFill>
        <p:spPr>
          <a:xfrm>
            <a:off x="133068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ABCED7-F64C-081D-806A-525B5A51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6045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s-CO" sz="6000" noProof="0">
                <a:solidFill>
                  <a:srgbClr val="FFFFFF"/>
                </a:solidFill>
                <a:latin typeface="+mn-lt"/>
              </a:rPr>
              <a:t>LABORATORIOS FACULTAD DE INGENIERÍA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9FD763-CC85-BCE4-DC7F-F7075EBF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5013450"/>
            <a:ext cx="9144000" cy="853980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ctr" defTabSz="914400">
              <a:spcBef>
                <a:spcPts val="1000"/>
              </a:spcBef>
            </a:pPr>
            <a:r>
              <a:rPr lang="es-CO" sz="2400" noProof="0">
                <a:solidFill>
                  <a:srgbClr val="FFFFFF"/>
                </a:solidFill>
                <a:latin typeface="+mn-lt"/>
              </a:rPr>
              <a:t>Facultad de Ingeniería – Universidad Distrital Francisco José de Caldas</a:t>
            </a:r>
          </a:p>
          <a:p>
            <a:pPr algn="ctr">
              <a:spcBef>
                <a:spcPts val="1000"/>
              </a:spcBef>
            </a:pPr>
            <a:r>
              <a:rPr lang="es-CO" sz="2400">
                <a:solidFill>
                  <a:srgbClr val="FFFFFF"/>
                </a:solidFill>
                <a:latin typeface="+mn-lt"/>
              </a:rPr>
              <a:t>Software Maestría en Ciencias de la Información y las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3189619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6DA8-9466-9A56-FB9F-248EF673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AED42CC-BD75-0C3F-EE3B-66A844CB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F56EE64E-613B-6D84-2563-F77BDE9928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740A330-00AE-85B9-6C00-F23674F050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07849B-34CD-BE95-CFB6-DEF6F90B1374}"/>
              </a:ext>
            </a:extLst>
          </p:cNvPr>
          <p:cNvSpPr>
            <a:spLocks noGrp="1"/>
          </p:cNvSpPr>
          <p:nvPr/>
        </p:nvSpPr>
        <p:spPr>
          <a:xfrm>
            <a:off x="783293" y="883792"/>
            <a:ext cx="8372577" cy="450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sp>
        <p:nvSpPr>
          <p:cNvPr id="58" name="Título 1">
            <a:extLst>
              <a:ext uri="{FF2B5EF4-FFF2-40B4-BE49-F238E27FC236}">
                <a16:creationId xmlns:a16="http://schemas.microsoft.com/office/drawing/2014/main" id="{ED01F3A3-1BB3-9F82-DB43-7BCF5028AEA1}"/>
              </a:ext>
            </a:extLst>
          </p:cNvPr>
          <p:cNvSpPr>
            <a:spLocks noGrp="1"/>
          </p:cNvSpPr>
          <p:nvPr/>
        </p:nvSpPr>
        <p:spPr>
          <a:xfrm>
            <a:off x="783291" y="1332153"/>
            <a:ext cx="10862877" cy="19928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000" b="0"/>
              <a:t>Se presenta la información sobre los aplicativos, programas y software requeridos por docentes de la Maestría, se precisa que los registros disponibles en Aulas de Software corresponden desde el semestre académico 2025-1 a la fecha. A partir de esta información se realizó la revisión y consolidación de las solicitudes registradas, efectuando adicionalmente una estandarización en la denominación de los aplicativos con el propósito de presentar la información de manera homogénea y facilitar su consulta durante la visita de los pares académicos.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BCB8EF-80ED-7B4B-1CF7-118FEA8A0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589776"/>
              </p:ext>
            </p:extLst>
          </p:nvPr>
        </p:nvGraphicFramePr>
        <p:xfrm>
          <a:off x="2399006" y="3304070"/>
          <a:ext cx="7624215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1405">
                  <a:extLst>
                    <a:ext uri="{9D8B030D-6E8A-4147-A177-3AD203B41FA5}">
                      <a16:colId xmlns:a16="http://schemas.microsoft.com/office/drawing/2014/main" val="2178623940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158611219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2030174880"/>
                    </a:ext>
                  </a:extLst>
                </a:gridCol>
              </a:tblGrid>
              <a:tr h="481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Periodo</a:t>
                      </a:r>
                      <a:endParaRPr lang="es-E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Nombre del docente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Software o programas solicitados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62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2025-I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05903"/>
                  </a:ext>
                </a:extLst>
              </a:tr>
              <a:tr h="2687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 4.21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71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 17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3.42.1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93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1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CF51-3B8B-E770-51F9-B3C9D8E6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F0DF4CC-7BF3-C021-F2FF-8C08A8F07B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9E7B9963-ACD1-8893-C0A1-B5AA5771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0CC51CF-2C90-8661-E7DE-045F8C54A8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ACE4E23D-2D44-EF6B-7999-CFB781E6A5E2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152AE8-0306-2088-20C2-AE1539B8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59059"/>
              </p:ext>
            </p:extLst>
          </p:nvPr>
        </p:nvGraphicFramePr>
        <p:xfrm>
          <a:off x="395228" y="381658"/>
          <a:ext cx="8244975" cy="5852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8325">
                  <a:extLst>
                    <a:ext uri="{9D8B030D-6E8A-4147-A177-3AD203B41FA5}">
                      <a16:colId xmlns:a16="http://schemas.microsoft.com/office/drawing/2014/main" val="130528579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43284073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2834869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Java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Apache NetBeans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9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9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37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38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ArcGIS Pro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PCI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Geomatica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2018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GRASS GIS 8.x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Agisoft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Metashape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Pix4Dmapper 4.x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5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Daniel David Leal Lara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SonarQube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Docker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Postman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3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José Antonio Valero Medina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Eclipse IDE (preconfigurado con el plugin Papyrus)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98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Sergio Rojas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Jupyter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Notebook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PyCharm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OpenAI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API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54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1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E0F5-C23D-44B7-5B01-1FC85D68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B7AA9ECC-00C5-CFE9-C53A-9801B87AB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115C8A1-6502-361A-15F9-AE35ACD99C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77B3B82-8537-91DB-AD73-3409ECD639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69911F-1C16-3DC3-E3AC-79C3ED6DFAEA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CCB52E-5035-4B47-8A72-0E121488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64679"/>
              </p:ext>
            </p:extLst>
          </p:nvPr>
        </p:nvGraphicFramePr>
        <p:xfrm>
          <a:off x="385703" y="376296"/>
          <a:ext cx="8652626" cy="536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97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5D96-BC59-7D78-3A0C-19000088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3BAFFAD0-D060-54F5-9EE6-B458F584D9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C71BFCF-79C0-31DF-7B60-2BF21E52FF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F74A0B88-19F1-4E19-E5AE-80EE47FFAA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4D16D5-DFD2-0D35-FCA8-3F8E32D600A0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08462FE-0CA5-EC04-5BDF-3F8247E4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869381"/>
              </p:ext>
            </p:extLst>
          </p:nvPr>
        </p:nvGraphicFramePr>
        <p:xfrm>
          <a:off x="385703" y="376296"/>
          <a:ext cx="8652626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John Alexander Orduña Diaz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Trimble Business Center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Leica Infinity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Bernese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02303"/>
                  </a:ext>
                </a:extLst>
              </a:tr>
              <a:tr h="19832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7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5D6-96FB-4AC1-B5AF-A9252D13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E55DD79A-A730-2385-E378-3148BA12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52B4930-0CFE-50DC-2CDA-5242B95B72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0CA61EA5-3DCA-566E-7EDD-A3E441BB56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854BC739-C541-3F21-27A7-071EDFE90182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04C21933-AC11-65D0-F43F-2C9CE5A87C7C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NANCY YANETH GELVEZ GARCIA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DE NEGOCIOS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FC69563-FFFF-58B5-F4FB-1784A0C1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19125"/>
              </p:ext>
            </p:extLst>
          </p:nvPr>
        </p:nvGraphicFramePr>
        <p:xfrm>
          <a:off x="1028235" y="2618339"/>
          <a:ext cx="9627866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813933">
                  <a:extLst>
                    <a:ext uri="{9D8B030D-6E8A-4147-A177-3AD203B41FA5}">
                      <a16:colId xmlns:a16="http://schemas.microsoft.com/office/drawing/2014/main" val="2941143682"/>
                    </a:ext>
                  </a:extLst>
                </a:gridCol>
                <a:gridCol w="4813933">
                  <a:extLst>
                    <a:ext uri="{9D8B030D-6E8A-4147-A177-3AD203B41FA5}">
                      <a16:colId xmlns:a16="http://schemas.microsoft.com/office/drawing/2014/main" val="14731803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46792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MySQL +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6777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SQL Server / SSMS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PostgreSQL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pgAdmin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218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+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6043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30078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2007674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485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51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62EB-1742-27C2-6AEE-465B8D3E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6332092-E428-6CCA-8327-250B98AE33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C583A0A-DA73-7123-54B5-78431C7874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187855D-B355-6C86-E722-973476DED1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B65A9047-EFC3-2F39-8C49-36702EA56981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312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A7E2EE4-5284-4AC6-F7CF-109AF763CF81}"/>
              </a:ext>
            </a:extLst>
          </p:cNvPr>
          <p:cNvSpPr>
            <a:spLocks noGrp="1"/>
          </p:cNvSpPr>
          <p:nvPr/>
        </p:nvSpPr>
        <p:spPr>
          <a:xfrm>
            <a:off x="917931" y="1716661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SEBASTIAN CAMILO VANEGAS AYALA, DANIEL DAVID LEAL LARA, HANS IGOR LOPEZ CHAVEZ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TENDENCIAS EN INGENIERIA DE SOFTWARE, </a:t>
            </a:r>
          </a:p>
          <a:p>
            <a:pPr algn="just"/>
            <a:r>
              <a:rPr lang="es-CO" sz="2400" b="0">
                <a:ea typeface="+mj-lt"/>
                <a:cs typeface="+mj-lt"/>
              </a:rPr>
              <a:t>HERRAMIENTAS MATEMATICAS PARA EL MANEJO DE LA INFORMACION</a:t>
            </a:r>
            <a:endParaRPr lang="es-CO" sz="2400"/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400">
              <a:latin typeface="Abadi ExtraLight"/>
              <a:ea typeface="Calibri"/>
              <a:cs typeface="Calibri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A31ED13-2F50-079E-950D-5A700719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64498"/>
              </p:ext>
            </p:extLst>
          </p:nvPr>
        </p:nvGraphicFramePr>
        <p:xfrm>
          <a:off x="1083567" y="3181103"/>
          <a:ext cx="10208919" cy="25567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208919">
                  <a:extLst>
                    <a:ext uri="{9D8B030D-6E8A-4147-A177-3AD203B41FA5}">
                      <a16:colId xmlns:a16="http://schemas.microsoft.com/office/drawing/2014/main" val="1489055365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Studio, Visual Studio Code, Git, GitHub Desktop, Docker Desktop, Postman, SonarQube, Apache NetBeans, Eclipse, IntelliJ IDEA, Android Studio,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Enterprise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Architect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8244935"/>
                  </a:ext>
                </a:extLst>
              </a:tr>
              <a:tr h="13660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R2025a, MATLAB R2026a, Python/Anaconda,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Notebook, R,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Excel, Orange Data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Power BI Desktop,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QGIS.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506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43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A1350E4C-1D67-E65A-0448-2AC3A7A881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B2FA68D7-2CAD-31EA-30D0-4C1A29BE48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312902-D912-702E-70E9-8C5295C02C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1CECCD-E42A-D0E8-7D3F-8839E160F88A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670A40E-58BC-72FC-8286-40C7620E2060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NELSON ENRIQUE VERA PARRA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COMPUTACION PARALELA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8E448A2-F0DE-02E4-CBE2-506034AB7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0024"/>
              </p:ext>
            </p:extLst>
          </p:nvPr>
        </p:nvGraphicFramePr>
        <p:xfrm>
          <a:off x="1029512" y="2625004"/>
          <a:ext cx="10131166" cy="243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21225">
                  <a:extLst>
                    <a:ext uri="{9D8B030D-6E8A-4147-A177-3AD203B41FA5}">
                      <a16:colId xmlns:a16="http://schemas.microsoft.com/office/drawing/2014/main" val="4257745027"/>
                    </a:ext>
                  </a:extLst>
                </a:gridCol>
                <a:gridCol w="5009941">
                  <a:extLst>
                    <a:ext uri="{9D8B030D-6E8A-4147-A177-3AD203B41FA5}">
                      <a16:colId xmlns:a16="http://schemas.microsoft.com/office/drawing/2014/main" val="3096164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CMake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9321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Docker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65177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Agisoft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Metashape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Professional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26536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2376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06400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2677313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35945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972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65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E364-0F88-F3D9-ABBA-F2739FC2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4933090-0734-E49A-F9A2-24EEE3FC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0C8A5499-6D58-D888-06A7-D94A8FBB31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8033FC-51F6-0CAB-0562-E818FD9E9C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5C7A6791-5EBE-0544-87F0-63F54EFEE8C9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B0ED7C0F-3DF5-2D89-79A9-8E2492A60B48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ALVARO ENRIQUE ORTIZ DAVILA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INFORMATICA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6EB3B6B-796C-3413-C884-74670720E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69302"/>
              </p:ext>
            </p:extLst>
          </p:nvPr>
        </p:nvGraphicFramePr>
        <p:xfrm>
          <a:off x="892341" y="2396289"/>
          <a:ext cx="10417422" cy="297893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08711">
                  <a:extLst>
                    <a:ext uri="{9D8B030D-6E8A-4147-A177-3AD203B41FA5}">
                      <a16:colId xmlns:a16="http://schemas.microsoft.com/office/drawing/2014/main" val="2722545016"/>
                    </a:ext>
                  </a:extLst>
                </a:gridCol>
                <a:gridCol w="5208711">
                  <a:extLst>
                    <a:ext uri="{9D8B030D-6E8A-4147-A177-3AD203B41FA5}">
                      <a16:colId xmlns:a16="http://schemas.microsoft.com/office/drawing/2014/main" val="810190930"/>
                    </a:ext>
                  </a:extLst>
                </a:gridCol>
              </a:tblGrid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Python / 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170973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64069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Wireshark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8173019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Oracle VirtualBox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6914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Git / GitHub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2373177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48765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DBeaver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4800362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Postman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1094073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218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38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27E9-455A-09F1-BBB3-79CD4FEB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59BBE4B1-C691-A69D-1C90-FAFC4B2333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0D35CBE-4DD5-F56A-4D7F-8A9343429B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2DCE5E1-9B0C-52B7-8E48-46651109A4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FD83F2-3AE4-890E-F7F6-17614D3A887D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701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11C89E4-F814-5281-6B2C-7B3670EC7996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CESAR ANDREY PERDOMO CHARRY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COMPUTACIONAL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4FD81D-8A23-15E7-C84F-4AC49E5D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65138"/>
              </p:ext>
            </p:extLst>
          </p:nvPr>
        </p:nvGraphicFramePr>
        <p:xfrm>
          <a:off x="912395" y="2376237"/>
          <a:ext cx="10164079" cy="3657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94679">
                  <a:extLst>
                    <a:ext uri="{9D8B030D-6E8A-4147-A177-3AD203B41FA5}">
                      <a16:colId xmlns:a16="http://schemas.microsoft.com/office/drawing/2014/main" val="1155101726"/>
                    </a:ext>
                  </a:extLst>
                </a:gridCol>
                <a:gridCol w="4969400">
                  <a:extLst>
                    <a:ext uri="{9D8B030D-6E8A-4147-A177-3AD203B41FA5}">
                      <a16:colId xmlns:a16="http://schemas.microsoft.com/office/drawing/2014/main" val="19794443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/ Anaconda3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FlexSim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76159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ProModel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4461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Vensim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249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SimRunner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446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IBM SPSS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Statistics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StatFit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7729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49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/ Visual Studio Code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1703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CPLEX / IBM ILOG CPLEX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Optimization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41387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Xpress / Xpress IVE / Xpress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9640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LINGO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SQL Server / MySQL / PostgreSQL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2744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/ MongoDB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1188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LEKIN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827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81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5F0B-7D40-E360-C781-674913D1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492855F-33ED-C19D-77ED-7503B3AAE9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20041A4-E105-AEED-36EF-F253FA944C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EA7CE70-3619-74A0-30EA-0FFF49367F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1784C25F-AA9A-F82A-DA14-B2B38C3147C8}"/>
              </a:ext>
            </a:extLst>
          </p:cNvPr>
          <p:cNvSpPr>
            <a:spLocks noGrp="1"/>
          </p:cNvSpPr>
          <p:nvPr/>
        </p:nvSpPr>
        <p:spPr>
          <a:xfrm>
            <a:off x="700667" y="296954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9CB2B934-317D-15B2-35AE-43A38F37CB17}"/>
              </a:ext>
            </a:extLst>
          </p:cNvPr>
          <p:cNvSpPr>
            <a:spLocks noGrp="1"/>
          </p:cNvSpPr>
          <p:nvPr/>
        </p:nvSpPr>
        <p:spPr>
          <a:xfrm>
            <a:off x="879396" y="1000927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JOHN ALEXANDER ORDUÑA DIAZ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SISTEMAS DE POSICIONAMIENTO GEODESICO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75596E-FABA-511B-A4C4-F935834B1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80776"/>
              </p:ext>
            </p:extLst>
          </p:nvPr>
        </p:nvGraphicFramePr>
        <p:xfrm>
          <a:off x="876504" y="2299403"/>
          <a:ext cx="9612725" cy="2773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12890">
                  <a:extLst>
                    <a:ext uri="{9D8B030D-6E8A-4147-A177-3AD203B41FA5}">
                      <a16:colId xmlns:a16="http://schemas.microsoft.com/office/drawing/2014/main" val="2708665023"/>
                    </a:ext>
                  </a:extLst>
                </a:gridCol>
                <a:gridCol w="4699835">
                  <a:extLst>
                    <a:ext uri="{9D8B030D-6E8A-4147-A177-3AD203B41FA5}">
                      <a16:colId xmlns:a16="http://schemas.microsoft.com/office/drawing/2014/main" val="2954760001"/>
                    </a:ext>
                  </a:extLst>
                </a:gridCol>
              </a:tblGrid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Business Center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Clm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026950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Infinity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1182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POSPacCommandLineTBCSubscription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72196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To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RINEX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018135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convertToRINEX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36341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Coordinate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System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CLM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Administration</a:t>
                      </a:r>
                      <a:endParaRPr lang="es-ES" sz="2000" b="0" i="0" u="none" strike="noStrike" kern="1200" noProof="0" err="1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333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Desktop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Utility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Feature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Definition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s-ES" sz="2000" b="0" i="0" u="none" strike="noStrike" kern="1200" noProof="0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78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3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9EF8-69A6-22B3-C1C6-B042D05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B71ED35-FD2F-623C-0FA3-A0FFF95F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0EA84AE-7EE5-4851-4D5D-68E7E1905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9925339-3AB5-BF9E-A6CC-05B5925BFD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BDAB06-4439-36E4-ED40-AF07D5BA7608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704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3BA1C42-79C0-BE75-81DA-DD60C62C1AB2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LUIS EDUARDO CASTILLO MENDEZ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ESTADISTICA ESPACIAL </a:t>
            </a:r>
            <a:endParaRPr lang="es-CO" sz="2400" b="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B5760A-34EB-BE0D-E8D0-0AF73DA5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36779"/>
              </p:ext>
            </p:extLst>
          </p:nvPr>
        </p:nvGraphicFramePr>
        <p:xfrm>
          <a:off x="784958" y="2267837"/>
          <a:ext cx="10717146" cy="34476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358573">
                  <a:extLst>
                    <a:ext uri="{9D8B030D-6E8A-4147-A177-3AD203B41FA5}">
                      <a16:colId xmlns:a16="http://schemas.microsoft.com/office/drawing/2014/main" val="1017582412"/>
                    </a:ext>
                  </a:extLst>
                </a:gridCol>
                <a:gridCol w="5358573">
                  <a:extLst>
                    <a:ext uri="{9D8B030D-6E8A-4147-A177-3AD203B41FA5}">
                      <a16:colId xmlns:a16="http://schemas.microsoft.com/office/drawing/2014/main" val="2500239561"/>
                    </a:ext>
                  </a:extLst>
                </a:gridCol>
              </a:tblGrid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4095163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R2026a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621887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00648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 Machine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Learning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4733732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ESA SNAP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72986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GeoServer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025176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Google Earth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248428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TerrSet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liberaGIS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241317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183124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499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62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CE55-E515-07F0-7FE1-A5E1EA40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C82D979-69BD-00C4-7031-926F8FFC45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EB85D378-946A-2353-9F9E-A1C8D021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A345DA37-80DA-60A7-2EB4-D84F194F1EC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467CED5E-CCF6-DC72-069C-4341D6AAEB75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Estudiantes Impactados </a:t>
            </a:r>
          </a:p>
        </p:txBody>
      </p:sp>
      <p:sp>
        <p:nvSpPr>
          <p:cNvPr id="23" name="Estudiantes activos - subtítulo"/>
          <p:cNvSpPr txBox="1"/>
          <p:nvPr/>
        </p:nvSpPr>
        <p:spPr>
          <a:xfrm>
            <a:off x="783293" y="1300000"/>
            <a:ext cx="8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Segoe UI"/>
              </a:rPr>
              <a:t>Estudiantes activos por énfasis, 2022 a 2026 — modalidad Profundización</a:t>
            </a:r>
          </a:p>
        </p:txBody>
      </p:sp>
      <p:graphicFrame>
        <p:nvGraphicFramePr>
          <p:cNvPr id="24" name="Estudiantes activos - tabla"/>
          <p:cNvGraphicFramePr>
            <a:graphicFrameLocks noGrp="1"/>
          </p:cNvGraphicFramePr>
          <p:nvPr/>
        </p:nvGraphicFramePr>
        <p:xfrm>
          <a:off x="785362" y="1780000"/>
          <a:ext cx="8900000" cy="30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0000"/>
                <a:gridCol w="1000000"/>
                <a:gridCol w="1000000"/>
                <a:gridCol w="1000000"/>
                <a:gridCol w="1000000"/>
                <a:gridCol w="1000000"/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Segoe UI"/>
                        </a:rPr>
                        <a:t>Énfasis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2022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2023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2024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2025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2026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Teleinformática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23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11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Sistemas de Información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Geomática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27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33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31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Ingeniería de Software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47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45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38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26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Inteligencia Artificial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9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12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Sin énfasis definido aún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10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Segoe UI"/>
                        </a:rPr>
                        <a:t>Total Profundización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102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89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88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95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92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Plan anterior sin modalidad (aparte)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23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</a:t>
                      </a:r>
                    </a:p>
                  </a:txBody>
                  <a:tcPr anchor="ctr" marL="70000" marR="70000"/>
                </a:tc>
              </a:tr>
            </a:tbl>
          </a:graphicData>
        </a:graphic>
      </p:graphicFrame>
      <p:sp>
        <p:nvSpPr>
          <p:cNvPr id="25" name="Estudiantes activos - nota"/>
          <p:cNvSpPr txBox="1"/>
          <p:nvPr/>
        </p:nvSpPr>
        <p:spPr>
          <a:xfrm>
            <a:off x="785362" y="4890000"/>
            <a:ext cx="8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latin typeface="Segoe UI"/>
              </a:rPr>
              <a:t>Estudiantes con matrícula vigente en el año (entre su ingreso y su última matrícula en Cóndor). Fuente: Cóndor y bases de datos MCIC. Un estudiante cuenta una vez por año; el énfasis es el de su plan de ingreso.</a:t>
            </a:r>
          </a:p>
        </p:txBody>
      </p:sp>
    </p:spTree>
    <p:extLst>
      <p:ext uri="{BB962C8B-B14F-4D97-AF65-F5344CB8AC3E}">
        <p14:creationId xmlns:p14="http://schemas.microsoft.com/office/powerpoint/2010/main" val="1220944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LABORATORIOS FACULTAD DE INGENIERÍA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2026-04-12T20:31:03Z</dcterms:created>
  <dcterms:modified xsi:type="dcterms:W3CDTF">2026-10-01T23:18:18Z</dcterms:modified>
</cp:coreProperties>
</file>