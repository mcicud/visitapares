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5" r:id="rId6"/>
    <p:sldId id="2145706308" r:id="rId7"/>
    <p:sldId id="267" r:id="rId8"/>
    <p:sldId id="261" r:id="rId9"/>
    <p:sldId id="259" r:id="rId10"/>
    <p:sldId id="2145706306" r:id="rId11"/>
    <p:sldId id="2145706307" r:id="rId12"/>
    <p:sldId id="264" r:id="rId13"/>
    <p:sldId id="2145706309" r:id="rId14"/>
    <p:sldId id="266" r:id="rId15"/>
    <p:sldId id="2145706310" r:id="rId16"/>
    <p:sldId id="2145706311" r:id="rId17"/>
    <p:sldId id="2145706312" r:id="rId18"/>
    <p:sldId id="257" r:id="rId19"/>
    <p:sldId id="260" r:id="rId20"/>
    <p:sldId id="262" r:id="rId21"/>
    <p:sldId id="258" r:id="rId22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AF00"/>
    <a:srgbClr val="4822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3" dt="2026-09-23T23:11:58.756"/>
    <p1510:client id="{07C2E518-2365-D823-A5E7-6A740544A1DD}" v="151" dt="2026-09-24T15:09:52.668"/>
    <p1510:client id="{31CC58CD-BFDB-C9C5-C5CC-A31E01C2B533}" v="2" dt="2026-09-23T23:56:39.809"/>
    <p1510:client id="{B86C1330-32B9-3D99-572F-0C9521A9A6FB}" v="475" dt="2026-09-24T14:59:07.417"/>
    <p1510:client id="{B9C47378-D23C-88D1-63AF-E31E48D9905B}" v="8" dt="2026-09-24T14:48:04.046"/>
    <p1510:client id="{C099EB21-1A44-2F09-A4B4-88A225956FC9}" v="1" dt="2026-09-23T20:35:25.181"/>
    <p1510:client id="{DB21D3A8-9889-89C4-3DA1-D541F31CDB3C}" v="182" dt="2026-09-23T16:17:51.027"/>
    <p1510:client id="{E449F5BF-45DF-4EB3-BA5A-7AD65BF1044C}" v="668" dt="2026-09-24T14:37:06.694"/>
    <p1510:client id="{F040CB06-1D0F-40CE-BA1C-A72A6053FAC7}" v="1027" dt="2026-09-24T14:36:35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663EA1-A798-F243-0952-D618E5B0F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A1F4E-A2F1-4313-8609-F9627A769A43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B74987-9BB0-632B-49DC-FDDBF87F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E3BF0F-D281-747D-C323-F337404B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9683D-C7D3-41AE-A7B1-95614290F5CE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493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70FF38-07EA-EC2E-37B0-604B2BDA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9866C-B6BF-4A3B-AE51-5D07428CB19D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877FAC-2078-82F5-42CD-830909AF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FCD38A-1D1A-FF8F-8B6D-8D00FE67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8AF9F-7CD6-4985-95CB-AB09FF03915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009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7E7F42-39C5-54E7-0439-1682F889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47825-5D55-40FD-8749-551441F6546E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30E31E-8B00-4681-35E3-E1A641C0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94BDB6-EA71-DEB3-7FE7-49FB2592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F3096-093E-4457-B4E6-0C2EC8BE6E12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192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29646E23-DC6A-1CFF-E23A-47FD9CE7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FD5FF-5DF5-4390-BEE4-41C3E30377CC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798CBF6F-A3B4-B7DB-B084-35C66F83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2B6DCB2F-0299-BFD6-F8F1-23228E0E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F6455-E74C-4884-A8EE-714B2389D93D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493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1DAD1A06-918A-F89B-610B-C13B9996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E1B9A-5B37-4DE5-AD06-7E6D2DB8F773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152F9DBB-FD2B-7EFB-F490-360BCE85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2A164829-924D-E6D0-A8FB-B352C2E5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590D8-800E-4B1F-8F9F-4DB45A4D6FE2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747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72967E72-CE2F-CA83-2A34-660E0E89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B4A5-03ED-4072-9393-749DD21D6146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91F544FE-22A4-EB5D-E2AF-351B5DDE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350258C-7F6A-C94C-C24A-3F7FBFAB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2BFCF-29D1-43CB-AAE5-5C24CB0AAF7B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293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B84ABCFE-1921-4D5A-A14A-28FA09AB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C6B87-6842-4E75-8F3D-DD2D1E8E12EB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43A6FFE8-2FED-C0F4-DD19-EF9703E6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7DCF3B14-69F9-5CD7-AF78-ED0DA19B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CA707-9D00-4196-A1CE-C39B5EC136D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030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CC9A11A8-325A-354A-BD4B-7E24783FD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A1207-459B-4A87-A474-3E469AF9CAD2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60836891-E2C2-2839-0734-515E2093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D97B1BF6-5EA8-4EAB-ED1C-B4A5868B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E718E-4CED-431A-90AB-97E688713F55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433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CO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4AC7C094-0BB9-5B5D-CC7A-F3ED6CB2E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94FE2-36E7-417A-A0C5-F08D1D43FC9D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04F9FD17-28D3-03C0-BF1A-C219BB6C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2E258016-6D8E-07C6-D6E1-9F0E48CB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03EF8-BCEC-4CED-9D9C-8529A68C2094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847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917E50-2850-4C2A-4B90-0A12F264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9D61F-B9F6-4625-912C-2099D4645D45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0B62A9-2B0A-FD3D-1EFB-ED99BF1F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876AA-CABD-90D1-3179-0D164BA8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50434-B856-4200-B00E-464DC46E8EF6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905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B657A4-0810-6020-27CB-87D57957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DD81E-8560-4CE1-9B48-8AD1A81BA345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A1E22E-6AC4-4533-DB64-14385FFF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959273-7C3D-8AB8-51CD-BA20DBCD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F43A1-EACE-4F60-BB76-0BE7019B3C8D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685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73877C92-9DD2-2313-2320-0776A8916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BA0BF324-4506-46B6-323B-1A9EB273F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los estilos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A84DFE-AE84-4905-74ED-1DCF1A1A7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D0B1F54-BE8D-41E5-9F00-BA53BEB63093}" type="datetimeFigureOut">
              <a:rPr lang="es-CO"/>
              <a:pPr>
                <a:defRPr/>
              </a:pPr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5F6B81-368F-3FD5-AFAC-5B8305FCA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CBEF4-A98F-2B4C-0E12-D98DAAA27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2EA899-94B0-4A3D-BE5A-F7237C525B83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EEF438-8E4A-BE98-8970-A8D766009300}"/>
              </a:ext>
            </a:extLst>
          </p:cNvPr>
          <p:cNvSpPr txBox="1"/>
          <p:nvPr/>
        </p:nvSpPr>
        <p:spPr>
          <a:xfrm>
            <a:off x="6096000" y="2242971"/>
            <a:ext cx="3979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/>
              <a:t>MAESTRÍA EN CIENCIAS DE LA INFORMACIÓN Y LAS COMUNICACIONES EN ARTICULACIÓN CON PLANESTIC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7C9CA5-1BA4-00D3-E076-884DDD10922F}"/>
              </a:ext>
            </a:extLst>
          </p:cNvPr>
          <p:cNvSpPr txBox="1"/>
          <p:nvPr/>
        </p:nvSpPr>
        <p:spPr>
          <a:xfrm>
            <a:off x="6511925" y="4449763"/>
            <a:ext cx="3330575" cy="277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CO" sz="1200" b="1" err="1">
                <a:latin typeface="+mj-lt"/>
                <a:cs typeface="Times New Roman" panose="02020603050405020304" pitchFamily="18" charset="0"/>
              </a:rPr>
              <a:t>PlanEsTIC</a:t>
            </a:r>
            <a:endParaRPr lang="es-CO" sz="1200" b="1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99706B-1052-34EB-C2AF-EA475DEC8751}"/>
              </a:ext>
            </a:extLst>
          </p:cNvPr>
          <p:cNvSpPr/>
          <p:nvPr/>
        </p:nvSpPr>
        <p:spPr>
          <a:xfrm>
            <a:off x="5562600" y="3257550"/>
            <a:ext cx="4410075" cy="111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CO" sz="1600" b="1">
                <a:solidFill>
                  <a:schemeClr val="tx1"/>
                </a:solidFill>
              </a:rPr>
              <a:t>Trayectoria de apropiación de tecnologías digitales para el fortalecimiento de los procesos formativos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2731-F609-D3A0-7D8F-0114954D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932" y="1979917"/>
            <a:ext cx="10515600" cy="1626884"/>
          </a:xfrm>
        </p:spPr>
        <p:txBody>
          <a:bodyPr/>
          <a:lstStyle/>
          <a:p>
            <a:pPr algn="ctr"/>
            <a:r>
              <a:rPr lang="es-CO" sz="4400" b="1">
                <a:solidFill>
                  <a:srgbClr val="002060"/>
                </a:solidFill>
                <a:latin typeface="Montserrat Black" panose="00000A00000000000000" pitchFamily="2" charset="0"/>
                <a:cs typeface="Poppins" panose="00000500000000000000" pitchFamily="2" charset="0"/>
              </a:rPr>
              <a:t>ESTRUCTURA VIRTUAL</a:t>
            </a:r>
            <a:endParaRPr lang="en-US">
              <a:solidFill>
                <a:srgbClr val="002060"/>
              </a:solidFill>
              <a:latin typeface="Montserrat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99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A78DB4AA-B113-82AE-58B7-0CE9107583F6}"/>
              </a:ext>
            </a:extLst>
          </p:cNvPr>
          <p:cNvSpPr txBox="1"/>
          <p:nvPr/>
        </p:nvSpPr>
        <p:spPr>
          <a:xfrm>
            <a:off x="2477260" y="320317"/>
            <a:ext cx="775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Estructura Equipo Virtual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0AC7AF6-55FA-E772-3B66-9BE4D7F0BC5F}"/>
              </a:ext>
            </a:extLst>
          </p:cNvPr>
          <p:cNvGrpSpPr/>
          <p:nvPr/>
        </p:nvGrpSpPr>
        <p:grpSpPr>
          <a:xfrm>
            <a:off x="415108" y="1157617"/>
            <a:ext cx="11540185" cy="4735371"/>
            <a:chOff x="415108" y="1157617"/>
            <a:chExt cx="11540185" cy="4735371"/>
          </a:xfrm>
        </p:grpSpPr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78D335F5-01C2-CA4C-1B58-EF75A4916E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74965" y="1157617"/>
              <a:ext cx="1872205" cy="3673894"/>
            </a:xfrm>
            <a:prstGeom prst="rect">
              <a:avLst/>
            </a:prstGeom>
          </p:spPr>
        </p:pic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6BC6B5E2-9240-A39B-5D2C-E1D41BA4B6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03374" y="1168648"/>
              <a:ext cx="1872205" cy="3673894"/>
            </a:xfrm>
            <a:prstGeom prst="rect">
              <a:avLst/>
            </a:prstGeom>
          </p:spPr>
        </p:pic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FBDB3E04-D2C4-EBE6-8280-FA94B525EF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91088" y="1168648"/>
              <a:ext cx="1872205" cy="3673894"/>
            </a:xfrm>
            <a:prstGeom prst="rect">
              <a:avLst/>
            </a:prstGeom>
          </p:spPr>
        </p:pic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4747074A-4ECA-AE60-6B16-A78C7886C5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78801" y="1168648"/>
              <a:ext cx="1872205" cy="3673894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38828DF-9C3D-35CB-8ADD-319C2CA743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04431" y="1559519"/>
              <a:ext cx="813275" cy="59724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56980577-B6BC-6D81-4CEB-90B93716E0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71384" y="1493441"/>
              <a:ext cx="729403" cy="729403"/>
            </a:xfrm>
            <a:prstGeom prst="rect">
              <a:avLst/>
            </a:prstGeom>
          </p:spPr>
        </p:pic>
        <p:pic>
          <p:nvPicPr>
            <p:cNvPr id="12" name="Gráfico 11">
              <a:extLst>
                <a:ext uri="{FF2B5EF4-FFF2-40B4-BE49-F238E27FC236}">
                  <a16:creationId xmlns:a16="http://schemas.microsoft.com/office/drawing/2014/main" id="{5E5E619C-8995-62BD-941E-91BD274BB1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26106" y="1441867"/>
              <a:ext cx="612638" cy="737455"/>
            </a:xfrm>
            <a:prstGeom prst="rect">
              <a:avLst/>
            </a:prstGeom>
          </p:spPr>
        </p:pic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C8438746-6DC0-0637-7A76-E6A60260C7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160037" y="1441867"/>
              <a:ext cx="737455" cy="737455"/>
            </a:xfrm>
            <a:prstGeom prst="rect">
              <a:avLst/>
            </a:prstGeom>
          </p:spPr>
        </p:pic>
        <p:sp>
          <p:nvSpPr>
            <p:cNvPr id="14" name="Rectángulo 23">
              <a:extLst>
                <a:ext uri="{FF2B5EF4-FFF2-40B4-BE49-F238E27FC236}">
                  <a16:creationId xmlns:a16="http://schemas.microsoft.com/office/drawing/2014/main" id="{6D4FC7A6-7C56-27A4-FC9E-1BB9656A0D13}"/>
                </a:ext>
              </a:extLst>
            </p:cNvPr>
            <p:cNvSpPr/>
            <p:nvPr/>
          </p:nvSpPr>
          <p:spPr>
            <a:xfrm>
              <a:off x="6449201" y="3236012"/>
              <a:ext cx="1838451" cy="86135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indent="-171450">
                <a:lnSpc>
                  <a:spcPct val="80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ES" sz="1100" kern="0">
                  <a:solidFill>
                    <a:srgbClr val="002060"/>
                  </a:solidFill>
                  <a:latin typeface="+mn-lt"/>
                </a:rPr>
                <a:t>Administrador E-Learning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ES" sz="110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Profesional de Servicio y Soporte Virtual </a:t>
              </a:r>
            </a:p>
            <a:p>
              <a:pPr marR="0" lvl="0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s-ES" sz="110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5" name="Rectángulo 24">
              <a:extLst>
                <a:ext uri="{FF2B5EF4-FFF2-40B4-BE49-F238E27FC236}">
                  <a16:creationId xmlns:a16="http://schemas.microsoft.com/office/drawing/2014/main" id="{A3F29895-4437-2357-B8D6-54C3E44583B8}"/>
                </a:ext>
              </a:extLst>
            </p:cNvPr>
            <p:cNvSpPr/>
            <p:nvPr/>
          </p:nvSpPr>
          <p:spPr>
            <a:xfrm>
              <a:off x="1932954" y="3153678"/>
              <a:ext cx="1795890" cy="89274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171450" indent="-171450">
                <a:lnSpc>
                  <a:spcPct val="80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ES" sz="1100" kern="0">
                  <a:solidFill>
                    <a:srgbClr val="002060"/>
                  </a:solidFill>
                  <a:latin typeface="+mn-lt"/>
                </a:rPr>
                <a:t>Asesores Pedagógicos </a:t>
              </a:r>
            </a:p>
            <a:p>
              <a:pPr marL="171450" indent="-171450">
                <a:lnSpc>
                  <a:spcPct val="80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ES" sz="1100" kern="0">
                  <a:solidFill>
                    <a:srgbClr val="002060"/>
                  </a:solidFill>
                  <a:latin typeface="+mn-lt"/>
                </a:rPr>
                <a:t>Diseñadores instruccionales</a:t>
              </a:r>
            </a:p>
            <a:p>
              <a:pPr marL="171450" indent="-171450">
                <a:lnSpc>
                  <a:spcPct val="80000"/>
                </a:lnSpc>
                <a:buFont typeface="Arial" panose="020B0604020202020204" pitchFamily="34" charset="0"/>
                <a:buChar char="•"/>
                <a:defRPr/>
              </a:pPr>
              <a:r>
                <a:rPr lang="es-ES" sz="1100" kern="0">
                  <a:solidFill>
                    <a:srgbClr val="002060"/>
                  </a:solidFill>
                  <a:latin typeface="+mn-lt"/>
                </a:rPr>
                <a:t>Corrector de estilo</a:t>
              </a:r>
            </a:p>
          </p:txBody>
        </p:sp>
        <p:sp>
          <p:nvSpPr>
            <p:cNvPr id="16" name="Rectángulo 26">
              <a:extLst>
                <a:ext uri="{FF2B5EF4-FFF2-40B4-BE49-F238E27FC236}">
                  <a16:creationId xmlns:a16="http://schemas.microsoft.com/office/drawing/2014/main" id="{5006C171-45E1-4A26-0BAD-10DF77748AEA}"/>
                </a:ext>
              </a:extLst>
            </p:cNvPr>
            <p:cNvSpPr/>
            <p:nvPr/>
          </p:nvSpPr>
          <p:spPr>
            <a:xfrm>
              <a:off x="8771614" y="3363631"/>
              <a:ext cx="1654930" cy="70225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rtlCol="0" anchor="ctr"/>
            <a:lstStyle/>
            <a:p>
              <a:pPr marL="171450" marR="0" lvl="0" indent="-171450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ES" sz="110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Coordinador del programa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1100" kern="0">
                  <a:solidFill>
                    <a:srgbClr val="002060"/>
                  </a:solidFill>
                  <a:latin typeface="+mn-lt"/>
                </a:rPr>
                <a:t>Profesional de </a:t>
              </a:r>
              <a:r>
                <a:rPr lang="es-CO" sz="1100" kern="0">
                  <a:solidFill>
                    <a:srgbClr val="002060"/>
                  </a:solidFill>
                  <a:latin typeface="+mn-lt"/>
                </a:rPr>
                <a:t>Procesos </a:t>
              </a:r>
              <a:r>
                <a:rPr kumimoji="0" lang="es-ES" sz="110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y Logística Virtual.</a:t>
              </a:r>
            </a:p>
          </p:txBody>
        </p:sp>
        <p:sp>
          <p:nvSpPr>
            <p:cNvPr id="17" name="Rectángulo 32">
              <a:extLst>
                <a:ext uri="{FF2B5EF4-FFF2-40B4-BE49-F238E27FC236}">
                  <a16:creationId xmlns:a16="http://schemas.microsoft.com/office/drawing/2014/main" id="{36EB90F2-FB63-7979-0742-07D5D741A810}"/>
                </a:ext>
              </a:extLst>
            </p:cNvPr>
            <p:cNvSpPr/>
            <p:nvPr/>
          </p:nvSpPr>
          <p:spPr>
            <a:xfrm>
              <a:off x="4130359" y="3086380"/>
              <a:ext cx="1820398" cy="97951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ES" sz="110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Diseñador Gráfico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s-ES" sz="110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</a:rPr>
                <a:t>Productor Audiovisual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1100" kern="0">
                  <a:solidFill>
                    <a:srgbClr val="002060"/>
                  </a:solidFill>
                  <a:latin typeface="+mn-lt"/>
                </a:rPr>
                <a:t>Productor Multimedia</a:t>
              </a:r>
              <a:endParaRPr kumimoji="0" lang="es-ES" sz="110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0D7B735-3BFE-70ED-F0FA-F0D9F1F8278E}"/>
                </a:ext>
              </a:extLst>
            </p:cNvPr>
            <p:cNvSpPr/>
            <p:nvPr/>
          </p:nvSpPr>
          <p:spPr>
            <a:xfrm>
              <a:off x="1911235" y="2695302"/>
              <a:ext cx="1599664" cy="48958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0"/>
            </a:sp3d>
          </p:spPr>
          <p:txBody>
            <a:bodyPr rtlCol="0" anchor="ctr"/>
            <a:lstStyle/>
            <a:p>
              <a:pPr algn="ctr">
                <a:defRPr/>
              </a:pPr>
              <a:r>
                <a:rPr lang="es-ES" sz="1200" b="1" kern="0">
                  <a:solidFill>
                    <a:srgbClr val="72207E"/>
                  </a:solidFill>
                  <a:latin typeface="+mn-lt"/>
                  <a:cs typeface="Poppins" panose="00000500000000000000" pitchFamily="2" charset="0"/>
                </a:rPr>
                <a:t>Académica Virtual</a:t>
              </a:r>
            </a:p>
          </p:txBody>
        </p:sp>
        <p:sp>
          <p:nvSpPr>
            <p:cNvPr id="19" name="Rectángulo 40">
              <a:extLst>
                <a:ext uri="{FF2B5EF4-FFF2-40B4-BE49-F238E27FC236}">
                  <a16:creationId xmlns:a16="http://schemas.microsoft.com/office/drawing/2014/main" id="{A21BD075-2CC4-F879-EDCE-F244F84814DB}"/>
                </a:ext>
              </a:extLst>
            </p:cNvPr>
            <p:cNvSpPr/>
            <p:nvPr/>
          </p:nvSpPr>
          <p:spPr>
            <a:xfrm>
              <a:off x="4329847" y="2755216"/>
              <a:ext cx="1283799" cy="3697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0"/>
            </a:sp3d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0" normalizeH="0" baseline="0" noProof="0">
                  <a:ln>
                    <a:noFill/>
                  </a:ln>
                  <a:solidFill>
                    <a:srgbClr val="7C6EAF"/>
                  </a:solidFill>
                  <a:effectLst/>
                  <a:uLnTx/>
                  <a:uFillTx/>
                  <a:latin typeface="+mn-lt"/>
                  <a:cs typeface="Poppins" panose="00000500000000000000" pitchFamily="2" charset="0"/>
                </a:rPr>
                <a:t>Contenidos</a:t>
              </a:r>
            </a:p>
          </p:txBody>
        </p:sp>
        <p:sp>
          <p:nvSpPr>
            <p:cNvPr id="20" name="Rectángulo 41">
              <a:extLst>
                <a:ext uri="{FF2B5EF4-FFF2-40B4-BE49-F238E27FC236}">
                  <a16:creationId xmlns:a16="http://schemas.microsoft.com/office/drawing/2014/main" id="{D2E49F01-4489-5EBA-D445-A2F9A4127438}"/>
                </a:ext>
              </a:extLst>
            </p:cNvPr>
            <p:cNvSpPr/>
            <p:nvPr/>
          </p:nvSpPr>
          <p:spPr>
            <a:xfrm>
              <a:off x="6372762" y="2755216"/>
              <a:ext cx="1708856" cy="3697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0"/>
            </a:sp3d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0" normalizeH="0" baseline="0" noProof="0">
                  <a:ln>
                    <a:noFill/>
                  </a:ln>
                  <a:solidFill>
                    <a:srgbClr val="00ADBA"/>
                  </a:solidFill>
                  <a:effectLst/>
                  <a:uLnTx/>
                  <a:uFillTx/>
                  <a:latin typeface="+mn-lt"/>
                  <a:cs typeface="Poppins" panose="00000500000000000000" pitchFamily="2" charset="0"/>
                </a:rPr>
                <a:t>Tecnológica Virtual</a:t>
              </a:r>
            </a:p>
          </p:txBody>
        </p:sp>
        <p:sp>
          <p:nvSpPr>
            <p:cNvPr id="21" name="Rectángulo 42">
              <a:extLst>
                <a:ext uri="{FF2B5EF4-FFF2-40B4-BE49-F238E27FC236}">
                  <a16:creationId xmlns:a16="http://schemas.microsoft.com/office/drawing/2014/main" id="{1BA2C612-548A-6885-DE17-1E16FF27C512}"/>
                </a:ext>
              </a:extLst>
            </p:cNvPr>
            <p:cNvSpPr/>
            <p:nvPr/>
          </p:nvSpPr>
          <p:spPr>
            <a:xfrm>
              <a:off x="8756857" y="2755216"/>
              <a:ext cx="1472491" cy="36976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0"/>
            </a:sp3d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+mn-lt"/>
                  <a:cs typeface="Poppins" panose="00000500000000000000" pitchFamily="2" charset="0"/>
                </a:rPr>
                <a:t>Operativa Virtual</a:t>
              </a:r>
            </a:p>
          </p:txBody>
        </p:sp>
        <p:sp>
          <p:nvSpPr>
            <p:cNvPr id="22" name="Rectangle: Rounded Corners 8">
              <a:extLst>
                <a:ext uri="{FF2B5EF4-FFF2-40B4-BE49-F238E27FC236}">
                  <a16:creationId xmlns:a16="http://schemas.microsoft.com/office/drawing/2014/main" id="{3F667056-DBCB-A776-2824-FA107A980F24}"/>
                </a:ext>
              </a:extLst>
            </p:cNvPr>
            <p:cNvSpPr/>
            <p:nvPr/>
          </p:nvSpPr>
          <p:spPr>
            <a:xfrm>
              <a:off x="4003374" y="5481545"/>
              <a:ext cx="4198164" cy="411443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8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PLANESTIC UD Educación Virtual</a:t>
              </a:r>
            </a:p>
          </p:txBody>
        </p:sp>
        <p:pic>
          <p:nvPicPr>
            <p:cNvPr id="24" name="Gráfico 23">
              <a:extLst>
                <a:ext uri="{FF2B5EF4-FFF2-40B4-BE49-F238E27FC236}">
                  <a16:creationId xmlns:a16="http://schemas.microsoft.com/office/drawing/2014/main" id="{A69C39AB-D599-8A46-45ED-937BF57617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85334" y="4962984"/>
              <a:ext cx="6895136" cy="478040"/>
            </a:xfrm>
            <a:prstGeom prst="rect">
              <a:avLst/>
            </a:prstGeom>
          </p:spPr>
        </p:pic>
        <p:sp>
          <p:nvSpPr>
            <p:cNvPr id="26" name="3 Rectángulo">
              <a:extLst>
                <a:ext uri="{FF2B5EF4-FFF2-40B4-BE49-F238E27FC236}">
                  <a16:creationId xmlns:a16="http://schemas.microsoft.com/office/drawing/2014/main" id="{5E1C42E7-20BE-9728-06CD-FEEB784473B7}"/>
                </a:ext>
              </a:extLst>
            </p:cNvPr>
            <p:cNvSpPr/>
            <p:nvPr/>
          </p:nvSpPr>
          <p:spPr>
            <a:xfrm>
              <a:off x="415108" y="3098814"/>
              <a:ext cx="907129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1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Ejes de Gestión</a:t>
              </a:r>
            </a:p>
          </p:txBody>
        </p:sp>
        <p:sp>
          <p:nvSpPr>
            <p:cNvPr id="28" name="3 Rectángulo">
              <a:extLst>
                <a:ext uri="{FF2B5EF4-FFF2-40B4-BE49-F238E27FC236}">
                  <a16:creationId xmlns:a16="http://schemas.microsoft.com/office/drawing/2014/main" id="{5C4816F0-E0EA-81B4-8944-C9B13CAB5D15}"/>
                </a:ext>
              </a:extLst>
            </p:cNvPr>
            <p:cNvSpPr/>
            <p:nvPr/>
          </p:nvSpPr>
          <p:spPr>
            <a:xfrm>
              <a:off x="10873010" y="2640014"/>
              <a:ext cx="1082283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</a:t>
              </a:r>
              <a:r>
                <a:rPr lang="es-ES" sz="1000" err="1">
                  <a:solidFill>
                    <a:srgbClr val="002060"/>
                  </a:solidFill>
                  <a:latin typeface="+mn-lt"/>
                </a:rPr>
                <a:t>omponente</a:t>
              </a:r>
              <a:endParaRPr kumimoji="0" lang="es-ES" sz="10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0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Táctica-Operativa</a:t>
              </a:r>
            </a:p>
          </p:txBody>
        </p:sp>
        <p:sp>
          <p:nvSpPr>
            <p:cNvPr id="29" name="3 Rectángulo">
              <a:extLst>
                <a:ext uri="{FF2B5EF4-FFF2-40B4-BE49-F238E27FC236}">
                  <a16:creationId xmlns:a16="http://schemas.microsoft.com/office/drawing/2014/main" id="{0C28D001-F5CD-FDEF-D3D7-E6C37BFE7885}"/>
                </a:ext>
              </a:extLst>
            </p:cNvPr>
            <p:cNvSpPr/>
            <p:nvPr/>
          </p:nvSpPr>
          <p:spPr>
            <a:xfrm>
              <a:off x="10873011" y="3469246"/>
              <a:ext cx="87626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10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Operativo</a:t>
              </a:r>
            </a:p>
          </p:txBody>
        </p:sp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BEE401C4-CF2B-1EB1-DDE6-37F1168AAA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23608" y="4457755"/>
              <a:ext cx="436880" cy="521071"/>
            </a:xfrm>
            <a:prstGeom prst="rect">
              <a:avLst/>
            </a:prstGeom>
          </p:spPr>
        </p:pic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F9F09068-5C72-B7E9-FEE4-3CB6B58F2629}"/>
                </a:ext>
              </a:extLst>
            </p:cNvPr>
            <p:cNvSpPr/>
            <p:nvPr/>
          </p:nvSpPr>
          <p:spPr>
            <a:xfrm>
              <a:off x="7907610" y="4953578"/>
              <a:ext cx="86887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MX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Tecnología</a:t>
              </a:r>
            </a:p>
          </p:txBody>
        </p:sp>
        <p:pic>
          <p:nvPicPr>
            <p:cNvPr id="32" name="Gráfico 31">
              <a:extLst>
                <a:ext uri="{FF2B5EF4-FFF2-40B4-BE49-F238E27FC236}">
                  <a16:creationId xmlns:a16="http://schemas.microsoft.com/office/drawing/2014/main" id="{03804D28-843D-14EB-AD0E-FD5CE6F279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61427" y="4457755"/>
              <a:ext cx="436880" cy="521071"/>
            </a:xfrm>
            <a:prstGeom prst="rect">
              <a:avLst/>
            </a:prstGeom>
          </p:spPr>
        </p:pic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7E688689-46A3-0A4E-AFC6-05216EA079DE}"/>
                </a:ext>
              </a:extLst>
            </p:cNvPr>
            <p:cNvSpPr/>
            <p:nvPr/>
          </p:nvSpPr>
          <p:spPr>
            <a:xfrm>
              <a:off x="5645429" y="4953578"/>
              <a:ext cx="86887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MX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Procesos</a:t>
              </a:r>
            </a:p>
          </p:txBody>
        </p:sp>
        <p:pic>
          <p:nvPicPr>
            <p:cNvPr id="34" name="Gráfico 33">
              <a:extLst>
                <a:ext uri="{FF2B5EF4-FFF2-40B4-BE49-F238E27FC236}">
                  <a16:creationId xmlns:a16="http://schemas.microsoft.com/office/drawing/2014/main" id="{AE2EC2C6-47B5-6C15-976D-A0DBC095B1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49187" y="4457755"/>
              <a:ext cx="436880" cy="521071"/>
            </a:xfrm>
            <a:prstGeom prst="rect">
              <a:avLst/>
            </a:prstGeom>
          </p:spPr>
        </p:pic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721739B1-6786-BDAD-5976-89C244CD0A97}"/>
                </a:ext>
              </a:extLst>
            </p:cNvPr>
            <p:cNvSpPr/>
            <p:nvPr/>
          </p:nvSpPr>
          <p:spPr>
            <a:xfrm>
              <a:off x="3140460" y="4953578"/>
              <a:ext cx="1254335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MX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Talento humano</a:t>
              </a:r>
            </a:p>
          </p:txBody>
        </p:sp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518869E9-1CA2-3B6D-8C1B-6FCB320185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75366" y="3196479"/>
              <a:ext cx="312956" cy="976422"/>
            </a:xfrm>
            <a:prstGeom prst="rect">
              <a:avLst/>
            </a:prstGeom>
          </p:spPr>
        </p:pic>
        <p:pic>
          <p:nvPicPr>
            <p:cNvPr id="37" name="Gráfico 36">
              <a:extLst>
                <a:ext uri="{FF2B5EF4-FFF2-40B4-BE49-F238E27FC236}">
                  <a16:creationId xmlns:a16="http://schemas.microsoft.com/office/drawing/2014/main" id="{781BF0AB-4808-DE20-01C7-1CC171B480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575366" y="2763300"/>
              <a:ext cx="312957" cy="392239"/>
            </a:xfrm>
            <a:prstGeom prst="rect">
              <a:avLst/>
            </a:prstGeom>
          </p:spPr>
        </p:pic>
        <p:pic>
          <p:nvPicPr>
            <p:cNvPr id="39" name="Gráfico 38">
              <a:extLst>
                <a:ext uri="{FF2B5EF4-FFF2-40B4-BE49-F238E27FC236}">
                  <a16:creationId xmlns:a16="http://schemas.microsoft.com/office/drawing/2014/main" id="{BBC0A935-40E8-1CD3-D4C3-BAD5D0A5E6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59479" y="2643630"/>
              <a:ext cx="307105" cy="14085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6826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68C45B8-6DD7-B81C-E63C-52A62E1F5B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 kern="1200">
                <a:solidFill>
                  <a:srgbClr val="002060"/>
                </a:solidFill>
                <a:latin typeface="Montserrat Black"/>
                <a:ea typeface="+mn-ea"/>
                <a:cs typeface="+mn-cs"/>
              </a:rPr>
              <a:t>GESTIÓN PARA EL DISEÑO PEDAGÓGICO DE CURSOS</a:t>
            </a:r>
            <a:endParaRPr lang="es-CO" sz="4800">
              <a:solidFill>
                <a:srgbClr val="002060"/>
              </a:solidFill>
              <a:latin typeface="Montserrat Black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326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FD46031-0C02-DACC-F6D0-8A8D15CDF20F}"/>
              </a:ext>
            </a:extLst>
          </p:cNvPr>
          <p:cNvSpPr txBox="1"/>
          <p:nvPr/>
        </p:nvSpPr>
        <p:spPr>
          <a:xfrm>
            <a:off x="890842" y="6265599"/>
            <a:ext cx="364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/>
              <a:t>Fundamentación de los cursos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8F4A6B-7C96-871F-EADB-DE0E7D225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49" y="1676032"/>
            <a:ext cx="9065190" cy="5100161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1BEAE214-4416-D920-81B3-57B5692019DC}"/>
              </a:ext>
            </a:extLst>
          </p:cNvPr>
          <p:cNvSpPr txBox="1"/>
          <p:nvPr/>
        </p:nvSpPr>
        <p:spPr>
          <a:xfrm>
            <a:off x="3880878" y="365530"/>
            <a:ext cx="443024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3200" b="1">
                <a:latin typeface="Poppins"/>
                <a:cs typeface="Poppins"/>
              </a:rPr>
              <a:t>MODELO ADDIE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F4FB76-6602-2DF3-6A9D-2B86D7C00647}"/>
              </a:ext>
            </a:extLst>
          </p:cNvPr>
          <p:cNvSpPr/>
          <p:nvPr/>
        </p:nvSpPr>
        <p:spPr>
          <a:xfrm>
            <a:off x="1964267" y="1091567"/>
            <a:ext cx="9382541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 el fin de garantizar que el modelo de diseño instruccional implementado para la modalidad virtual cumpla calidad de los recursos y la mejora continua, se toma el modelo ADDIE para la realización de los recursos educativos digitales, distribuidos por fases del proceso de producción.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771;p81">
            <a:extLst>
              <a:ext uri="{FF2B5EF4-FFF2-40B4-BE49-F238E27FC236}">
                <a16:creationId xmlns:a16="http://schemas.microsoft.com/office/drawing/2014/main" id="{13A220DF-366C-F939-24F5-9E735F02DF4F}"/>
              </a:ext>
            </a:extLst>
          </p:cNvPr>
          <p:cNvGrpSpPr/>
          <p:nvPr/>
        </p:nvGrpSpPr>
        <p:grpSpPr>
          <a:xfrm>
            <a:off x="5024546" y="2224622"/>
            <a:ext cx="3654391" cy="3689167"/>
            <a:chOff x="5985650" y="2860025"/>
            <a:chExt cx="1396075" cy="1539775"/>
          </a:xfrm>
        </p:grpSpPr>
        <p:sp>
          <p:nvSpPr>
            <p:cNvPr id="4" name="Google Shape;6772;p81">
              <a:extLst>
                <a:ext uri="{FF2B5EF4-FFF2-40B4-BE49-F238E27FC236}">
                  <a16:creationId xmlns:a16="http://schemas.microsoft.com/office/drawing/2014/main" id="{4E6C93CF-C67F-0160-AB8F-E0FAEE524CAB}"/>
                </a:ext>
              </a:extLst>
            </p:cNvPr>
            <p:cNvSpPr/>
            <p:nvPr/>
          </p:nvSpPr>
          <p:spPr>
            <a:xfrm>
              <a:off x="6655300" y="3128850"/>
              <a:ext cx="637150" cy="631950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" name="Google Shape;6773;p81">
              <a:extLst>
                <a:ext uri="{FF2B5EF4-FFF2-40B4-BE49-F238E27FC236}">
                  <a16:creationId xmlns:a16="http://schemas.microsoft.com/office/drawing/2014/main" id="{271ED53A-3565-675A-FF87-C54D3560ECF5}"/>
                </a:ext>
              </a:extLst>
            </p:cNvPr>
            <p:cNvSpPr/>
            <p:nvPr/>
          </p:nvSpPr>
          <p:spPr>
            <a:xfrm>
              <a:off x="6673425" y="3771400"/>
              <a:ext cx="600850" cy="600800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solidFill>
              <a:srgbClr val="C8041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" name="Google Shape;6774;p81">
              <a:extLst>
                <a:ext uri="{FF2B5EF4-FFF2-40B4-BE49-F238E27FC236}">
                  <a16:creationId xmlns:a16="http://schemas.microsoft.com/office/drawing/2014/main" id="{AFCEFD51-BF90-667A-6F0D-71D4C9EB2250}"/>
                </a:ext>
              </a:extLst>
            </p:cNvPr>
            <p:cNvSpPr/>
            <p:nvPr/>
          </p:nvSpPr>
          <p:spPr>
            <a:xfrm>
              <a:off x="6073050" y="3509700"/>
              <a:ext cx="641725" cy="636800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" name="Google Shape;6775;p81">
              <a:extLst>
                <a:ext uri="{FF2B5EF4-FFF2-40B4-BE49-F238E27FC236}">
                  <a16:creationId xmlns:a16="http://schemas.microsoft.com/office/drawing/2014/main" id="{6D95D0CD-FD43-9F46-E6A6-BF5B830973D8}"/>
                </a:ext>
              </a:extLst>
            </p:cNvPr>
            <p:cNvSpPr/>
            <p:nvPr/>
          </p:nvSpPr>
          <p:spPr>
            <a:xfrm>
              <a:off x="6124575" y="2917775"/>
              <a:ext cx="572575" cy="572525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solidFill>
              <a:srgbClr val="E6AF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" name="Google Shape;6776;p81">
              <a:extLst>
                <a:ext uri="{FF2B5EF4-FFF2-40B4-BE49-F238E27FC236}">
                  <a16:creationId xmlns:a16="http://schemas.microsoft.com/office/drawing/2014/main" id="{A99DA5A3-C000-A1EB-0E66-D2CE6E9AABF1}"/>
                </a:ext>
              </a:extLst>
            </p:cNvPr>
            <p:cNvSpPr/>
            <p:nvPr/>
          </p:nvSpPr>
          <p:spPr>
            <a:xfrm>
              <a:off x="6459975" y="2867300"/>
              <a:ext cx="101300" cy="50500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" name="Google Shape;6777;p81">
              <a:extLst>
                <a:ext uri="{FF2B5EF4-FFF2-40B4-BE49-F238E27FC236}">
                  <a16:creationId xmlns:a16="http://schemas.microsoft.com/office/drawing/2014/main" id="{C65F37D3-0146-924F-095F-A9F5A3E15991}"/>
                </a:ext>
              </a:extLst>
            </p:cNvPr>
            <p:cNvSpPr/>
            <p:nvPr/>
          </p:nvSpPr>
          <p:spPr>
            <a:xfrm>
              <a:off x="6389025" y="2860025"/>
              <a:ext cx="63100" cy="15700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" name="Google Shape;6778;p81">
              <a:extLst>
                <a:ext uri="{FF2B5EF4-FFF2-40B4-BE49-F238E27FC236}">
                  <a16:creationId xmlns:a16="http://schemas.microsoft.com/office/drawing/2014/main" id="{3BF2A1F1-E480-B889-F604-F91533F72E63}"/>
                </a:ext>
              </a:extLst>
            </p:cNvPr>
            <p:cNvSpPr/>
            <p:nvPr/>
          </p:nvSpPr>
          <p:spPr>
            <a:xfrm>
              <a:off x="6279750" y="2879875"/>
              <a:ext cx="39600" cy="2600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" name="Google Shape;6779;p81">
              <a:extLst>
                <a:ext uri="{FF2B5EF4-FFF2-40B4-BE49-F238E27FC236}">
                  <a16:creationId xmlns:a16="http://schemas.microsoft.com/office/drawing/2014/main" id="{E2ED5A7F-F16C-4F03-C7E6-BA8413A119DB}"/>
                </a:ext>
              </a:extLst>
            </p:cNvPr>
            <p:cNvSpPr/>
            <p:nvPr/>
          </p:nvSpPr>
          <p:spPr>
            <a:xfrm>
              <a:off x="6325825" y="2862750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" name="Google Shape;6780;p81">
              <a:extLst>
                <a:ext uri="{FF2B5EF4-FFF2-40B4-BE49-F238E27FC236}">
                  <a16:creationId xmlns:a16="http://schemas.microsoft.com/office/drawing/2014/main" id="{7F09EDC4-4420-903B-D72A-1DB0126CE592}"/>
                </a:ext>
              </a:extLst>
            </p:cNvPr>
            <p:cNvSpPr/>
            <p:nvPr/>
          </p:nvSpPr>
          <p:spPr>
            <a:xfrm>
              <a:off x="7023725" y="3061400"/>
              <a:ext cx="101300" cy="50475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" name="Google Shape;6781;p81">
              <a:extLst>
                <a:ext uri="{FF2B5EF4-FFF2-40B4-BE49-F238E27FC236}">
                  <a16:creationId xmlns:a16="http://schemas.microsoft.com/office/drawing/2014/main" id="{33060A7F-4A25-3C2E-D354-39CD1C9CA5F1}"/>
                </a:ext>
              </a:extLst>
            </p:cNvPr>
            <p:cNvSpPr/>
            <p:nvPr/>
          </p:nvSpPr>
          <p:spPr>
            <a:xfrm>
              <a:off x="6952750" y="3054150"/>
              <a:ext cx="63100" cy="15650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" name="Google Shape;6782;p81">
              <a:extLst>
                <a:ext uri="{FF2B5EF4-FFF2-40B4-BE49-F238E27FC236}">
                  <a16:creationId xmlns:a16="http://schemas.microsoft.com/office/drawing/2014/main" id="{59DABFF0-080F-A754-DE1F-DB6556CD2EB5}"/>
                </a:ext>
              </a:extLst>
            </p:cNvPr>
            <p:cNvSpPr/>
            <p:nvPr/>
          </p:nvSpPr>
          <p:spPr>
            <a:xfrm>
              <a:off x="6843450" y="3073975"/>
              <a:ext cx="39625" cy="26025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" name="Google Shape;6783;p81">
              <a:extLst>
                <a:ext uri="{FF2B5EF4-FFF2-40B4-BE49-F238E27FC236}">
                  <a16:creationId xmlns:a16="http://schemas.microsoft.com/office/drawing/2014/main" id="{F754E43E-2F92-20BC-894C-D828A547C476}"/>
                </a:ext>
              </a:extLst>
            </p:cNvPr>
            <p:cNvSpPr/>
            <p:nvPr/>
          </p:nvSpPr>
          <p:spPr>
            <a:xfrm>
              <a:off x="6889575" y="3056825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6784;p81">
              <a:extLst>
                <a:ext uri="{FF2B5EF4-FFF2-40B4-BE49-F238E27FC236}">
                  <a16:creationId xmlns:a16="http://schemas.microsoft.com/office/drawing/2014/main" id="{964AF556-A688-ED57-B512-1F3D295E006F}"/>
                </a:ext>
              </a:extLst>
            </p:cNvPr>
            <p:cNvSpPr/>
            <p:nvPr/>
          </p:nvSpPr>
          <p:spPr>
            <a:xfrm>
              <a:off x="6245350" y="4177200"/>
              <a:ext cx="101275" cy="50475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6785;p81">
              <a:extLst>
                <a:ext uri="{FF2B5EF4-FFF2-40B4-BE49-F238E27FC236}">
                  <a16:creationId xmlns:a16="http://schemas.microsoft.com/office/drawing/2014/main" id="{626B3376-E9B2-6D35-E803-1D0102908028}"/>
                </a:ext>
              </a:extLst>
            </p:cNvPr>
            <p:cNvSpPr/>
            <p:nvPr/>
          </p:nvSpPr>
          <p:spPr>
            <a:xfrm>
              <a:off x="6354525" y="4219275"/>
              <a:ext cx="63075" cy="15675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786;p81">
              <a:extLst>
                <a:ext uri="{FF2B5EF4-FFF2-40B4-BE49-F238E27FC236}">
                  <a16:creationId xmlns:a16="http://schemas.microsoft.com/office/drawing/2014/main" id="{5DD7EFE8-A6DD-1CAA-FCB7-010E47303E3C}"/>
                </a:ext>
              </a:extLst>
            </p:cNvPr>
            <p:cNvSpPr/>
            <p:nvPr/>
          </p:nvSpPr>
          <p:spPr>
            <a:xfrm>
              <a:off x="6487275" y="4189125"/>
              <a:ext cx="39625" cy="25975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787;p81">
              <a:extLst>
                <a:ext uri="{FF2B5EF4-FFF2-40B4-BE49-F238E27FC236}">
                  <a16:creationId xmlns:a16="http://schemas.microsoft.com/office/drawing/2014/main" id="{AE42309E-A1D4-ECD1-FDCF-CEC3A3C66062}"/>
                </a:ext>
              </a:extLst>
            </p:cNvPr>
            <p:cNvSpPr/>
            <p:nvPr/>
          </p:nvSpPr>
          <p:spPr>
            <a:xfrm>
              <a:off x="6426350" y="4209850"/>
              <a:ext cx="54475" cy="22400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6788;p81">
              <a:extLst>
                <a:ext uri="{FF2B5EF4-FFF2-40B4-BE49-F238E27FC236}">
                  <a16:creationId xmlns:a16="http://schemas.microsoft.com/office/drawing/2014/main" id="{2D59CF77-F4D5-2238-612D-B231497BBFDF}"/>
                </a:ext>
              </a:extLst>
            </p:cNvPr>
            <p:cNvSpPr/>
            <p:nvPr/>
          </p:nvSpPr>
          <p:spPr>
            <a:xfrm>
              <a:off x="5992275" y="36748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6789;p81">
              <a:extLst>
                <a:ext uri="{FF2B5EF4-FFF2-40B4-BE49-F238E27FC236}">
                  <a16:creationId xmlns:a16="http://schemas.microsoft.com/office/drawing/2014/main" id="{2855540C-8BFC-C1D2-74EE-5C717C880ADD}"/>
                </a:ext>
              </a:extLst>
            </p:cNvPr>
            <p:cNvSpPr/>
            <p:nvPr/>
          </p:nvSpPr>
          <p:spPr>
            <a:xfrm>
              <a:off x="5985650" y="3783750"/>
              <a:ext cx="16125" cy="6227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6790;p81">
              <a:extLst>
                <a:ext uri="{FF2B5EF4-FFF2-40B4-BE49-F238E27FC236}">
                  <a16:creationId xmlns:a16="http://schemas.microsoft.com/office/drawing/2014/main" id="{1D86F621-9512-3EEB-FF68-783F6D2701E4}"/>
                </a:ext>
              </a:extLst>
            </p:cNvPr>
            <p:cNvSpPr/>
            <p:nvPr/>
          </p:nvSpPr>
          <p:spPr>
            <a:xfrm>
              <a:off x="6004725" y="3916700"/>
              <a:ext cx="27875" cy="38100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6791;p81">
              <a:extLst>
                <a:ext uri="{FF2B5EF4-FFF2-40B4-BE49-F238E27FC236}">
                  <a16:creationId xmlns:a16="http://schemas.microsoft.com/office/drawing/2014/main" id="{BE06E6E1-0739-6CF8-200E-F27EB7514F1B}"/>
                </a:ext>
              </a:extLst>
            </p:cNvPr>
            <p:cNvSpPr/>
            <p:nvPr/>
          </p:nvSpPr>
          <p:spPr>
            <a:xfrm>
              <a:off x="5987900" y="3855450"/>
              <a:ext cx="23600" cy="53200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6792;p81">
              <a:extLst>
                <a:ext uri="{FF2B5EF4-FFF2-40B4-BE49-F238E27FC236}">
                  <a16:creationId xmlns:a16="http://schemas.microsoft.com/office/drawing/2014/main" id="{63FBF097-E934-3CF9-70FB-819AFD871A6D}"/>
                </a:ext>
              </a:extLst>
            </p:cNvPr>
            <p:cNvSpPr/>
            <p:nvPr/>
          </p:nvSpPr>
          <p:spPr>
            <a:xfrm>
              <a:off x="6071975" y="3300325"/>
              <a:ext cx="52475" cy="102475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6793;p81">
              <a:extLst>
                <a:ext uri="{FF2B5EF4-FFF2-40B4-BE49-F238E27FC236}">
                  <a16:creationId xmlns:a16="http://schemas.microsoft.com/office/drawing/2014/main" id="{70706B40-192C-46DA-A7E8-B314E1823E18}"/>
                </a:ext>
              </a:extLst>
            </p:cNvPr>
            <p:cNvSpPr/>
            <p:nvPr/>
          </p:nvSpPr>
          <p:spPr>
            <a:xfrm>
              <a:off x="6122225" y="3408475"/>
              <a:ext cx="47725" cy="4955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6794;p81">
              <a:extLst>
                <a:ext uri="{FF2B5EF4-FFF2-40B4-BE49-F238E27FC236}">
                  <a16:creationId xmlns:a16="http://schemas.microsoft.com/office/drawing/2014/main" id="{CB428C7C-3D5F-40CA-7AD5-33F0F25F310D}"/>
                </a:ext>
              </a:extLst>
            </p:cNvPr>
            <p:cNvSpPr/>
            <p:nvPr/>
          </p:nvSpPr>
          <p:spPr>
            <a:xfrm>
              <a:off x="6228150" y="3490275"/>
              <a:ext cx="42050" cy="21525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6795;p81">
              <a:extLst>
                <a:ext uri="{FF2B5EF4-FFF2-40B4-BE49-F238E27FC236}">
                  <a16:creationId xmlns:a16="http://schemas.microsoft.com/office/drawing/2014/main" id="{84DAF883-7B9B-EDE4-ED8B-45DE870496F6}"/>
                </a:ext>
              </a:extLst>
            </p:cNvPr>
            <p:cNvSpPr/>
            <p:nvPr/>
          </p:nvSpPr>
          <p:spPr>
            <a:xfrm>
              <a:off x="6172850" y="3459275"/>
              <a:ext cx="49900" cy="34575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6796;p81">
              <a:extLst>
                <a:ext uri="{FF2B5EF4-FFF2-40B4-BE49-F238E27FC236}">
                  <a16:creationId xmlns:a16="http://schemas.microsoft.com/office/drawing/2014/main" id="{3E49447D-D9B2-B418-156C-A5B1AEC3157C}"/>
                </a:ext>
              </a:extLst>
            </p:cNvPr>
            <p:cNvSpPr/>
            <p:nvPr/>
          </p:nvSpPr>
          <p:spPr>
            <a:xfrm>
              <a:off x="7323825" y="34952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6797;p81">
              <a:extLst>
                <a:ext uri="{FF2B5EF4-FFF2-40B4-BE49-F238E27FC236}">
                  <a16:creationId xmlns:a16="http://schemas.microsoft.com/office/drawing/2014/main" id="{4601BF63-4B8E-1DE3-6020-6628A613AB9C}"/>
                </a:ext>
              </a:extLst>
            </p:cNvPr>
            <p:cNvSpPr/>
            <p:nvPr/>
          </p:nvSpPr>
          <p:spPr>
            <a:xfrm>
              <a:off x="7365575" y="3423925"/>
              <a:ext cx="16150" cy="6227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6798;p81">
              <a:extLst>
                <a:ext uri="{FF2B5EF4-FFF2-40B4-BE49-F238E27FC236}">
                  <a16:creationId xmlns:a16="http://schemas.microsoft.com/office/drawing/2014/main" id="{4B619A81-46D4-CA04-B6DF-192EDB447F45}"/>
                </a:ext>
              </a:extLst>
            </p:cNvPr>
            <p:cNvSpPr/>
            <p:nvPr/>
          </p:nvSpPr>
          <p:spPr>
            <a:xfrm>
              <a:off x="7334775" y="3315150"/>
              <a:ext cx="27850" cy="38100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6799;p81">
              <a:extLst>
                <a:ext uri="{FF2B5EF4-FFF2-40B4-BE49-F238E27FC236}">
                  <a16:creationId xmlns:a16="http://schemas.microsoft.com/office/drawing/2014/main" id="{3378E772-B18F-A541-C003-57BEA5FB3487}"/>
                </a:ext>
              </a:extLst>
            </p:cNvPr>
            <p:cNvSpPr/>
            <p:nvPr/>
          </p:nvSpPr>
          <p:spPr>
            <a:xfrm>
              <a:off x="7355800" y="3361300"/>
              <a:ext cx="23650" cy="53200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6800;p81">
              <a:extLst>
                <a:ext uri="{FF2B5EF4-FFF2-40B4-BE49-F238E27FC236}">
                  <a16:creationId xmlns:a16="http://schemas.microsoft.com/office/drawing/2014/main" id="{9DC4F9D0-ED16-9BE1-DA2E-9BFED18AB45D}"/>
                </a:ext>
              </a:extLst>
            </p:cNvPr>
            <p:cNvSpPr/>
            <p:nvPr/>
          </p:nvSpPr>
          <p:spPr>
            <a:xfrm>
              <a:off x="7093025" y="4348600"/>
              <a:ext cx="104200" cy="51200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" name="Google Shape;6801;p81">
              <a:extLst>
                <a:ext uri="{FF2B5EF4-FFF2-40B4-BE49-F238E27FC236}">
                  <a16:creationId xmlns:a16="http://schemas.microsoft.com/office/drawing/2014/main" id="{8F3C626A-32FF-74B8-9F39-43EE60B66956}"/>
                </a:ext>
              </a:extLst>
            </p:cNvPr>
            <p:cNvSpPr/>
            <p:nvPr/>
          </p:nvSpPr>
          <p:spPr>
            <a:xfrm>
              <a:off x="7201150" y="4302925"/>
              <a:ext cx="51100" cy="46100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" name="Google Shape;6802;p81">
              <a:extLst>
                <a:ext uri="{FF2B5EF4-FFF2-40B4-BE49-F238E27FC236}">
                  <a16:creationId xmlns:a16="http://schemas.microsoft.com/office/drawing/2014/main" id="{65466098-6B13-B03C-CBF5-10B675FE0EE7}"/>
                </a:ext>
              </a:extLst>
            </p:cNvPr>
            <p:cNvSpPr/>
            <p:nvPr/>
          </p:nvSpPr>
          <p:spPr>
            <a:xfrm>
              <a:off x="7282950" y="4203000"/>
              <a:ext cx="22950" cy="40225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6803;p81">
              <a:extLst>
                <a:ext uri="{FF2B5EF4-FFF2-40B4-BE49-F238E27FC236}">
                  <a16:creationId xmlns:a16="http://schemas.microsoft.com/office/drawing/2014/main" id="{37773FB2-148B-8DF6-70BF-66BD58672438}"/>
                </a:ext>
              </a:extLst>
            </p:cNvPr>
            <p:cNvSpPr/>
            <p:nvPr/>
          </p:nvSpPr>
          <p:spPr>
            <a:xfrm>
              <a:off x="7252000" y="4250300"/>
              <a:ext cx="36300" cy="48175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A8FEFCE-4D15-75EF-532C-F3417C5FEE1E}"/>
              </a:ext>
            </a:extLst>
          </p:cNvPr>
          <p:cNvSpPr txBox="1"/>
          <p:nvPr/>
        </p:nvSpPr>
        <p:spPr>
          <a:xfrm>
            <a:off x="6517495" y="1511312"/>
            <a:ext cx="5034328" cy="7363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000" b="1" kern="10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Decano/ Coordinador de programa y Coordinador de </a:t>
            </a:r>
            <a:r>
              <a:rPr lang="es-CO" sz="2000" b="1" kern="100" err="1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PlanEsTIC</a:t>
            </a:r>
            <a:r>
              <a:rPr lang="es-CO" sz="2000" b="1" kern="10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 y educación virtual </a:t>
            </a:r>
            <a:endParaRPr lang="es-CO" sz="1800" kern="100">
              <a:solidFill>
                <a:srgbClr val="002060"/>
              </a:solidFill>
              <a:latin typeface="Calibri"/>
              <a:ea typeface="Calibri"/>
              <a:cs typeface="Times New Roman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ABA6D5A-C7A7-D164-9A09-8FB99321486A}"/>
              </a:ext>
            </a:extLst>
          </p:cNvPr>
          <p:cNvSpPr txBox="1"/>
          <p:nvPr/>
        </p:nvSpPr>
        <p:spPr>
          <a:xfrm>
            <a:off x="8901827" y="4259612"/>
            <a:ext cx="2988675" cy="7363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2000" b="1" kern="10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Autor de contenido / Asesor pedagógico</a:t>
            </a:r>
            <a:endParaRPr lang="es-CO" sz="1800" kern="100">
              <a:solidFill>
                <a:srgbClr val="002060"/>
              </a:solidFill>
              <a:latin typeface="Calibri"/>
              <a:ea typeface="Calibri"/>
              <a:cs typeface="Times New Roman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9D29B8F-DA72-B0F6-3007-504F28D9CACC}"/>
              </a:ext>
            </a:extLst>
          </p:cNvPr>
          <p:cNvSpPr txBox="1"/>
          <p:nvPr/>
        </p:nvSpPr>
        <p:spPr>
          <a:xfrm>
            <a:off x="4022758" y="2427332"/>
            <a:ext cx="1622425" cy="4070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CO" sz="2000" b="1" kern="10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Estudiante</a:t>
            </a:r>
            <a:endParaRPr lang="es-CO" sz="1800" kern="100">
              <a:solidFill>
                <a:srgbClr val="002060"/>
              </a:solidFill>
              <a:latin typeface="Calibri"/>
              <a:ea typeface="Calibri"/>
              <a:cs typeface="Times New Roman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A349005-9060-29E9-91F8-FB15FC9A1118}"/>
              </a:ext>
            </a:extLst>
          </p:cNvPr>
          <p:cNvSpPr txBox="1"/>
          <p:nvPr/>
        </p:nvSpPr>
        <p:spPr>
          <a:xfrm>
            <a:off x="1919088" y="5621138"/>
            <a:ext cx="4207336" cy="7363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2000" b="1" kern="100">
                <a:solidFill>
                  <a:srgbClr val="002060"/>
                </a:solidFill>
                <a:latin typeface="Calibri"/>
                <a:ea typeface="Calibri"/>
                <a:cs typeface="Times New Roman"/>
              </a:rPr>
              <a:t>Profesional de Servicio y Soporte virtual</a:t>
            </a:r>
            <a:endParaRPr lang="es-CO" sz="1800" kern="100">
              <a:solidFill>
                <a:srgbClr val="002060"/>
              </a:solidFill>
              <a:latin typeface="Calibri"/>
              <a:ea typeface="Calibri"/>
              <a:cs typeface="Times New Roman"/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EDE256A7-2A44-4F33-811D-1D7DEA5D01E8}"/>
              </a:ext>
            </a:extLst>
          </p:cNvPr>
          <p:cNvSpPr/>
          <p:nvPr/>
        </p:nvSpPr>
        <p:spPr>
          <a:xfrm>
            <a:off x="-1040445" y="-561024"/>
            <a:ext cx="3598820" cy="3429727"/>
          </a:xfrm>
          <a:prstGeom prst="ellipse">
            <a:avLst/>
          </a:prstGeom>
          <a:noFill/>
          <a:ln w="590550">
            <a:solidFill>
              <a:srgbClr val="8B1918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756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522E5DD-4A9E-466A-65C4-B4F51614F813}"/>
              </a:ext>
            </a:extLst>
          </p:cNvPr>
          <p:cNvSpPr/>
          <p:nvPr/>
        </p:nvSpPr>
        <p:spPr>
          <a:xfrm>
            <a:off x="6933117" y="-49020"/>
            <a:ext cx="5263561" cy="885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99282153-16F0-AE1A-E89A-42773A544969}"/>
              </a:ext>
            </a:extLst>
          </p:cNvPr>
          <p:cNvSpPr txBox="1"/>
          <p:nvPr/>
        </p:nvSpPr>
        <p:spPr>
          <a:xfrm>
            <a:off x="7207702" y="157927"/>
            <a:ext cx="4714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ROLES EN EL PROCESO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DE58C10-461C-A050-E563-FC5B185A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04" y="-1"/>
            <a:ext cx="10846896" cy="67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8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68C45B8-6DD7-B81C-E63C-52A62E1F5B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 kern="1200">
                <a:solidFill>
                  <a:srgbClr val="002060"/>
                </a:solidFill>
                <a:latin typeface="Montserrat Black" panose="00000A00000000000000" pitchFamily="2" charset="0"/>
                <a:ea typeface="+mn-ea"/>
                <a:cs typeface="+mn-cs"/>
              </a:rPr>
              <a:t>GESTIÓN COMUNICATIVA </a:t>
            </a:r>
            <a:endParaRPr lang="es-CO" sz="4800">
              <a:solidFill>
                <a:srgbClr val="00206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C90B6A-8745-D187-0683-741050E53C3E}"/>
              </a:ext>
            </a:extLst>
          </p:cNvPr>
          <p:cNvSpPr txBox="1"/>
          <p:nvPr/>
        </p:nvSpPr>
        <p:spPr>
          <a:xfrm>
            <a:off x="3368202" y="413927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Gestión y ejes operacionales </a:t>
            </a:r>
          </a:p>
        </p:txBody>
      </p:sp>
    </p:spTree>
    <p:extLst>
      <p:ext uri="{BB962C8B-B14F-4D97-AF65-F5344CB8AC3E}">
        <p14:creationId xmlns:p14="http://schemas.microsoft.com/office/powerpoint/2010/main" val="415931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64;p72">
            <a:extLst>
              <a:ext uri="{FF2B5EF4-FFF2-40B4-BE49-F238E27FC236}">
                <a16:creationId xmlns:a16="http://schemas.microsoft.com/office/drawing/2014/main" id="{CEF66DB8-3994-45C9-86A1-9F7984732C22}"/>
              </a:ext>
            </a:extLst>
          </p:cNvPr>
          <p:cNvSpPr txBox="1"/>
          <p:nvPr/>
        </p:nvSpPr>
        <p:spPr>
          <a:xfrm>
            <a:off x="778213" y="3266012"/>
            <a:ext cx="3101935" cy="211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96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None/>
            </a:pP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Gestión académica de los programas.</a:t>
            </a:r>
            <a:endParaRPr lang="es-ES" sz="2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Prevención a la deserción. </a:t>
            </a:r>
            <a:endParaRPr lang="es-ES" sz="2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Atención a docentes y estudiantes.</a:t>
            </a:r>
            <a:endParaRPr lang="es-ES" sz="2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Gestión de la calidad en los cursos ofertados.</a:t>
            </a:r>
            <a:endParaRPr lang="es-ES" sz="2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Seguimiento acción tutorial.</a:t>
            </a:r>
            <a:endParaRPr lang="es-ES" sz="2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167;p72">
            <a:extLst>
              <a:ext uri="{FF2B5EF4-FFF2-40B4-BE49-F238E27FC236}">
                <a16:creationId xmlns:a16="http://schemas.microsoft.com/office/drawing/2014/main" id="{A0B7B27E-DC6C-58EA-7545-19DD9FF1970A}"/>
              </a:ext>
            </a:extLst>
          </p:cNvPr>
          <p:cNvSpPr txBox="1"/>
          <p:nvPr/>
        </p:nvSpPr>
        <p:spPr>
          <a:xfrm>
            <a:off x="8424623" y="3055733"/>
            <a:ext cx="3396891" cy="2779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None/>
            </a:pP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Gestión logística de los programas.</a:t>
            </a: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Plan de actividades de la operación Virtual.</a:t>
            </a: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Garantizar el acompañamiento estudiantes y docentes.</a:t>
            </a: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Reorientar casos académicos y administrativos.</a:t>
            </a: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Noto Sans Symbols"/>
              <a:buChar char="▪"/>
            </a:pPr>
            <a:r>
              <a:rPr lang="es-ES" sz="1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Desarrollar insumos que apoyen el seguimiento de la labor docente.</a:t>
            </a: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928473B-333E-CD86-10E2-66CA651D44E6}"/>
              </a:ext>
            </a:extLst>
          </p:cNvPr>
          <p:cNvSpPr txBox="1"/>
          <p:nvPr/>
        </p:nvSpPr>
        <p:spPr>
          <a:xfrm>
            <a:off x="754344" y="2162635"/>
            <a:ext cx="3467100" cy="762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29700"/>
              </a:buClr>
              <a:buSzPts val="1800"/>
              <a:buFont typeface="Noto Sans Symbols"/>
              <a:buNone/>
            </a:pPr>
            <a:r>
              <a:rPr lang="es-ES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GESTIÓN  ACADÉMICA CON LAS FACULTADES Y COORDINACIONES DE LOS PROGRAMA</a:t>
            </a: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E717CC-AD06-4D99-9924-1D4F3A461E43}"/>
              </a:ext>
            </a:extLst>
          </p:cNvPr>
          <p:cNvSpPr txBox="1"/>
          <p:nvPr/>
        </p:nvSpPr>
        <p:spPr>
          <a:xfrm>
            <a:off x="8733246" y="2345299"/>
            <a:ext cx="2779644" cy="3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66A7F"/>
              </a:buClr>
              <a:buSzPts val="1800"/>
              <a:buFont typeface="Noto Sans Symbols"/>
              <a:buNone/>
            </a:pPr>
            <a:r>
              <a:rPr lang="es-ES" sz="18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EJE OPERACIONAL</a:t>
            </a:r>
            <a:endParaRPr lang="es-ES" sz="180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0D33ABC-E380-C02F-CAA2-CEA20D79C094}"/>
              </a:ext>
            </a:extLst>
          </p:cNvPr>
          <p:cNvSpPr/>
          <p:nvPr/>
        </p:nvSpPr>
        <p:spPr>
          <a:xfrm>
            <a:off x="5359941" y="-32145"/>
            <a:ext cx="6832060" cy="10296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08B7BC1C-8B18-368B-F8C5-0B3CADC3EF4D}"/>
              </a:ext>
            </a:extLst>
          </p:cNvPr>
          <p:cNvSpPr txBox="1"/>
          <p:nvPr/>
        </p:nvSpPr>
        <p:spPr>
          <a:xfrm>
            <a:off x="5359941" y="202891"/>
            <a:ext cx="6567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GESTIÓN y EJES OPERACIONALES </a:t>
            </a:r>
          </a:p>
        </p:txBody>
      </p:sp>
      <p:sp>
        <p:nvSpPr>
          <p:cNvPr id="13" name="Google Shape;1419;p44">
            <a:extLst>
              <a:ext uri="{FF2B5EF4-FFF2-40B4-BE49-F238E27FC236}">
                <a16:creationId xmlns:a16="http://schemas.microsoft.com/office/drawing/2014/main" id="{7319C61E-D4AF-9220-8663-39DF4BEE1121}"/>
              </a:ext>
            </a:extLst>
          </p:cNvPr>
          <p:cNvSpPr/>
          <p:nvPr/>
        </p:nvSpPr>
        <p:spPr>
          <a:xfrm>
            <a:off x="3966057" y="1396812"/>
            <a:ext cx="4116397" cy="4160548"/>
          </a:xfrm>
          <a:custGeom>
            <a:avLst/>
            <a:gdLst/>
            <a:ahLst/>
            <a:cxnLst/>
            <a:rect l="l" t="t" r="r" b="b"/>
            <a:pathLst>
              <a:path w="56425" h="56437" extrusionOk="0">
                <a:moveTo>
                  <a:pt x="28219" y="1"/>
                </a:moveTo>
                <a:cubicBezTo>
                  <a:pt x="12633" y="1"/>
                  <a:pt x="1" y="12633"/>
                  <a:pt x="1" y="28218"/>
                </a:cubicBezTo>
                <a:cubicBezTo>
                  <a:pt x="1" y="43804"/>
                  <a:pt x="12633" y="56436"/>
                  <a:pt x="28219" y="56436"/>
                </a:cubicBezTo>
                <a:cubicBezTo>
                  <a:pt x="43792" y="56436"/>
                  <a:pt x="56425" y="43804"/>
                  <a:pt x="56425" y="28218"/>
                </a:cubicBezTo>
                <a:cubicBezTo>
                  <a:pt x="56425" y="12633"/>
                  <a:pt x="43792" y="1"/>
                  <a:pt x="28219" y="1"/>
                </a:cubicBezTo>
                <a:close/>
              </a:path>
            </a:pathLst>
          </a:custGeom>
          <a:noFill/>
          <a:ln w="28575" cap="flat" cmpd="sng">
            <a:solidFill>
              <a:srgbClr val="8B19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743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4" name="Google Shape;6848;p81">
            <a:extLst>
              <a:ext uri="{FF2B5EF4-FFF2-40B4-BE49-F238E27FC236}">
                <a16:creationId xmlns:a16="http://schemas.microsoft.com/office/drawing/2014/main" id="{835B3BCD-8F7B-A431-179C-4DA85FBCE996}"/>
              </a:ext>
            </a:extLst>
          </p:cNvPr>
          <p:cNvGrpSpPr/>
          <p:nvPr/>
        </p:nvGrpSpPr>
        <p:grpSpPr>
          <a:xfrm>
            <a:off x="4234632" y="1695220"/>
            <a:ext cx="3467100" cy="3292461"/>
            <a:chOff x="2679875" y="2361475"/>
            <a:chExt cx="780425" cy="760575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grpSpPr>
        <p:sp>
          <p:nvSpPr>
            <p:cNvPr id="15" name="Google Shape;6849;p81">
              <a:extLst>
                <a:ext uri="{FF2B5EF4-FFF2-40B4-BE49-F238E27FC236}">
                  <a16:creationId xmlns:a16="http://schemas.microsoft.com/office/drawing/2014/main" id="{DEC697A7-3CA6-7C47-AF15-BDD0AE69FDFC}"/>
                </a:ext>
              </a:extLst>
            </p:cNvPr>
            <p:cNvSpPr/>
            <p:nvPr/>
          </p:nvSpPr>
          <p:spPr>
            <a:xfrm>
              <a:off x="2812050" y="2361475"/>
              <a:ext cx="516050" cy="266400"/>
            </a:xfrm>
            <a:custGeom>
              <a:avLst/>
              <a:gdLst/>
              <a:ahLst/>
              <a:cxnLst/>
              <a:rect l="l" t="t" r="r" b="b"/>
              <a:pathLst>
                <a:path w="20642" h="10656" extrusionOk="0">
                  <a:moveTo>
                    <a:pt x="10321" y="0"/>
                  </a:moveTo>
                  <a:cubicBezTo>
                    <a:pt x="4630" y="0"/>
                    <a:pt x="1" y="4630"/>
                    <a:pt x="1" y="10321"/>
                  </a:cubicBezTo>
                  <a:cubicBezTo>
                    <a:pt x="1" y="10385"/>
                    <a:pt x="2" y="10450"/>
                    <a:pt x="4" y="10514"/>
                  </a:cubicBezTo>
                  <a:cubicBezTo>
                    <a:pt x="1580" y="9686"/>
                    <a:pt x="3307" y="9273"/>
                    <a:pt x="5033" y="9273"/>
                  </a:cubicBezTo>
                  <a:cubicBezTo>
                    <a:pt x="6858" y="9273"/>
                    <a:pt x="8681" y="9735"/>
                    <a:pt x="10321" y="10655"/>
                  </a:cubicBezTo>
                  <a:cubicBezTo>
                    <a:pt x="11962" y="9735"/>
                    <a:pt x="13786" y="9273"/>
                    <a:pt x="15610" y="9273"/>
                  </a:cubicBezTo>
                  <a:cubicBezTo>
                    <a:pt x="17337" y="9273"/>
                    <a:pt x="19065" y="9686"/>
                    <a:pt x="20640" y="10514"/>
                  </a:cubicBezTo>
                  <a:cubicBezTo>
                    <a:pt x="20640" y="10450"/>
                    <a:pt x="20642" y="10385"/>
                    <a:pt x="20642" y="10321"/>
                  </a:cubicBezTo>
                  <a:cubicBezTo>
                    <a:pt x="20642" y="4630"/>
                    <a:pt x="16012" y="0"/>
                    <a:pt x="10321" y="0"/>
                  </a:cubicBezTo>
                  <a:close/>
                </a:path>
              </a:pathLst>
            </a:custGeom>
            <a:solidFill>
              <a:srgbClr val="482218"/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" name="Google Shape;6850;p81">
              <a:extLst>
                <a:ext uri="{FF2B5EF4-FFF2-40B4-BE49-F238E27FC236}">
                  <a16:creationId xmlns:a16="http://schemas.microsoft.com/office/drawing/2014/main" id="{C491D835-C3B4-F922-DB54-6C525A393613}"/>
                </a:ext>
              </a:extLst>
            </p:cNvPr>
            <p:cNvSpPr/>
            <p:nvPr/>
          </p:nvSpPr>
          <p:spPr>
            <a:xfrm>
              <a:off x="3082750" y="2645625"/>
              <a:ext cx="377550" cy="476425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solidFill>
              <a:srgbClr val="8B1918"/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" name="Google Shape;6851;p81">
              <a:extLst>
                <a:ext uri="{FF2B5EF4-FFF2-40B4-BE49-F238E27FC236}">
                  <a16:creationId xmlns:a16="http://schemas.microsoft.com/office/drawing/2014/main" id="{9080667E-D036-3E00-56D3-29805ACF0B25}"/>
                </a:ext>
              </a:extLst>
            </p:cNvPr>
            <p:cNvSpPr/>
            <p:nvPr/>
          </p:nvSpPr>
          <p:spPr>
            <a:xfrm>
              <a:off x="3082750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4781" y="1"/>
                  </a:moveTo>
                  <a:cubicBezTo>
                    <a:pt x="3141" y="1"/>
                    <a:pt x="1499" y="393"/>
                    <a:pt x="1" y="1178"/>
                  </a:cubicBezTo>
                  <a:cubicBezTo>
                    <a:pt x="2747" y="2923"/>
                    <a:pt x="4656" y="5871"/>
                    <a:pt x="4984" y="9276"/>
                  </a:cubicBezTo>
                  <a:cubicBezTo>
                    <a:pt x="7683" y="7574"/>
                    <a:pt x="9542" y="4656"/>
                    <a:pt x="9787" y="1300"/>
                  </a:cubicBezTo>
                  <a:cubicBezTo>
                    <a:pt x="8232" y="434"/>
                    <a:pt x="6507" y="1"/>
                    <a:pt x="4781" y="1"/>
                  </a:cubicBezTo>
                  <a:close/>
                </a:path>
              </a:pathLst>
            </a:custGeom>
            <a:solidFill>
              <a:srgbClr val="8B1918"/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6852;p81">
              <a:extLst>
                <a:ext uri="{FF2B5EF4-FFF2-40B4-BE49-F238E27FC236}">
                  <a16:creationId xmlns:a16="http://schemas.microsoft.com/office/drawing/2014/main" id="{DB62B3FE-4098-BE94-499C-E074E109F1D4}"/>
                </a:ext>
              </a:extLst>
            </p:cNvPr>
            <p:cNvSpPr/>
            <p:nvPr/>
          </p:nvSpPr>
          <p:spPr>
            <a:xfrm>
              <a:off x="2679875" y="2645625"/>
              <a:ext cx="377575" cy="476425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solidFill>
              <a:srgbClr val="C8041B"/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6853;p81">
              <a:extLst>
                <a:ext uri="{FF2B5EF4-FFF2-40B4-BE49-F238E27FC236}">
                  <a16:creationId xmlns:a16="http://schemas.microsoft.com/office/drawing/2014/main" id="{9493CF1F-3F21-F3B6-A187-615C0D2E5056}"/>
                </a:ext>
              </a:extLst>
            </p:cNvPr>
            <p:cNvSpPr/>
            <p:nvPr/>
          </p:nvSpPr>
          <p:spPr>
            <a:xfrm>
              <a:off x="2812775" y="2605975"/>
              <a:ext cx="244675" cy="231900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Google Shape;6854;p81">
              <a:extLst>
                <a:ext uri="{FF2B5EF4-FFF2-40B4-BE49-F238E27FC236}">
                  <a16:creationId xmlns:a16="http://schemas.microsoft.com/office/drawing/2014/main" id="{AC9AE629-86BB-5A8C-1181-DF03FB80D93C}"/>
                </a:ext>
              </a:extLst>
            </p:cNvPr>
            <p:cNvSpPr/>
            <p:nvPr/>
          </p:nvSpPr>
          <p:spPr>
            <a:xfrm>
              <a:off x="2944250" y="2859150"/>
              <a:ext cx="251675" cy="22637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solidFill>
              <a:srgbClr val="C8041B"/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" name="Google Shape;3250;p77">
            <a:extLst>
              <a:ext uri="{FF2B5EF4-FFF2-40B4-BE49-F238E27FC236}">
                <a16:creationId xmlns:a16="http://schemas.microsoft.com/office/drawing/2014/main" id="{6FD22495-4D3D-F53C-53B1-F9FFEC7E563A}"/>
              </a:ext>
            </a:extLst>
          </p:cNvPr>
          <p:cNvGrpSpPr/>
          <p:nvPr/>
        </p:nvGrpSpPr>
        <p:grpSpPr>
          <a:xfrm rot="5400000">
            <a:off x="7979442" y="3187761"/>
            <a:ext cx="194320" cy="264663"/>
            <a:chOff x="4960900" y="2433225"/>
            <a:chExt cx="48525" cy="60050"/>
          </a:xfrm>
          <a:solidFill>
            <a:srgbClr val="E44A55"/>
          </a:solidFill>
        </p:grpSpPr>
        <p:sp>
          <p:nvSpPr>
            <p:cNvPr id="22" name="Google Shape;3251;p77">
              <a:extLst>
                <a:ext uri="{FF2B5EF4-FFF2-40B4-BE49-F238E27FC236}">
                  <a16:creationId xmlns:a16="http://schemas.microsoft.com/office/drawing/2014/main" id="{E4BF541D-8AC0-48F5-3884-ECE060CC84C7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solidFill>
                <a:srgbClr val="8B1918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3252;p77">
              <a:extLst>
                <a:ext uri="{FF2B5EF4-FFF2-40B4-BE49-F238E27FC236}">
                  <a16:creationId xmlns:a16="http://schemas.microsoft.com/office/drawing/2014/main" id="{9881A2C0-D085-95CC-D499-0B32D2E5F7C9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solidFill>
                <a:srgbClr val="8B1918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" name="Google Shape;3250;p77">
            <a:extLst>
              <a:ext uri="{FF2B5EF4-FFF2-40B4-BE49-F238E27FC236}">
                <a16:creationId xmlns:a16="http://schemas.microsoft.com/office/drawing/2014/main" id="{54CD8CF9-647D-74D8-C297-3A9B8093E1A4}"/>
              </a:ext>
            </a:extLst>
          </p:cNvPr>
          <p:cNvGrpSpPr/>
          <p:nvPr/>
        </p:nvGrpSpPr>
        <p:grpSpPr>
          <a:xfrm rot="13041973">
            <a:off x="4580149" y="5024360"/>
            <a:ext cx="194320" cy="264663"/>
            <a:chOff x="4960900" y="2433225"/>
            <a:chExt cx="48525" cy="60050"/>
          </a:xfrm>
          <a:solidFill>
            <a:srgbClr val="E44A55"/>
          </a:solidFill>
        </p:grpSpPr>
        <p:sp>
          <p:nvSpPr>
            <p:cNvPr id="25" name="Google Shape;3251;p77">
              <a:extLst>
                <a:ext uri="{FF2B5EF4-FFF2-40B4-BE49-F238E27FC236}">
                  <a16:creationId xmlns:a16="http://schemas.microsoft.com/office/drawing/2014/main" id="{0519D648-323B-E315-D6AA-9607A0FEF051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solidFill>
                <a:srgbClr val="8B1918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3252;p77">
              <a:extLst>
                <a:ext uri="{FF2B5EF4-FFF2-40B4-BE49-F238E27FC236}">
                  <a16:creationId xmlns:a16="http://schemas.microsoft.com/office/drawing/2014/main" id="{07548E33-AD8E-A9B1-83A3-2564F08F7860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solidFill>
                <a:srgbClr val="8B1918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7" name="Google Shape;1177;p72">
            <a:extLst>
              <a:ext uri="{FF2B5EF4-FFF2-40B4-BE49-F238E27FC236}">
                <a16:creationId xmlns:a16="http://schemas.microsoft.com/office/drawing/2014/main" id="{C5F0CF25-3F20-A372-1162-11214A35981D}"/>
              </a:ext>
            </a:extLst>
          </p:cNvPr>
          <p:cNvSpPr txBox="1"/>
          <p:nvPr/>
        </p:nvSpPr>
        <p:spPr>
          <a:xfrm>
            <a:off x="5279893" y="4987681"/>
            <a:ext cx="146609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solidFill>
                  <a:srgbClr val="002060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Estudiante</a:t>
            </a:r>
            <a:endParaRPr sz="1800" b="1">
              <a:solidFill>
                <a:srgbClr val="002060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grpSp>
        <p:nvGrpSpPr>
          <p:cNvPr id="2" name="Google Shape;3250;p77">
            <a:extLst>
              <a:ext uri="{FF2B5EF4-FFF2-40B4-BE49-F238E27FC236}">
                <a16:creationId xmlns:a16="http://schemas.microsoft.com/office/drawing/2014/main" id="{5217AF57-E786-8621-D77B-A0FB77916E7F}"/>
              </a:ext>
            </a:extLst>
          </p:cNvPr>
          <p:cNvGrpSpPr/>
          <p:nvPr/>
        </p:nvGrpSpPr>
        <p:grpSpPr>
          <a:xfrm rot="-1500000">
            <a:off x="4882624" y="1584091"/>
            <a:ext cx="194321" cy="264663"/>
            <a:chOff x="4960900" y="2433225"/>
            <a:chExt cx="48525" cy="60050"/>
          </a:xfrm>
          <a:solidFill>
            <a:srgbClr val="E44A55"/>
          </a:solidFill>
        </p:grpSpPr>
        <p:sp>
          <p:nvSpPr>
            <p:cNvPr id="3" name="Google Shape;3251;p77">
              <a:extLst>
                <a:ext uri="{FF2B5EF4-FFF2-40B4-BE49-F238E27FC236}">
                  <a16:creationId xmlns:a16="http://schemas.microsoft.com/office/drawing/2014/main" id="{D95D611E-46AC-CC17-63CC-A9AC811929DD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solidFill>
                <a:srgbClr val="8B1918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" name="Google Shape;3252;p77">
              <a:extLst>
                <a:ext uri="{FF2B5EF4-FFF2-40B4-BE49-F238E27FC236}">
                  <a16:creationId xmlns:a16="http://schemas.microsoft.com/office/drawing/2014/main" id="{50698266-6DE8-F878-9376-DE66396300B5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solidFill>
                <a:srgbClr val="8B1918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50743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68C45B8-6DD7-B81C-E63C-52A62E1F5B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 kern="1200">
                <a:solidFill>
                  <a:srgbClr val="002060"/>
                </a:solidFill>
                <a:latin typeface="Montserrat Black" panose="00000A00000000000000" pitchFamily="2" charset="0"/>
                <a:ea typeface="+mn-ea"/>
                <a:cs typeface="+mn-cs"/>
              </a:rPr>
              <a:t>GESTIÓN TECNÓLOGICA</a:t>
            </a:r>
            <a:endParaRPr lang="es-CO" sz="48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90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>
            <a:extLst>
              <a:ext uri="{FF2B5EF4-FFF2-40B4-BE49-F238E27FC236}">
                <a16:creationId xmlns:a16="http://schemas.microsoft.com/office/drawing/2014/main" id="{3982E274-1718-B009-72DA-00D146290327}"/>
              </a:ext>
            </a:extLst>
          </p:cNvPr>
          <p:cNvSpPr/>
          <p:nvPr/>
        </p:nvSpPr>
        <p:spPr>
          <a:xfrm>
            <a:off x="6651030" y="1707660"/>
            <a:ext cx="4444740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s-ES" b="0" i="0">
                <a:solidFill>
                  <a:srgbClr val="002060"/>
                </a:solidFill>
                <a:effectLst/>
                <a:latin typeface="+mn-lt"/>
              </a:rPr>
              <a:t>Ejecución de los lineamientos pedagógicos, las estrategias de comunicación y operación. </a:t>
            </a:r>
          </a:p>
          <a:p>
            <a:pPr algn="just"/>
            <a:r>
              <a:rPr lang="es-ES" b="0" i="0">
                <a:solidFill>
                  <a:srgbClr val="002060"/>
                </a:solidFill>
                <a:effectLst/>
                <a:latin typeface="+mn-lt"/>
              </a:rPr>
              <a:t>Así mismo las aplicaciones de las buenas prácticas en la gestión eficiente de los recursos tecnológicos destinados a los procesos de la modalidad virtual.</a:t>
            </a:r>
            <a:endParaRPr lang="es-ES" b="0" i="0">
              <a:solidFill>
                <a:srgbClr val="002060"/>
              </a:solidFill>
              <a:effectLst/>
              <a:latin typeface="+mn-lt"/>
              <a:ea typeface="Calibri"/>
              <a:cs typeface="Calibri"/>
            </a:endParaRPr>
          </a:p>
          <a:p>
            <a:pPr algn="just"/>
            <a:endParaRPr lang="es-ES">
              <a:solidFill>
                <a:srgbClr val="002060"/>
              </a:solidFill>
              <a:latin typeface="+mn-lt"/>
            </a:endParaRPr>
          </a:p>
          <a:p>
            <a:pPr algn="just"/>
            <a:r>
              <a:rPr lang="es-ES" b="0" i="0">
                <a:solidFill>
                  <a:srgbClr val="002060"/>
                </a:solidFill>
                <a:effectLst/>
                <a:latin typeface="+mn-lt"/>
              </a:rPr>
              <a:t>Esto incluye </a:t>
            </a:r>
            <a:r>
              <a:rPr lang="es-ES">
                <a:solidFill>
                  <a:srgbClr val="002060"/>
                </a:solidFill>
                <a:latin typeface="+mn-lt"/>
              </a:rPr>
              <a:t>garantizar que </a:t>
            </a:r>
            <a:r>
              <a:rPr lang="es-ES" b="0" i="0">
                <a:solidFill>
                  <a:srgbClr val="002060"/>
                </a:solidFill>
                <a:effectLst/>
                <a:latin typeface="+mn-lt"/>
              </a:rPr>
              <a:t>las herramientas de software para la elaboración de materiales educativos digitales, creación de videos, piezas </a:t>
            </a:r>
            <a:r>
              <a:rPr lang="es-ES">
                <a:solidFill>
                  <a:srgbClr val="002060"/>
                </a:solidFill>
                <a:latin typeface="+mn-lt"/>
              </a:rPr>
              <a:t>gráficas</a:t>
            </a:r>
            <a:r>
              <a:rPr lang="es-ES" b="0" i="0">
                <a:solidFill>
                  <a:srgbClr val="002060"/>
                </a:solidFill>
                <a:effectLst/>
                <a:latin typeface="+mn-lt"/>
              </a:rPr>
              <a:t> y alojar el repositorio de contenidos, así como otras aplicaciones innovadoras que contribuyan al desarrollo y al soporte técnico.</a:t>
            </a:r>
            <a:endParaRPr lang="es-MX">
              <a:solidFill>
                <a:srgbClr val="002060"/>
              </a:solidFill>
              <a:latin typeface="+mn-lt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5F7D7E-A4AF-7BEF-BE0E-C0DCBCB0A646}"/>
              </a:ext>
            </a:extLst>
          </p:cNvPr>
          <p:cNvSpPr/>
          <p:nvPr/>
        </p:nvSpPr>
        <p:spPr>
          <a:xfrm>
            <a:off x="1505669" y="871417"/>
            <a:ext cx="3786728" cy="491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CO" sz="1600" b="1">
                <a:solidFill>
                  <a:srgbClr val="002060"/>
                </a:solidFill>
                <a:latin typeface="+mn-lt"/>
                <a:cs typeface="Poppins" panose="00000500000000000000" pitchFamily="2" charset="0"/>
              </a:rPr>
              <a:t>Plataforma de aprendizaje y gestión de contenidos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EC8D96-6272-A107-135D-6137E30663D2}"/>
              </a:ext>
            </a:extLst>
          </p:cNvPr>
          <p:cNvSpPr/>
          <p:nvPr/>
        </p:nvSpPr>
        <p:spPr>
          <a:xfrm>
            <a:off x="4747506" y="5084426"/>
            <a:ext cx="1893015" cy="29418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CO" sz="1600" b="1">
                <a:solidFill>
                  <a:srgbClr val="002060"/>
                </a:solidFill>
                <a:latin typeface="+mn-lt"/>
                <a:cs typeface="Poppins" panose="00000500000000000000" pitchFamily="2" charset="0"/>
              </a:rPr>
              <a:t>Herramientas web</a:t>
            </a:r>
            <a:endParaRPr lang="es-ES" sz="1600" b="1">
              <a:solidFill>
                <a:srgbClr val="002060"/>
              </a:solidFill>
              <a:latin typeface="+mn-lt"/>
              <a:cs typeface="Poppins" panose="00000500000000000000" pitchFamily="2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6791EA-3851-C95C-E0BB-6F25C39E3F6D}"/>
              </a:ext>
            </a:extLst>
          </p:cNvPr>
          <p:cNvSpPr/>
          <p:nvPr/>
        </p:nvSpPr>
        <p:spPr>
          <a:xfrm>
            <a:off x="908094" y="5195596"/>
            <a:ext cx="2480779" cy="688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s-CO" sz="1600" b="1">
                <a:solidFill>
                  <a:srgbClr val="002060"/>
                </a:solidFill>
                <a:latin typeface="+mn-lt"/>
                <a:cs typeface="Poppins" panose="00000500000000000000" pitchFamily="2" charset="0"/>
              </a:rPr>
              <a:t>Software y hardware para la producción y diseño de  contenidos</a:t>
            </a:r>
          </a:p>
        </p:txBody>
      </p:sp>
      <p:grpSp>
        <p:nvGrpSpPr>
          <p:cNvPr id="8" name="Google Shape;7142;p81">
            <a:extLst>
              <a:ext uri="{FF2B5EF4-FFF2-40B4-BE49-F238E27FC236}">
                <a16:creationId xmlns:a16="http://schemas.microsoft.com/office/drawing/2014/main" id="{C2255B3A-D4C8-0BE3-A1B2-2E1327A66F5B}"/>
              </a:ext>
            </a:extLst>
          </p:cNvPr>
          <p:cNvGrpSpPr/>
          <p:nvPr/>
        </p:nvGrpSpPr>
        <p:grpSpPr>
          <a:xfrm>
            <a:off x="1521197" y="1479473"/>
            <a:ext cx="3771200" cy="3607353"/>
            <a:chOff x="1706078" y="2092648"/>
            <a:chExt cx="660913" cy="637296"/>
          </a:xfrm>
        </p:grpSpPr>
        <p:sp>
          <p:nvSpPr>
            <p:cNvPr id="9" name="Google Shape;7143;p81">
              <a:extLst>
                <a:ext uri="{FF2B5EF4-FFF2-40B4-BE49-F238E27FC236}">
                  <a16:creationId xmlns:a16="http://schemas.microsoft.com/office/drawing/2014/main" id="{EEAE591D-C258-D667-065C-FF938BC7F92E}"/>
                </a:ext>
              </a:extLst>
            </p:cNvPr>
            <p:cNvSpPr/>
            <p:nvPr/>
          </p:nvSpPr>
          <p:spPr>
            <a:xfrm>
              <a:off x="1745332" y="2158066"/>
              <a:ext cx="571867" cy="571878"/>
            </a:xfrm>
            <a:custGeom>
              <a:avLst/>
              <a:gdLst/>
              <a:ahLst/>
              <a:cxnLst/>
              <a:rect l="l" t="t" r="r" b="b"/>
              <a:pathLst>
                <a:path w="107747" h="107749" extrusionOk="0">
                  <a:moveTo>
                    <a:pt x="53874" y="11565"/>
                  </a:moveTo>
                  <a:cubicBezTo>
                    <a:pt x="77238" y="11565"/>
                    <a:pt x="96182" y="30509"/>
                    <a:pt x="96182" y="53873"/>
                  </a:cubicBezTo>
                  <a:cubicBezTo>
                    <a:pt x="96182" y="77240"/>
                    <a:pt x="77240" y="96182"/>
                    <a:pt x="53874" y="96182"/>
                  </a:cubicBezTo>
                  <a:cubicBezTo>
                    <a:pt x="30507" y="96182"/>
                    <a:pt x="11565" y="77240"/>
                    <a:pt x="11565" y="53873"/>
                  </a:cubicBezTo>
                  <a:cubicBezTo>
                    <a:pt x="11565" y="30509"/>
                    <a:pt x="30507" y="11565"/>
                    <a:pt x="53874" y="11565"/>
                  </a:cubicBezTo>
                  <a:close/>
                  <a:moveTo>
                    <a:pt x="53874" y="1"/>
                  </a:moveTo>
                  <a:cubicBezTo>
                    <a:pt x="24120" y="1"/>
                    <a:pt x="1" y="24120"/>
                    <a:pt x="1" y="53873"/>
                  </a:cubicBezTo>
                  <a:cubicBezTo>
                    <a:pt x="1" y="83626"/>
                    <a:pt x="24120" y="107748"/>
                    <a:pt x="53874" y="107748"/>
                  </a:cubicBezTo>
                  <a:cubicBezTo>
                    <a:pt x="83625" y="107748"/>
                    <a:pt x="107746" y="83626"/>
                    <a:pt x="107746" y="53873"/>
                  </a:cubicBezTo>
                  <a:cubicBezTo>
                    <a:pt x="107746" y="24120"/>
                    <a:pt x="83627" y="1"/>
                    <a:pt x="53874" y="1"/>
                  </a:cubicBezTo>
                  <a:close/>
                </a:path>
              </a:pathLst>
            </a:custGeom>
            <a:solidFill>
              <a:srgbClr val="E44A55"/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0" name="Google Shape;7144;p81">
              <a:extLst>
                <a:ext uri="{FF2B5EF4-FFF2-40B4-BE49-F238E27FC236}">
                  <a16:creationId xmlns:a16="http://schemas.microsoft.com/office/drawing/2014/main" id="{11A88AFA-9267-2B06-6F5E-E4E110115D64}"/>
                </a:ext>
              </a:extLst>
            </p:cNvPr>
            <p:cNvGrpSpPr/>
            <p:nvPr/>
          </p:nvGrpSpPr>
          <p:grpSpPr>
            <a:xfrm>
              <a:off x="1706078" y="2092648"/>
              <a:ext cx="660913" cy="575241"/>
              <a:chOff x="1706078" y="2092648"/>
              <a:chExt cx="660913" cy="575241"/>
            </a:xfrm>
          </p:grpSpPr>
          <p:sp>
            <p:nvSpPr>
              <p:cNvPr id="11" name="Google Shape;7145;p81">
                <a:extLst>
                  <a:ext uri="{FF2B5EF4-FFF2-40B4-BE49-F238E27FC236}">
                    <a16:creationId xmlns:a16="http://schemas.microsoft.com/office/drawing/2014/main" id="{3AD4F8B0-79A9-B2DB-3495-0D2F92917127}"/>
                  </a:ext>
                </a:extLst>
              </p:cNvPr>
              <p:cNvSpPr/>
              <p:nvPr/>
            </p:nvSpPr>
            <p:spPr>
              <a:xfrm>
                <a:off x="1938891" y="2092648"/>
                <a:ext cx="192041" cy="353676"/>
              </a:xfrm>
              <a:custGeom>
                <a:avLst/>
                <a:gdLst/>
                <a:ahLst/>
                <a:cxnLst/>
                <a:rect l="l" t="t" r="r" b="b"/>
                <a:pathLst>
                  <a:path w="36183" h="66637" extrusionOk="0">
                    <a:moveTo>
                      <a:pt x="18094" y="1"/>
                    </a:moveTo>
                    <a:cubicBezTo>
                      <a:pt x="8801" y="1"/>
                      <a:pt x="1202" y="7552"/>
                      <a:pt x="1202" y="16877"/>
                    </a:cubicBezTo>
                    <a:cubicBezTo>
                      <a:pt x="1202" y="23723"/>
                      <a:pt x="5288" y="29491"/>
                      <a:pt x="11057" y="32260"/>
                    </a:cubicBezTo>
                    <a:cubicBezTo>
                      <a:pt x="13944" y="33580"/>
                      <a:pt x="15864" y="36464"/>
                      <a:pt x="15864" y="39714"/>
                    </a:cubicBezTo>
                    <a:cubicBezTo>
                      <a:pt x="15864" y="42954"/>
                      <a:pt x="13829" y="45963"/>
                      <a:pt x="10817" y="47040"/>
                    </a:cubicBezTo>
                    <a:cubicBezTo>
                      <a:pt x="6250" y="48723"/>
                      <a:pt x="2404" y="51972"/>
                      <a:pt x="1" y="56176"/>
                    </a:cubicBezTo>
                    <a:lnTo>
                      <a:pt x="18155" y="66637"/>
                    </a:lnTo>
                    <a:lnTo>
                      <a:pt x="36182" y="56176"/>
                    </a:lnTo>
                    <a:cubicBezTo>
                      <a:pt x="33779" y="51975"/>
                      <a:pt x="29930" y="48725"/>
                      <a:pt x="25479" y="47040"/>
                    </a:cubicBezTo>
                    <a:cubicBezTo>
                      <a:pt x="22352" y="45966"/>
                      <a:pt x="20316" y="42957"/>
                      <a:pt x="20316" y="39714"/>
                    </a:cubicBezTo>
                    <a:lnTo>
                      <a:pt x="20316" y="39474"/>
                    </a:lnTo>
                    <a:cubicBezTo>
                      <a:pt x="20316" y="36349"/>
                      <a:pt x="22239" y="33578"/>
                      <a:pt x="24998" y="32260"/>
                    </a:cubicBezTo>
                    <a:cubicBezTo>
                      <a:pt x="31250" y="29491"/>
                      <a:pt x="35461" y="22999"/>
                      <a:pt x="34980" y="15676"/>
                    </a:cubicBezTo>
                    <a:cubicBezTo>
                      <a:pt x="34375" y="7376"/>
                      <a:pt x="27644" y="646"/>
                      <a:pt x="19357" y="47"/>
                    </a:cubicBezTo>
                    <a:cubicBezTo>
                      <a:pt x="18933" y="18"/>
                      <a:pt x="18513" y="1"/>
                      <a:pt x="18094" y="1"/>
                    </a:cubicBezTo>
                    <a:close/>
                  </a:path>
                </a:pathLst>
              </a:custGeom>
              <a:solidFill>
                <a:srgbClr val="8B1918"/>
              </a:solidFill>
              <a:ln>
                <a:noFill/>
              </a:ln>
              <a:effectLst>
                <a:outerShdw blurRad="76200" dist="12700" dir="2700000" sy="-23000" kx="-8004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2" name="Google Shape;7146;p81">
                <a:extLst>
                  <a:ext uri="{FF2B5EF4-FFF2-40B4-BE49-F238E27FC236}">
                    <a16:creationId xmlns:a16="http://schemas.microsoft.com/office/drawing/2014/main" id="{9C08216A-2532-28F6-5865-787D28C6D039}"/>
                  </a:ext>
                </a:extLst>
              </p:cNvPr>
              <p:cNvSpPr/>
              <p:nvPr/>
            </p:nvSpPr>
            <p:spPr>
              <a:xfrm>
                <a:off x="1706078" y="2390779"/>
                <a:ext cx="329208" cy="277004"/>
              </a:xfrm>
              <a:custGeom>
                <a:avLst/>
                <a:gdLst/>
                <a:ahLst/>
                <a:cxnLst/>
                <a:rect l="l" t="t" r="r" b="b"/>
                <a:pathLst>
                  <a:path w="62027" h="52191" extrusionOk="0">
                    <a:moveTo>
                      <a:pt x="43872" y="1"/>
                    </a:moveTo>
                    <a:cubicBezTo>
                      <a:pt x="41468" y="4212"/>
                      <a:pt x="40629" y="9019"/>
                      <a:pt x="41353" y="13829"/>
                    </a:cubicBezTo>
                    <a:cubicBezTo>
                      <a:pt x="41946" y="17069"/>
                      <a:pt x="40389" y="20321"/>
                      <a:pt x="37504" y="21878"/>
                    </a:cubicBezTo>
                    <a:lnTo>
                      <a:pt x="37379" y="22004"/>
                    </a:lnTo>
                    <a:cubicBezTo>
                      <a:pt x="36131" y="22712"/>
                      <a:pt x="34723" y="23085"/>
                      <a:pt x="33288" y="23090"/>
                    </a:cubicBezTo>
                    <a:cubicBezTo>
                      <a:pt x="31652" y="23095"/>
                      <a:pt x="30056" y="22587"/>
                      <a:pt x="28724" y="21638"/>
                    </a:cubicBezTo>
                    <a:cubicBezTo>
                      <a:pt x="25815" y="19553"/>
                      <a:pt x="22344" y="18435"/>
                      <a:pt x="18815" y="18435"/>
                    </a:cubicBezTo>
                    <a:cubicBezTo>
                      <a:pt x="15632" y="18435"/>
                      <a:pt x="12399" y="19345"/>
                      <a:pt x="9490" y="21282"/>
                    </a:cubicBezTo>
                    <a:cubicBezTo>
                      <a:pt x="2520" y="25965"/>
                      <a:pt x="1" y="35101"/>
                      <a:pt x="3721" y="42677"/>
                    </a:cubicBezTo>
                    <a:cubicBezTo>
                      <a:pt x="6677" y="48755"/>
                      <a:pt x="12664" y="52191"/>
                      <a:pt x="18840" y="52191"/>
                    </a:cubicBezTo>
                    <a:cubicBezTo>
                      <a:pt x="21707" y="52191"/>
                      <a:pt x="24613" y="51450"/>
                      <a:pt x="27282" y="49890"/>
                    </a:cubicBezTo>
                    <a:cubicBezTo>
                      <a:pt x="33291" y="46525"/>
                      <a:pt x="36303" y="40151"/>
                      <a:pt x="35694" y="33659"/>
                    </a:cubicBezTo>
                    <a:cubicBezTo>
                      <a:pt x="35456" y="30534"/>
                      <a:pt x="37024" y="27407"/>
                      <a:pt x="39783" y="25852"/>
                    </a:cubicBezTo>
                    <a:cubicBezTo>
                      <a:pt x="41044" y="25114"/>
                      <a:pt x="42424" y="24748"/>
                      <a:pt x="43786" y="24748"/>
                    </a:cubicBezTo>
                    <a:cubicBezTo>
                      <a:pt x="45537" y="24748"/>
                      <a:pt x="47261" y="25356"/>
                      <a:pt x="48676" y="26573"/>
                    </a:cubicBezTo>
                    <a:cubicBezTo>
                      <a:pt x="52525" y="29572"/>
                      <a:pt x="57216" y="31255"/>
                      <a:pt x="62026" y="31255"/>
                    </a:cubicBezTo>
                    <a:lnTo>
                      <a:pt x="62026" y="10461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ffectLst>
                <a:outerShdw blurRad="76200" dist="12700" dir="2700000" sy="-23000" kx="-8004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3" name="Google Shape;7147;p81">
                <a:extLst>
                  <a:ext uri="{FF2B5EF4-FFF2-40B4-BE49-F238E27FC236}">
                    <a16:creationId xmlns:a16="http://schemas.microsoft.com/office/drawing/2014/main" id="{D65C1CC6-C22D-2CE6-FBAC-710CB2301394}"/>
                  </a:ext>
                </a:extLst>
              </p:cNvPr>
              <p:cNvSpPr/>
              <p:nvPr/>
            </p:nvSpPr>
            <p:spPr>
              <a:xfrm>
                <a:off x="2035235" y="2390779"/>
                <a:ext cx="331756" cy="277110"/>
              </a:xfrm>
              <a:custGeom>
                <a:avLst/>
                <a:gdLst/>
                <a:ahLst/>
                <a:cxnLst/>
                <a:rect l="l" t="t" r="r" b="b"/>
                <a:pathLst>
                  <a:path w="62507" h="52211" extrusionOk="0">
                    <a:moveTo>
                      <a:pt x="18030" y="1"/>
                    </a:moveTo>
                    <a:lnTo>
                      <a:pt x="0" y="10461"/>
                    </a:lnTo>
                    <a:lnTo>
                      <a:pt x="0" y="31253"/>
                    </a:lnTo>
                    <a:cubicBezTo>
                      <a:pt x="4807" y="31253"/>
                      <a:pt x="9489" y="29570"/>
                      <a:pt x="13222" y="26570"/>
                    </a:cubicBezTo>
                    <a:cubicBezTo>
                      <a:pt x="15722" y="24434"/>
                      <a:pt x="19307" y="24145"/>
                      <a:pt x="22118" y="25849"/>
                    </a:cubicBezTo>
                    <a:lnTo>
                      <a:pt x="22359" y="25965"/>
                    </a:lnTo>
                    <a:cubicBezTo>
                      <a:pt x="25003" y="27532"/>
                      <a:pt x="26560" y="30534"/>
                      <a:pt x="26204" y="33659"/>
                    </a:cubicBezTo>
                    <a:cubicBezTo>
                      <a:pt x="25599" y="40389"/>
                      <a:pt x="28964" y="47244"/>
                      <a:pt x="35578" y="50486"/>
                    </a:cubicBezTo>
                    <a:cubicBezTo>
                      <a:pt x="37877" y="51619"/>
                      <a:pt x="40405" y="52210"/>
                      <a:pt x="42968" y="52208"/>
                    </a:cubicBezTo>
                    <a:cubicBezTo>
                      <a:pt x="48435" y="52208"/>
                      <a:pt x="53755" y="49544"/>
                      <a:pt x="56978" y="44840"/>
                    </a:cubicBezTo>
                    <a:cubicBezTo>
                      <a:pt x="62506" y="36540"/>
                      <a:pt x="59862" y="25484"/>
                      <a:pt x="51447" y="20674"/>
                    </a:cubicBezTo>
                    <a:cubicBezTo>
                      <a:pt x="48774" y="19149"/>
                      <a:pt x="45855" y="18413"/>
                      <a:pt x="42983" y="18413"/>
                    </a:cubicBezTo>
                    <a:cubicBezTo>
                      <a:pt x="39520" y="18413"/>
                      <a:pt x="36121" y="19482"/>
                      <a:pt x="33290" y="21523"/>
                    </a:cubicBezTo>
                    <a:cubicBezTo>
                      <a:pt x="30671" y="23429"/>
                      <a:pt x="27161" y="23571"/>
                      <a:pt x="24397" y="21878"/>
                    </a:cubicBezTo>
                    <a:cubicBezTo>
                      <a:pt x="21510" y="20321"/>
                      <a:pt x="19955" y="17069"/>
                      <a:pt x="20549" y="13829"/>
                    </a:cubicBezTo>
                    <a:cubicBezTo>
                      <a:pt x="21272" y="9019"/>
                      <a:pt x="20433" y="4212"/>
                      <a:pt x="18030" y="1"/>
                    </a:cubicBezTo>
                    <a:close/>
                  </a:path>
                </a:pathLst>
              </a:custGeom>
              <a:solidFill>
                <a:srgbClr val="C8041B"/>
              </a:solidFill>
              <a:ln>
                <a:noFill/>
              </a:ln>
              <a:effectLst>
                <a:outerShdw blurRad="76200" dist="12700" dir="2700000" sy="-23000" kx="-8004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D5CB5ED-9D95-A9AB-0240-70381E261817}"/>
              </a:ext>
            </a:extLst>
          </p:cNvPr>
          <p:cNvSpPr/>
          <p:nvPr/>
        </p:nvSpPr>
        <p:spPr>
          <a:xfrm>
            <a:off x="6340209" y="619123"/>
            <a:ext cx="5263561" cy="491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GESTIÓN TECNOLÓGICA</a:t>
            </a:r>
          </a:p>
        </p:txBody>
      </p:sp>
    </p:spTree>
    <p:extLst>
      <p:ext uri="{BB962C8B-B14F-4D97-AF65-F5344CB8AC3E}">
        <p14:creationId xmlns:p14="http://schemas.microsoft.com/office/powerpoint/2010/main" val="2815080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500D9AC-C61D-CA2B-93ED-14DCE16EF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381" y="1210729"/>
            <a:ext cx="4841281" cy="291733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C9BD045-A8C5-71FF-F5C0-36EB745D8332}"/>
              </a:ext>
            </a:extLst>
          </p:cNvPr>
          <p:cNvSpPr/>
          <p:nvPr/>
        </p:nvSpPr>
        <p:spPr>
          <a:xfrm>
            <a:off x="7787709" y="1279443"/>
            <a:ext cx="3554744" cy="578099"/>
          </a:xfrm>
          <a:prstGeom prst="roundRect">
            <a:avLst>
              <a:gd name="adj" fmla="val 50000"/>
            </a:avLst>
          </a:prstGeom>
          <a:solidFill>
            <a:srgbClr val="2334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3175" lvl="0" indent="0" algn="ctr" defTabSz="914400" rtl="0" eaLnBrk="1" fontAlgn="auto" latinLnBrk="0" hangingPunct="1">
              <a:lnSpc>
                <a:spcPts val="2368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Aplicaciones Web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7616DB7-1520-56CB-9171-AA69C957CD12}"/>
              </a:ext>
            </a:extLst>
          </p:cNvPr>
          <p:cNvSpPr/>
          <p:nvPr/>
        </p:nvSpPr>
        <p:spPr>
          <a:xfrm>
            <a:off x="-9357" y="2962026"/>
            <a:ext cx="3216798" cy="578099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3175" lvl="0" indent="0" algn="ctr" defTabSz="914400" rtl="0" eaLnBrk="1" fontAlgn="auto" latinLnBrk="0" hangingPunct="1">
              <a:lnSpc>
                <a:spcPts val="2368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Plataformas y herramientas  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D2F55B4-1DEA-C7EC-2972-EDAF4E6945C9}"/>
              </a:ext>
            </a:extLst>
          </p:cNvPr>
          <p:cNvSpPr/>
          <p:nvPr/>
        </p:nvSpPr>
        <p:spPr>
          <a:xfrm>
            <a:off x="2421558" y="161612"/>
            <a:ext cx="8496127" cy="448192"/>
          </a:xfrm>
          <a:prstGeom prst="rect">
            <a:avLst/>
          </a:prstGeom>
        </p:spPr>
        <p:txBody>
          <a:bodyPr vert="horz" wrap="square" lIns="0" tIns="78097" rIns="0" bIns="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b="1">
                <a:solidFill>
                  <a:srgbClr val="002060"/>
                </a:solidFill>
                <a:latin typeface="Raleway"/>
              </a:rPr>
              <a:t>CAMPUS VIRTUAL 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FC56013-3D6D-D2A4-B10C-7C6E0893184C}"/>
              </a:ext>
            </a:extLst>
          </p:cNvPr>
          <p:cNvSpPr/>
          <p:nvPr/>
        </p:nvSpPr>
        <p:spPr>
          <a:xfrm>
            <a:off x="1600500" y="739537"/>
            <a:ext cx="10138244" cy="37780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889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/>
                <a:ea typeface="Calibri Light"/>
                <a:cs typeface="Calibri Light"/>
              </a:rPr>
              <a:t>El ingreso al campus virtual es personalizado para que </a:t>
            </a:r>
            <a:r>
              <a:rPr lang="es-MX" sz="2000">
                <a:solidFill>
                  <a:srgbClr val="002060"/>
                </a:solidFill>
                <a:latin typeface="Aptos Display"/>
                <a:ea typeface="Calibri Light"/>
                <a:cs typeface="Calibri Light"/>
              </a:rPr>
              <a:t>acceda</a:t>
            </a: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 Display"/>
                <a:ea typeface="Calibri Light"/>
                <a:cs typeface="Calibri Light"/>
              </a:rPr>
              <a:t> de manera segura.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0997527-0427-1452-38D4-54A98D396911}"/>
              </a:ext>
            </a:extLst>
          </p:cNvPr>
          <p:cNvSpPr/>
          <p:nvPr/>
        </p:nvSpPr>
        <p:spPr>
          <a:xfrm>
            <a:off x="7469592" y="4091420"/>
            <a:ext cx="2272158" cy="468025"/>
          </a:xfrm>
          <a:prstGeom prst="roundRect">
            <a:avLst>
              <a:gd name="adj" fmla="val 50000"/>
            </a:avLst>
          </a:prstGeom>
          <a:solidFill>
            <a:srgbClr val="95C11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89BA640-DCA6-341A-1362-1D7D0075F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38" y="4175724"/>
            <a:ext cx="4841282" cy="254167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1E8B25B-04BD-7432-6989-2D33192D2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695" y="2138994"/>
            <a:ext cx="340186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07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9C55-F2A3-05D3-FFBA-51039A8C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4C471BD5-E293-CE5C-E78A-F6C7D52E9F7F}"/>
              </a:ext>
            </a:extLst>
          </p:cNvPr>
          <p:cNvSpPr txBox="1"/>
          <p:nvPr/>
        </p:nvSpPr>
        <p:spPr>
          <a:xfrm>
            <a:off x="2185905" y="163331"/>
            <a:ext cx="969012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800" b="1">
                <a:solidFill>
                  <a:srgbClr val="002060"/>
                </a:solidFill>
                <a:latin typeface="Poppins"/>
                <a:cs typeface="Poppins"/>
              </a:rPr>
              <a:t>Soporte técnico virtual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26CAA-F0B5-B65C-829F-DD25D501CFFE}"/>
              </a:ext>
            </a:extLst>
          </p:cNvPr>
          <p:cNvSpPr/>
          <p:nvPr/>
        </p:nvSpPr>
        <p:spPr>
          <a:xfrm>
            <a:off x="1849760" y="686551"/>
            <a:ext cx="10206773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 plataforma de soporte técnico brinda a tención a toda la comunidad académica.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3BF49-8497-3078-FC17-58185AD23E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2" t="15911" r="20543" b="6989"/>
          <a:stretch>
            <a:fillRect/>
          </a:stretch>
        </p:blipFill>
        <p:spPr>
          <a:xfrm>
            <a:off x="1691970" y="1188436"/>
            <a:ext cx="6363452" cy="46523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E6C8-20F8-F13C-8DAF-3A4B49E0CABE}"/>
              </a:ext>
            </a:extLst>
          </p:cNvPr>
          <p:cNvSpPr txBox="1"/>
          <p:nvPr/>
        </p:nvSpPr>
        <p:spPr>
          <a:xfrm>
            <a:off x="7027774" y="3080425"/>
            <a:ext cx="470445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b="1">
                <a:latin typeface="Calibri"/>
                <a:ea typeface="Calibri"/>
                <a:cs typeface="Calibri"/>
              </a:rPr>
              <a:t>Casos atendidos en posgrados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CO">
                <a:latin typeface="Calibri"/>
                <a:ea typeface="Calibri"/>
                <a:cs typeface="Calibri"/>
              </a:rPr>
              <a:t>608</a:t>
            </a:r>
            <a:endParaRPr lang="en-US">
              <a:ea typeface="Calibri"/>
              <a:cs typeface="Calibri"/>
            </a:endParaRPr>
          </a:p>
          <a:p>
            <a:pPr algn="ctr"/>
            <a:endParaRPr lang="es-CO" b="1">
              <a:ea typeface="Calibri"/>
              <a:cs typeface="Calibri"/>
            </a:endParaRPr>
          </a:p>
          <a:p>
            <a:pPr algn="ctr"/>
            <a:r>
              <a:rPr lang="es-CO" b="1">
                <a:latin typeface="Calibri"/>
                <a:ea typeface="Calibri"/>
                <a:cs typeface="Calibri"/>
              </a:rPr>
              <a:t>Casos atendidos desde 2024 para la maestría</a:t>
            </a:r>
            <a:endParaRPr lang="es-CO">
              <a:ea typeface="Calibri"/>
              <a:cs typeface="Calibri"/>
            </a:endParaRPr>
          </a:p>
          <a:p>
            <a:pPr algn="ctr"/>
            <a:r>
              <a:rPr lang="es-CO">
                <a:latin typeface="Calibri"/>
                <a:ea typeface="Calibri"/>
                <a:cs typeface="Calibri"/>
              </a:rPr>
              <a:t>77</a:t>
            </a:r>
            <a:r>
              <a:rPr lang="es-CO" b="1">
                <a:latin typeface="Calibri"/>
                <a:ea typeface="Calibri"/>
                <a:cs typeface="Calibri"/>
              </a:rPr>
              <a:t> </a:t>
            </a:r>
          </a:p>
          <a:p>
            <a:pPr algn="ctr"/>
            <a:endParaRPr lang="es-CO" b="1">
              <a:ea typeface="Calibri"/>
              <a:cs typeface="Calibri"/>
            </a:endParaRPr>
          </a:p>
          <a:p>
            <a:pPr algn="ctr"/>
            <a:r>
              <a:rPr lang="es-CO" b="1">
                <a:latin typeface="Calibri"/>
                <a:ea typeface="Calibri"/>
                <a:cs typeface="Calibri"/>
              </a:rPr>
              <a:t>Adicional a la atención vía chat y correo electrónico.</a:t>
            </a:r>
            <a:endParaRPr lang="es-CO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257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F070-92A6-DFA9-72F0-10817F80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2F8DB6A5-4718-0B21-270D-55EAFF94F603}"/>
              </a:ext>
            </a:extLst>
          </p:cNvPr>
          <p:cNvSpPr txBox="1"/>
          <p:nvPr/>
        </p:nvSpPr>
        <p:spPr>
          <a:xfrm>
            <a:off x="2185905" y="163331"/>
            <a:ext cx="969012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800" b="1">
                <a:solidFill>
                  <a:srgbClr val="002060"/>
                </a:solidFill>
                <a:latin typeface="Poppins"/>
                <a:cs typeface="Poppins"/>
              </a:rPr>
              <a:t>Aulas virtuales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00D2A-E1F7-109D-CBB2-A8707F0D2CA0}"/>
              </a:ext>
            </a:extLst>
          </p:cNvPr>
          <p:cNvSpPr/>
          <p:nvPr/>
        </p:nvSpPr>
        <p:spPr>
          <a:xfrm>
            <a:off x="1849760" y="686551"/>
            <a:ext cx="10206773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 plataforma LMS de la universidad congrega tanto los programas de pregrado como de posgrado. 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45DC1E-C51F-DA33-AAEC-BB70DADC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07" r="13695" b="5672"/>
          <a:stretch>
            <a:fillRect/>
          </a:stretch>
        </p:blipFill>
        <p:spPr>
          <a:xfrm>
            <a:off x="2875471" y="1856352"/>
            <a:ext cx="7100459" cy="358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8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Straight Connector 10">
            <a:extLst>
              <a:ext uri="{FF2B5EF4-FFF2-40B4-BE49-F238E27FC236}">
                <a16:creationId xmlns:a16="http://schemas.microsoft.com/office/drawing/2014/main" id="{62B41553-F6D8-A348-385D-8CC79E2AEBA2}"/>
              </a:ext>
            </a:extLst>
          </p:cNvPr>
          <p:cNvCxnSpPr>
            <a:cxnSpLocks/>
          </p:cNvCxnSpPr>
          <p:nvPr/>
        </p:nvCxnSpPr>
        <p:spPr>
          <a:xfrm flipV="1">
            <a:off x="2110221" y="3562208"/>
            <a:ext cx="0" cy="599028"/>
          </a:xfrm>
          <a:prstGeom prst="line">
            <a:avLst/>
          </a:prstGeom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1">
            <a:extLst>
              <a:ext uri="{FF2B5EF4-FFF2-40B4-BE49-F238E27FC236}">
                <a16:creationId xmlns:a16="http://schemas.microsoft.com/office/drawing/2014/main" id="{9DA29E7F-F7F9-358F-8B50-CEE18C2FE1B9}"/>
              </a:ext>
            </a:extLst>
          </p:cNvPr>
          <p:cNvCxnSpPr>
            <a:cxnSpLocks/>
          </p:cNvCxnSpPr>
          <p:nvPr/>
        </p:nvCxnSpPr>
        <p:spPr>
          <a:xfrm flipV="1">
            <a:off x="4620665" y="3562208"/>
            <a:ext cx="0" cy="599028"/>
          </a:xfrm>
          <a:prstGeom prst="line">
            <a:avLst/>
          </a:prstGeom>
          <a:solidFill>
            <a:schemeClr val="accent3"/>
          </a:solidFill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2">
            <a:extLst>
              <a:ext uri="{FF2B5EF4-FFF2-40B4-BE49-F238E27FC236}">
                <a16:creationId xmlns:a16="http://schemas.microsoft.com/office/drawing/2014/main" id="{3A46A613-F2E8-CA3B-2414-DAE724D6A515}"/>
              </a:ext>
            </a:extLst>
          </p:cNvPr>
          <p:cNvCxnSpPr>
            <a:cxnSpLocks/>
          </p:cNvCxnSpPr>
          <p:nvPr/>
        </p:nvCxnSpPr>
        <p:spPr>
          <a:xfrm flipV="1">
            <a:off x="7131109" y="3562208"/>
            <a:ext cx="0" cy="599028"/>
          </a:xfrm>
          <a:prstGeom prst="line">
            <a:avLst/>
          </a:prstGeom>
          <a:solidFill>
            <a:schemeClr val="accent5"/>
          </a:solidFill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">
            <a:extLst>
              <a:ext uri="{FF2B5EF4-FFF2-40B4-BE49-F238E27FC236}">
                <a16:creationId xmlns:a16="http://schemas.microsoft.com/office/drawing/2014/main" id="{7BF12C8A-0A18-5589-075E-33862FB86FAC}"/>
              </a:ext>
            </a:extLst>
          </p:cNvPr>
          <p:cNvCxnSpPr>
            <a:cxnSpLocks/>
          </p:cNvCxnSpPr>
          <p:nvPr/>
        </p:nvCxnSpPr>
        <p:spPr>
          <a:xfrm flipH="1" flipV="1">
            <a:off x="3365443" y="2493565"/>
            <a:ext cx="1" cy="596932"/>
          </a:xfrm>
          <a:prstGeom prst="line">
            <a:avLst/>
          </a:prstGeom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4">
            <a:extLst>
              <a:ext uri="{FF2B5EF4-FFF2-40B4-BE49-F238E27FC236}">
                <a16:creationId xmlns:a16="http://schemas.microsoft.com/office/drawing/2014/main" id="{379056FC-F7A8-55BE-2F60-9E28F82BDB3D}"/>
              </a:ext>
            </a:extLst>
          </p:cNvPr>
          <p:cNvCxnSpPr>
            <a:cxnSpLocks/>
          </p:cNvCxnSpPr>
          <p:nvPr/>
        </p:nvCxnSpPr>
        <p:spPr>
          <a:xfrm flipV="1">
            <a:off x="5875887" y="2507058"/>
            <a:ext cx="0" cy="583439"/>
          </a:xfrm>
          <a:prstGeom prst="line">
            <a:avLst/>
          </a:prstGeom>
          <a:solidFill>
            <a:schemeClr val="accent4"/>
          </a:solidFill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5">
            <a:extLst>
              <a:ext uri="{FF2B5EF4-FFF2-40B4-BE49-F238E27FC236}">
                <a16:creationId xmlns:a16="http://schemas.microsoft.com/office/drawing/2014/main" id="{1C5A6578-F424-92FC-7529-DFF6AC7DEAFE}"/>
              </a:ext>
            </a:extLst>
          </p:cNvPr>
          <p:cNvCxnSpPr>
            <a:cxnSpLocks/>
          </p:cNvCxnSpPr>
          <p:nvPr/>
        </p:nvCxnSpPr>
        <p:spPr>
          <a:xfrm flipV="1">
            <a:off x="8386329" y="2507058"/>
            <a:ext cx="0" cy="583439"/>
          </a:xfrm>
          <a:prstGeom prst="line">
            <a:avLst/>
          </a:prstGeom>
          <a:solidFill>
            <a:schemeClr val="accent6"/>
          </a:solidFill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: Rounded Corners 16">
            <a:extLst>
              <a:ext uri="{FF2B5EF4-FFF2-40B4-BE49-F238E27FC236}">
                <a16:creationId xmlns:a16="http://schemas.microsoft.com/office/drawing/2014/main" id="{7F58E71A-5DB9-DC46-4EE3-62C6339BB546}"/>
              </a:ext>
            </a:extLst>
          </p:cNvPr>
          <p:cNvSpPr/>
          <p:nvPr/>
        </p:nvSpPr>
        <p:spPr>
          <a:xfrm>
            <a:off x="1728356" y="309049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/>
          </a:p>
        </p:txBody>
      </p:sp>
      <p:sp>
        <p:nvSpPr>
          <p:cNvPr id="143" name="Rectangle: Rounded Corners 17">
            <a:extLst>
              <a:ext uri="{FF2B5EF4-FFF2-40B4-BE49-F238E27FC236}">
                <a16:creationId xmlns:a16="http://schemas.microsoft.com/office/drawing/2014/main" id="{35F9679B-DB91-2878-C6AF-1000D64E3013}"/>
              </a:ext>
            </a:extLst>
          </p:cNvPr>
          <p:cNvSpPr/>
          <p:nvPr/>
        </p:nvSpPr>
        <p:spPr>
          <a:xfrm>
            <a:off x="2983578" y="309049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44" name="Rectangle: Rounded Corners 18">
            <a:extLst>
              <a:ext uri="{FF2B5EF4-FFF2-40B4-BE49-F238E27FC236}">
                <a16:creationId xmlns:a16="http://schemas.microsoft.com/office/drawing/2014/main" id="{BFA28FF6-FA11-8064-046C-61EA68683E1C}"/>
              </a:ext>
            </a:extLst>
          </p:cNvPr>
          <p:cNvSpPr/>
          <p:nvPr/>
        </p:nvSpPr>
        <p:spPr>
          <a:xfrm>
            <a:off x="4238799" y="309049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45" name="Rectangle: Rounded Corners 19">
            <a:extLst>
              <a:ext uri="{FF2B5EF4-FFF2-40B4-BE49-F238E27FC236}">
                <a16:creationId xmlns:a16="http://schemas.microsoft.com/office/drawing/2014/main" id="{D22B152E-44AA-A1EA-8801-ED79BAE5D058}"/>
              </a:ext>
            </a:extLst>
          </p:cNvPr>
          <p:cNvSpPr/>
          <p:nvPr/>
        </p:nvSpPr>
        <p:spPr>
          <a:xfrm>
            <a:off x="5494021" y="309049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/>
          </a:p>
        </p:txBody>
      </p:sp>
      <p:sp>
        <p:nvSpPr>
          <p:cNvPr id="146" name="Rectangle: Rounded Corners 20">
            <a:extLst>
              <a:ext uri="{FF2B5EF4-FFF2-40B4-BE49-F238E27FC236}">
                <a16:creationId xmlns:a16="http://schemas.microsoft.com/office/drawing/2014/main" id="{6D98B746-E8D0-CEE4-1CAE-2C85598086A1}"/>
              </a:ext>
            </a:extLst>
          </p:cNvPr>
          <p:cNvSpPr/>
          <p:nvPr/>
        </p:nvSpPr>
        <p:spPr>
          <a:xfrm>
            <a:off x="8004463" y="309049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/>
          </a:p>
        </p:txBody>
      </p:sp>
      <p:sp>
        <p:nvSpPr>
          <p:cNvPr id="147" name="Rectangle: Rounded Corners 21">
            <a:extLst>
              <a:ext uri="{FF2B5EF4-FFF2-40B4-BE49-F238E27FC236}">
                <a16:creationId xmlns:a16="http://schemas.microsoft.com/office/drawing/2014/main" id="{6CC58AAC-6DFA-2178-896E-697A4B4C243B}"/>
              </a:ext>
            </a:extLst>
          </p:cNvPr>
          <p:cNvSpPr/>
          <p:nvPr/>
        </p:nvSpPr>
        <p:spPr>
          <a:xfrm>
            <a:off x="6749243" y="309049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48" name="Freeform: Shape 22">
            <a:extLst>
              <a:ext uri="{FF2B5EF4-FFF2-40B4-BE49-F238E27FC236}">
                <a16:creationId xmlns:a16="http://schemas.microsoft.com/office/drawing/2014/main" id="{1D1684DC-16AB-5187-C9C7-44FE3E133C44}"/>
              </a:ext>
            </a:extLst>
          </p:cNvPr>
          <p:cNvSpPr/>
          <p:nvPr/>
        </p:nvSpPr>
        <p:spPr>
          <a:xfrm>
            <a:off x="2983578" y="3090496"/>
            <a:ext cx="763732" cy="236903"/>
          </a:xfrm>
          <a:custGeom>
            <a:avLst/>
            <a:gdLst>
              <a:gd name="connsiteX0" fmla="*/ 315872 w 1018309"/>
              <a:gd name="connsiteY0" fmla="*/ 0 h 315870"/>
              <a:gd name="connsiteX1" fmla="*/ 702437 w 1018309"/>
              <a:gd name="connsiteY1" fmla="*/ 0 h 315870"/>
              <a:gd name="connsiteX2" fmla="*/ 1011892 w 1018309"/>
              <a:gd name="connsiteY2" fmla="*/ 252213 h 315870"/>
              <a:gd name="connsiteX3" fmla="*/ 1018309 w 1018309"/>
              <a:gd name="connsiteY3" fmla="*/ 315870 h 315870"/>
              <a:gd name="connsiteX4" fmla="*/ 0 w 1018309"/>
              <a:gd name="connsiteY4" fmla="*/ 315870 h 315870"/>
              <a:gd name="connsiteX5" fmla="*/ 6417 w 1018309"/>
              <a:gd name="connsiteY5" fmla="*/ 252213 h 315870"/>
              <a:gd name="connsiteX6" fmla="*/ 315872 w 1018309"/>
              <a:gd name="connsiteY6" fmla="*/ 0 h 315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0">
                <a:moveTo>
                  <a:pt x="315872" y="0"/>
                </a:moveTo>
                <a:lnTo>
                  <a:pt x="702437" y="0"/>
                </a:lnTo>
                <a:cubicBezTo>
                  <a:pt x="855082" y="0"/>
                  <a:pt x="982438" y="108276"/>
                  <a:pt x="1011892" y="252213"/>
                </a:cubicBezTo>
                <a:lnTo>
                  <a:pt x="1018309" y="315870"/>
                </a:lnTo>
                <a:lnTo>
                  <a:pt x="0" y="315870"/>
                </a:lnTo>
                <a:lnTo>
                  <a:pt x="6417" y="252213"/>
                </a:lnTo>
                <a:cubicBezTo>
                  <a:pt x="35871" y="108276"/>
                  <a:pt x="163228" y="0"/>
                  <a:pt x="315872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49" name="Freeform: Shape 29">
            <a:extLst>
              <a:ext uri="{FF2B5EF4-FFF2-40B4-BE49-F238E27FC236}">
                <a16:creationId xmlns:a16="http://schemas.microsoft.com/office/drawing/2014/main" id="{38619218-4C26-F915-0E55-D11544234C25}"/>
              </a:ext>
            </a:extLst>
          </p:cNvPr>
          <p:cNvSpPr/>
          <p:nvPr/>
        </p:nvSpPr>
        <p:spPr>
          <a:xfrm>
            <a:off x="5494021" y="3090496"/>
            <a:ext cx="763732" cy="236903"/>
          </a:xfrm>
          <a:custGeom>
            <a:avLst/>
            <a:gdLst>
              <a:gd name="connsiteX0" fmla="*/ 315872 w 1018309"/>
              <a:gd name="connsiteY0" fmla="*/ 0 h 315870"/>
              <a:gd name="connsiteX1" fmla="*/ 702437 w 1018309"/>
              <a:gd name="connsiteY1" fmla="*/ 0 h 315870"/>
              <a:gd name="connsiteX2" fmla="*/ 1011892 w 1018309"/>
              <a:gd name="connsiteY2" fmla="*/ 252213 h 315870"/>
              <a:gd name="connsiteX3" fmla="*/ 1018309 w 1018309"/>
              <a:gd name="connsiteY3" fmla="*/ 315870 h 315870"/>
              <a:gd name="connsiteX4" fmla="*/ 0 w 1018309"/>
              <a:gd name="connsiteY4" fmla="*/ 315870 h 315870"/>
              <a:gd name="connsiteX5" fmla="*/ 6417 w 1018309"/>
              <a:gd name="connsiteY5" fmla="*/ 252213 h 315870"/>
              <a:gd name="connsiteX6" fmla="*/ 315872 w 1018309"/>
              <a:gd name="connsiteY6" fmla="*/ 0 h 315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0">
                <a:moveTo>
                  <a:pt x="315872" y="0"/>
                </a:moveTo>
                <a:lnTo>
                  <a:pt x="702437" y="0"/>
                </a:lnTo>
                <a:cubicBezTo>
                  <a:pt x="855082" y="0"/>
                  <a:pt x="982438" y="108276"/>
                  <a:pt x="1011892" y="252213"/>
                </a:cubicBezTo>
                <a:lnTo>
                  <a:pt x="1018309" y="315870"/>
                </a:lnTo>
                <a:lnTo>
                  <a:pt x="0" y="315870"/>
                </a:lnTo>
                <a:lnTo>
                  <a:pt x="6417" y="252213"/>
                </a:lnTo>
                <a:cubicBezTo>
                  <a:pt x="35872" y="108276"/>
                  <a:pt x="163228" y="0"/>
                  <a:pt x="315872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50" name="Freeform: Shape 30">
            <a:extLst>
              <a:ext uri="{FF2B5EF4-FFF2-40B4-BE49-F238E27FC236}">
                <a16:creationId xmlns:a16="http://schemas.microsoft.com/office/drawing/2014/main" id="{1A4D4C24-400F-628D-B120-3C292B0CF917}"/>
              </a:ext>
            </a:extLst>
          </p:cNvPr>
          <p:cNvSpPr/>
          <p:nvPr/>
        </p:nvSpPr>
        <p:spPr>
          <a:xfrm>
            <a:off x="8004463" y="3090496"/>
            <a:ext cx="763732" cy="236903"/>
          </a:xfrm>
          <a:custGeom>
            <a:avLst/>
            <a:gdLst>
              <a:gd name="connsiteX0" fmla="*/ 315872 w 1018309"/>
              <a:gd name="connsiteY0" fmla="*/ 0 h 315870"/>
              <a:gd name="connsiteX1" fmla="*/ 702437 w 1018309"/>
              <a:gd name="connsiteY1" fmla="*/ 0 h 315870"/>
              <a:gd name="connsiteX2" fmla="*/ 1011892 w 1018309"/>
              <a:gd name="connsiteY2" fmla="*/ 252213 h 315870"/>
              <a:gd name="connsiteX3" fmla="*/ 1018309 w 1018309"/>
              <a:gd name="connsiteY3" fmla="*/ 315870 h 315870"/>
              <a:gd name="connsiteX4" fmla="*/ 0 w 1018309"/>
              <a:gd name="connsiteY4" fmla="*/ 315870 h 315870"/>
              <a:gd name="connsiteX5" fmla="*/ 6417 w 1018309"/>
              <a:gd name="connsiteY5" fmla="*/ 252213 h 315870"/>
              <a:gd name="connsiteX6" fmla="*/ 315872 w 1018309"/>
              <a:gd name="connsiteY6" fmla="*/ 0 h 315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0">
                <a:moveTo>
                  <a:pt x="315872" y="0"/>
                </a:moveTo>
                <a:lnTo>
                  <a:pt x="702437" y="0"/>
                </a:lnTo>
                <a:cubicBezTo>
                  <a:pt x="855082" y="0"/>
                  <a:pt x="982438" y="108276"/>
                  <a:pt x="1011892" y="252213"/>
                </a:cubicBezTo>
                <a:lnTo>
                  <a:pt x="1018309" y="315870"/>
                </a:lnTo>
                <a:lnTo>
                  <a:pt x="0" y="315870"/>
                </a:lnTo>
                <a:lnTo>
                  <a:pt x="6417" y="252213"/>
                </a:lnTo>
                <a:cubicBezTo>
                  <a:pt x="35871" y="108276"/>
                  <a:pt x="163227" y="0"/>
                  <a:pt x="315872" y="0"/>
                </a:cubicBez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51" name="Freeform: Shape 33">
            <a:extLst>
              <a:ext uri="{FF2B5EF4-FFF2-40B4-BE49-F238E27FC236}">
                <a16:creationId xmlns:a16="http://schemas.microsoft.com/office/drawing/2014/main" id="{3D3EF7CC-FD03-383F-8F9C-0320E7C71283}"/>
              </a:ext>
            </a:extLst>
          </p:cNvPr>
          <p:cNvSpPr/>
          <p:nvPr/>
        </p:nvSpPr>
        <p:spPr>
          <a:xfrm>
            <a:off x="1728356" y="3327399"/>
            <a:ext cx="763732" cy="236906"/>
          </a:xfrm>
          <a:custGeom>
            <a:avLst/>
            <a:gdLst>
              <a:gd name="connsiteX0" fmla="*/ 0 w 1018309"/>
              <a:gd name="connsiteY0" fmla="*/ 0 h 315874"/>
              <a:gd name="connsiteX1" fmla="*/ 1018309 w 1018309"/>
              <a:gd name="connsiteY1" fmla="*/ 0 h 315874"/>
              <a:gd name="connsiteX2" fmla="*/ 1018309 w 1018309"/>
              <a:gd name="connsiteY2" fmla="*/ 2 h 315874"/>
              <a:gd name="connsiteX3" fmla="*/ 702437 w 1018309"/>
              <a:gd name="connsiteY3" fmla="*/ 315874 h 315874"/>
              <a:gd name="connsiteX4" fmla="*/ 315872 w 1018309"/>
              <a:gd name="connsiteY4" fmla="*/ 315874 h 315874"/>
              <a:gd name="connsiteX5" fmla="*/ 0 w 1018309"/>
              <a:gd name="connsiteY5" fmla="*/ 2 h 315874"/>
              <a:gd name="connsiteX6" fmla="*/ 0 w 1018309"/>
              <a:gd name="connsiteY6" fmla="*/ 0 h 31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4">
                <a:moveTo>
                  <a:pt x="0" y="0"/>
                </a:moveTo>
                <a:lnTo>
                  <a:pt x="1018309" y="0"/>
                </a:lnTo>
                <a:lnTo>
                  <a:pt x="1018309" y="2"/>
                </a:lnTo>
                <a:cubicBezTo>
                  <a:pt x="1018309" y="174453"/>
                  <a:pt x="876888" y="315874"/>
                  <a:pt x="702437" y="315874"/>
                </a:cubicBezTo>
                <a:lnTo>
                  <a:pt x="315872" y="315874"/>
                </a:lnTo>
                <a:cubicBezTo>
                  <a:pt x="141421" y="315874"/>
                  <a:pt x="0" y="174453"/>
                  <a:pt x="0" y="2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52" name="Freeform: Shape 34">
            <a:extLst>
              <a:ext uri="{FF2B5EF4-FFF2-40B4-BE49-F238E27FC236}">
                <a16:creationId xmlns:a16="http://schemas.microsoft.com/office/drawing/2014/main" id="{D54F27C8-EC2F-6621-9B05-64B49CE01FD3}"/>
              </a:ext>
            </a:extLst>
          </p:cNvPr>
          <p:cNvSpPr/>
          <p:nvPr/>
        </p:nvSpPr>
        <p:spPr>
          <a:xfrm>
            <a:off x="4238799" y="3327399"/>
            <a:ext cx="763732" cy="236906"/>
          </a:xfrm>
          <a:custGeom>
            <a:avLst/>
            <a:gdLst>
              <a:gd name="connsiteX0" fmla="*/ 0 w 1018309"/>
              <a:gd name="connsiteY0" fmla="*/ 0 h 315874"/>
              <a:gd name="connsiteX1" fmla="*/ 1018309 w 1018309"/>
              <a:gd name="connsiteY1" fmla="*/ 0 h 315874"/>
              <a:gd name="connsiteX2" fmla="*/ 1018309 w 1018309"/>
              <a:gd name="connsiteY2" fmla="*/ 2 h 315874"/>
              <a:gd name="connsiteX3" fmla="*/ 702437 w 1018309"/>
              <a:gd name="connsiteY3" fmla="*/ 315874 h 315874"/>
              <a:gd name="connsiteX4" fmla="*/ 315872 w 1018309"/>
              <a:gd name="connsiteY4" fmla="*/ 315874 h 315874"/>
              <a:gd name="connsiteX5" fmla="*/ 0 w 1018309"/>
              <a:gd name="connsiteY5" fmla="*/ 2 h 315874"/>
              <a:gd name="connsiteX6" fmla="*/ 0 w 1018309"/>
              <a:gd name="connsiteY6" fmla="*/ 0 h 31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4">
                <a:moveTo>
                  <a:pt x="0" y="0"/>
                </a:moveTo>
                <a:lnTo>
                  <a:pt x="1018309" y="0"/>
                </a:lnTo>
                <a:lnTo>
                  <a:pt x="1018309" y="2"/>
                </a:lnTo>
                <a:cubicBezTo>
                  <a:pt x="1018309" y="174453"/>
                  <a:pt x="876888" y="315874"/>
                  <a:pt x="702437" y="315874"/>
                </a:cubicBezTo>
                <a:lnTo>
                  <a:pt x="315872" y="315874"/>
                </a:lnTo>
                <a:cubicBezTo>
                  <a:pt x="141421" y="315874"/>
                  <a:pt x="0" y="174453"/>
                  <a:pt x="0" y="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153" name="Freeform: Shape 35">
            <a:extLst>
              <a:ext uri="{FF2B5EF4-FFF2-40B4-BE49-F238E27FC236}">
                <a16:creationId xmlns:a16="http://schemas.microsoft.com/office/drawing/2014/main" id="{85CE51B4-A0EA-523F-AB89-71DC1A8DAFA3}"/>
              </a:ext>
            </a:extLst>
          </p:cNvPr>
          <p:cNvSpPr/>
          <p:nvPr/>
        </p:nvSpPr>
        <p:spPr>
          <a:xfrm>
            <a:off x="6749243" y="3327399"/>
            <a:ext cx="763732" cy="236906"/>
          </a:xfrm>
          <a:custGeom>
            <a:avLst/>
            <a:gdLst>
              <a:gd name="connsiteX0" fmla="*/ 0 w 1018309"/>
              <a:gd name="connsiteY0" fmla="*/ 0 h 315874"/>
              <a:gd name="connsiteX1" fmla="*/ 1018309 w 1018309"/>
              <a:gd name="connsiteY1" fmla="*/ 0 h 315874"/>
              <a:gd name="connsiteX2" fmla="*/ 1018309 w 1018309"/>
              <a:gd name="connsiteY2" fmla="*/ 2 h 315874"/>
              <a:gd name="connsiteX3" fmla="*/ 702437 w 1018309"/>
              <a:gd name="connsiteY3" fmla="*/ 315874 h 315874"/>
              <a:gd name="connsiteX4" fmla="*/ 315872 w 1018309"/>
              <a:gd name="connsiteY4" fmla="*/ 315874 h 315874"/>
              <a:gd name="connsiteX5" fmla="*/ 0 w 1018309"/>
              <a:gd name="connsiteY5" fmla="*/ 2 h 315874"/>
              <a:gd name="connsiteX6" fmla="*/ 0 w 1018309"/>
              <a:gd name="connsiteY6" fmla="*/ 0 h 31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4">
                <a:moveTo>
                  <a:pt x="0" y="0"/>
                </a:moveTo>
                <a:lnTo>
                  <a:pt x="1018309" y="0"/>
                </a:lnTo>
                <a:lnTo>
                  <a:pt x="1018309" y="2"/>
                </a:lnTo>
                <a:cubicBezTo>
                  <a:pt x="1018309" y="174453"/>
                  <a:pt x="876888" y="315874"/>
                  <a:pt x="702437" y="315874"/>
                </a:cubicBezTo>
                <a:lnTo>
                  <a:pt x="315872" y="315874"/>
                </a:lnTo>
                <a:cubicBezTo>
                  <a:pt x="141421" y="315874"/>
                  <a:pt x="0" y="174453"/>
                  <a:pt x="0" y="2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cxnSp>
        <p:nvCxnSpPr>
          <p:cNvPr id="160" name="Straight Connector 65">
            <a:extLst>
              <a:ext uri="{FF2B5EF4-FFF2-40B4-BE49-F238E27FC236}">
                <a16:creationId xmlns:a16="http://schemas.microsoft.com/office/drawing/2014/main" id="{4F11267F-3E18-C41C-56B5-D7C986F06975}"/>
              </a:ext>
            </a:extLst>
          </p:cNvPr>
          <p:cNvCxnSpPr>
            <a:cxnSpLocks/>
          </p:cNvCxnSpPr>
          <p:nvPr/>
        </p:nvCxnSpPr>
        <p:spPr>
          <a:xfrm>
            <a:off x="2566382" y="3327401"/>
            <a:ext cx="342900" cy="0"/>
          </a:xfrm>
          <a:prstGeom prst="line">
            <a:avLst/>
          </a:prstGeom>
          <a:ln w="22225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66">
            <a:extLst>
              <a:ext uri="{FF2B5EF4-FFF2-40B4-BE49-F238E27FC236}">
                <a16:creationId xmlns:a16="http://schemas.microsoft.com/office/drawing/2014/main" id="{E1C168F0-F3F3-D7A2-069D-0BCEAF16A143}"/>
              </a:ext>
            </a:extLst>
          </p:cNvPr>
          <p:cNvCxnSpPr>
            <a:cxnSpLocks/>
          </p:cNvCxnSpPr>
          <p:nvPr/>
        </p:nvCxnSpPr>
        <p:spPr>
          <a:xfrm>
            <a:off x="3821604" y="3327401"/>
            <a:ext cx="342900" cy="0"/>
          </a:xfrm>
          <a:prstGeom prst="line">
            <a:avLst/>
          </a:prstGeom>
          <a:ln w="22225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67">
            <a:extLst>
              <a:ext uri="{FF2B5EF4-FFF2-40B4-BE49-F238E27FC236}">
                <a16:creationId xmlns:a16="http://schemas.microsoft.com/office/drawing/2014/main" id="{F03C1D98-93A1-2263-6BA9-86CDF46F2272}"/>
              </a:ext>
            </a:extLst>
          </p:cNvPr>
          <p:cNvCxnSpPr>
            <a:cxnSpLocks/>
          </p:cNvCxnSpPr>
          <p:nvPr/>
        </p:nvCxnSpPr>
        <p:spPr>
          <a:xfrm>
            <a:off x="5076826" y="3327401"/>
            <a:ext cx="342900" cy="0"/>
          </a:xfrm>
          <a:prstGeom prst="line">
            <a:avLst/>
          </a:prstGeom>
          <a:ln w="22225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68">
            <a:extLst>
              <a:ext uri="{FF2B5EF4-FFF2-40B4-BE49-F238E27FC236}">
                <a16:creationId xmlns:a16="http://schemas.microsoft.com/office/drawing/2014/main" id="{07DB221C-D82D-D79A-62B5-6804F4600A69}"/>
              </a:ext>
            </a:extLst>
          </p:cNvPr>
          <p:cNvCxnSpPr>
            <a:cxnSpLocks/>
          </p:cNvCxnSpPr>
          <p:nvPr/>
        </p:nvCxnSpPr>
        <p:spPr>
          <a:xfrm>
            <a:off x="6332048" y="3327401"/>
            <a:ext cx="342900" cy="0"/>
          </a:xfrm>
          <a:prstGeom prst="line">
            <a:avLst/>
          </a:prstGeom>
          <a:ln w="22225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69">
            <a:extLst>
              <a:ext uri="{FF2B5EF4-FFF2-40B4-BE49-F238E27FC236}">
                <a16:creationId xmlns:a16="http://schemas.microsoft.com/office/drawing/2014/main" id="{8C872277-A3B0-9197-B308-3768BADC27C1}"/>
              </a:ext>
            </a:extLst>
          </p:cNvPr>
          <p:cNvCxnSpPr>
            <a:cxnSpLocks/>
          </p:cNvCxnSpPr>
          <p:nvPr/>
        </p:nvCxnSpPr>
        <p:spPr>
          <a:xfrm>
            <a:off x="7587269" y="3327401"/>
            <a:ext cx="342900" cy="0"/>
          </a:xfrm>
          <a:prstGeom prst="line">
            <a:avLst/>
          </a:prstGeom>
          <a:ln w="22225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71">
            <a:extLst>
              <a:ext uri="{FF2B5EF4-FFF2-40B4-BE49-F238E27FC236}">
                <a16:creationId xmlns:a16="http://schemas.microsoft.com/office/drawing/2014/main" id="{2FE44B2A-8CE0-AFFE-E0EF-2484037CE90A}"/>
              </a:ext>
            </a:extLst>
          </p:cNvPr>
          <p:cNvCxnSpPr>
            <a:cxnSpLocks/>
          </p:cNvCxnSpPr>
          <p:nvPr/>
        </p:nvCxnSpPr>
        <p:spPr>
          <a:xfrm>
            <a:off x="8842489" y="3327401"/>
            <a:ext cx="342900" cy="0"/>
          </a:xfrm>
          <a:prstGeom prst="line">
            <a:avLst/>
          </a:prstGeom>
          <a:ln w="22225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72">
            <a:extLst>
              <a:ext uri="{FF2B5EF4-FFF2-40B4-BE49-F238E27FC236}">
                <a16:creationId xmlns:a16="http://schemas.microsoft.com/office/drawing/2014/main" id="{84ED9FDD-FBF0-AFB2-640F-6F36AA439943}"/>
              </a:ext>
            </a:extLst>
          </p:cNvPr>
          <p:cNvSpPr txBox="1"/>
          <p:nvPr/>
        </p:nvSpPr>
        <p:spPr>
          <a:xfrm>
            <a:off x="8059957" y="3142735"/>
            <a:ext cx="6527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n-US" b="1">
                <a:solidFill>
                  <a:srgbClr val="FFFFFF"/>
                </a:solidFill>
                <a:latin typeface="Calibri" panose="020F0502020204030204"/>
              </a:rPr>
              <a:t>2024</a:t>
            </a:r>
          </a:p>
        </p:txBody>
      </p:sp>
      <p:sp>
        <p:nvSpPr>
          <p:cNvPr id="168" name="TextBox 73">
            <a:extLst>
              <a:ext uri="{FF2B5EF4-FFF2-40B4-BE49-F238E27FC236}">
                <a16:creationId xmlns:a16="http://schemas.microsoft.com/office/drawing/2014/main" id="{CC493B1D-9E88-6020-DE44-EEFFD5E354AE}"/>
              </a:ext>
            </a:extLst>
          </p:cNvPr>
          <p:cNvSpPr txBox="1"/>
          <p:nvPr/>
        </p:nvSpPr>
        <p:spPr>
          <a:xfrm>
            <a:off x="6804737" y="3142735"/>
            <a:ext cx="65274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2022</a:t>
            </a:r>
          </a:p>
        </p:txBody>
      </p:sp>
      <p:sp>
        <p:nvSpPr>
          <p:cNvPr id="169" name="TextBox 74">
            <a:extLst>
              <a:ext uri="{FF2B5EF4-FFF2-40B4-BE49-F238E27FC236}">
                <a16:creationId xmlns:a16="http://schemas.microsoft.com/office/drawing/2014/main" id="{A716A5AE-C859-F7EC-01EE-C4181D768B03}"/>
              </a:ext>
            </a:extLst>
          </p:cNvPr>
          <p:cNvSpPr txBox="1"/>
          <p:nvPr/>
        </p:nvSpPr>
        <p:spPr>
          <a:xfrm>
            <a:off x="5549513" y="3142735"/>
            <a:ext cx="6527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n-US" b="1">
                <a:solidFill>
                  <a:srgbClr val="FFFFFF"/>
                </a:solidFill>
                <a:latin typeface="Calibri" panose="020F0502020204030204"/>
              </a:rPr>
              <a:t>2021</a:t>
            </a:r>
          </a:p>
        </p:txBody>
      </p:sp>
      <p:sp>
        <p:nvSpPr>
          <p:cNvPr id="170" name="TextBox 75">
            <a:extLst>
              <a:ext uri="{FF2B5EF4-FFF2-40B4-BE49-F238E27FC236}">
                <a16:creationId xmlns:a16="http://schemas.microsoft.com/office/drawing/2014/main" id="{D21C15B7-D14A-B241-AE11-A023DA602703}"/>
              </a:ext>
            </a:extLst>
          </p:cNvPr>
          <p:cNvSpPr txBox="1"/>
          <p:nvPr/>
        </p:nvSpPr>
        <p:spPr>
          <a:xfrm>
            <a:off x="4294292" y="3142735"/>
            <a:ext cx="6527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kern="1200" cap="none" spc="0" normalizeH="0" baseline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2020</a:t>
            </a:r>
          </a:p>
        </p:txBody>
      </p:sp>
      <p:sp>
        <p:nvSpPr>
          <p:cNvPr id="171" name="TextBox 76">
            <a:extLst>
              <a:ext uri="{FF2B5EF4-FFF2-40B4-BE49-F238E27FC236}">
                <a16:creationId xmlns:a16="http://schemas.microsoft.com/office/drawing/2014/main" id="{1A7336D4-8E9B-2BB5-2012-7DE64B95634F}"/>
              </a:ext>
            </a:extLst>
          </p:cNvPr>
          <p:cNvSpPr txBox="1"/>
          <p:nvPr/>
        </p:nvSpPr>
        <p:spPr>
          <a:xfrm>
            <a:off x="3039071" y="3142735"/>
            <a:ext cx="6527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2018</a:t>
            </a:r>
          </a:p>
        </p:txBody>
      </p:sp>
      <p:sp>
        <p:nvSpPr>
          <p:cNvPr id="172" name="TextBox 77">
            <a:extLst>
              <a:ext uri="{FF2B5EF4-FFF2-40B4-BE49-F238E27FC236}">
                <a16:creationId xmlns:a16="http://schemas.microsoft.com/office/drawing/2014/main" id="{3289008A-82C9-292F-1F64-E5F4B6A28581}"/>
              </a:ext>
            </a:extLst>
          </p:cNvPr>
          <p:cNvSpPr txBox="1"/>
          <p:nvPr/>
        </p:nvSpPr>
        <p:spPr>
          <a:xfrm>
            <a:off x="1783850" y="3142735"/>
            <a:ext cx="6527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n-US" b="1">
                <a:solidFill>
                  <a:srgbClr val="FFFFFF"/>
                </a:solidFill>
                <a:latin typeface="Calibri" panose="020F0502020204030204"/>
              </a:rPr>
              <a:t>2017</a:t>
            </a:r>
          </a:p>
        </p:txBody>
      </p:sp>
      <p:cxnSp>
        <p:nvCxnSpPr>
          <p:cNvPr id="195" name="Straight Connector 15">
            <a:extLst>
              <a:ext uri="{FF2B5EF4-FFF2-40B4-BE49-F238E27FC236}">
                <a16:creationId xmlns:a16="http://schemas.microsoft.com/office/drawing/2014/main" id="{8111F5CA-7439-EE22-3019-84123BBE6D6B}"/>
              </a:ext>
            </a:extLst>
          </p:cNvPr>
          <p:cNvCxnSpPr>
            <a:cxnSpLocks/>
          </p:cNvCxnSpPr>
          <p:nvPr/>
        </p:nvCxnSpPr>
        <p:spPr>
          <a:xfrm flipV="1">
            <a:off x="9615054" y="3516708"/>
            <a:ext cx="0" cy="583439"/>
          </a:xfrm>
          <a:prstGeom prst="line">
            <a:avLst/>
          </a:prstGeom>
          <a:solidFill>
            <a:schemeClr val="accent6"/>
          </a:solidFill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: Rounded Corners 20">
            <a:extLst>
              <a:ext uri="{FF2B5EF4-FFF2-40B4-BE49-F238E27FC236}">
                <a16:creationId xmlns:a16="http://schemas.microsoft.com/office/drawing/2014/main" id="{F3FDBEDD-2F20-8D50-82ED-4C4DD6536073}"/>
              </a:ext>
            </a:extLst>
          </p:cNvPr>
          <p:cNvSpPr/>
          <p:nvPr/>
        </p:nvSpPr>
        <p:spPr>
          <a:xfrm>
            <a:off x="9223663" y="307144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/>
          </a:p>
        </p:txBody>
      </p:sp>
      <p:sp>
        <p:nvSpPr>
          <p:cNvPr id="197" name="Freeform: Shape 30">
            <a:extLst>
              <a:ext uri="{FF2B5EF4-FFF2-40B4-BE49-F238E27FC236}">
                <a16:creationId xmlns:a16="http://schemas.microsoft.com/office/drawing/2014/main" id="{85CAD02D-ACCC-8327-6F13-C172982CA42B}"/>
              </a:ext>
            </a:extLst>
          </p:cNvPr>
          <p:cNvSpPr/>
          <p:nvPr/>
        </p:nvSpPr>
        <p:spPr>
          <a:xfrm>
            <a:off x="9223663" y="3071446"/>
            <a:ext cx="763732" cy="236903"/>
          </a:xfrm>
          <a:custGeom>
            <a:avLst/>
            <a:gdLst>
              <a:gd name="connsiteX0" fmla="*/ 315872 w 1018309"/>
              <a:gd name="connsiteY0" fmla="*/ 0 h 315870"/>
              <a:gd name="connsiteX1" fmla="*/ 702437 w 1018309"/>
              <a:gd name="connsiteY1" fmla="*/ 0 h 315870"/>
              <a:gd name="connsiteX2" fmla="*/ 1011892 w 1018309"/>
              <a:gd name="connsiteY2" fmla="*/ 252213 h 315870"/>
              <a:gd name="connsiteX3" fmla="*/ 1018309 w 1018309"/>
              <a:gd name="connsiteY3" fmla="*/ 315870 h 315870"/>
              <a:gd name="connsiteX4" fmla="*/ 0 w 1018309"/>
              <a:gd name="connsiteY4" fmla="*/ 315870 h 315870"/>
              <a:gd name="connsiteX5" fmla="*/ 6417 w 1018309"/>
              <a:gd name="connsiteY5" fmla="*/ 252213 h 315870"/>
              <a:gd name="connsiteX6" fmla="*/ 315872 w 1018309"/>
              <a:gd name="connsiteY6" fmla="*/ 0 h 315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0">
                <a:moveTo>
                  <a:pt x="315872" y="0"/>
                </a:moveTo>
                <a:lnTo>
                  <a:pt x="702437" y="0"/>
                </a:lnTo>
                <a:cubicBezTo>
                  <a:pt x="855082" y="0"/>
                  <a:pt x="982438" y="108276"/>
                  <a:pt x="1011892" y="252213"/>
                </a:cubicBezTo>
                <a:lnTo>
                  <a:pt x="1018309" y="315870"/>
                </a:lnTo>
                <a:lnTo>
                  <a:pt x="0" y="315870"/>
                </a:lnTo>
                <a:lnTo>
                  <a:pt x="6417" y="252213"/>
                </a:lnTo>
                <a:cubicBezTo>
                  <a:pt x="35871" y="108276"/>
                  <a:pt x="163227" y="0"/>
                  <a:pt x="315872" y="0"/>
                </a:cubicBez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cxnSp>
        <p:nvCxnSpPr>
          <p:cNvPr id="198" name="Straight Connector 71">
            <a:extLst>
              <a:ext uri="{FF2B5EF4-FFF2-40B4-BE49-F238E27FC236}">
                <a16:creationId xmlns:a16="http://schemas.microsoft.com/office/drawing/2014/main" id="{3B9BF8DA-6387-7D01-0BD2-6C2D19BA4AA8}"/>
              </a:ext>
            </a:extLst>
          </p:cNvPr>
          <p:cNvCxnSpPr>
            <a:cxnSpLocks/>
          </p:cNvCxnSpPr>
          <p:nvPr/>
        </p:nvCxnSpPr>
        <p:spPr>
          <a:xfrm>
            <a:off x="10061689" y="3308351"/>
            <a:ext cx="342900" cy="0"/>
          </a:xfrm>
          <a:prstGeom prst="line">
            <a:avLst/>
          </a:prstGeom>
          <a:ln w="22225" cap="rnd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72">
            <a:extLst>
              <a:ext uri="{FF2B5EF4-FFF2-40B4-BE49-F238E27FC236}">
                <a16:creationId xmlns:a16="http://schemas.microsoft.com/office/drawing/2014/main" id="{576BACF3-E75C-1B60-7847-F2405AE04F30}"/>
              </a:ext>
            </a:extLst>
          </p:cNvPr>
          <p:cNvSpPr txBox="1"/>
          <p:nvPr/>
        </p:nvSpPr>
        <p:spPr>
          <a:xfrm>
            <a:off x="9279157" y="3123685"/>
            <a:ext cx="6527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n-US" b="1">
                <a:solidFill>
                  <a:srgbClr val="FFFFFF"/>
                </a:solidFill>
                <a:latin typeface="Calibri" panose="020F0502020204030204"/>
              </a:rPr>
              <a:t>2025</a:t>
            </a:r>
          </a:p>
        </p:txBody>
      </p:sp>
      <p:cxnSp>
        <p:nvCxnSpPr>
          <p:cNvPr id="200" name="Straight Connector 15">
            <a:extLst>
              <a:ext uri="{FF2B5EF4-FFF2-40B4-BE49-F238E27FC236}">
                <a16:creationId xmlns:a16="http://schemas.microsoft.com/office/drawing/2014/main" id="{A80E5126-48E8-3493-54A8-766DD3B0E39D}"/>
              </a:ext>
            </a:extLst>
          </p:cNvPr>
          <p:cNvCxnSpPr>
            <a:cxnSpLocks/>
          </p:cNvCxnSpPr>
          <p:nvPr/>
        </p:nvCxnSpPr>
        <p:spPr>
          <a:xfrm flipV="1">
            <a:off x="10841663" y="2481658"/>
            <a:ext cx="0" cy="583439"/>
          </a:xfrm>
          <a:prstGeom prst="line">
            <a:avLst/>
          </a:prstGeom>
          <a:solidFill>
            <a:schemeClr val="accent6"/>
          </a:solidFill>
          <a:ln w="28575" cap="rnd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: Rounded Corners 20">
            <a:extLst>
              <a:ext uri="{FF2B5EF4-FFF2-40B4-BE49-F238E27FC236}">
                <a16:creationId xmlns:a16="http://schemas.microsoft.com/office/drawing/2014/main" id="{F455006E-E1B0-F92F-860F-97FFBC192FFF}"/>
              </a:ext>
            </a:extLst>
          </p:cNvPr>
          <p:cNvSpPr/>
          <p:nvPr/>
        </p:nvSpPr>
        <p:spPr>
          <a:xfrm>
            <a:off x="10459797" y="3065097"/>
            <a:ext cx="763732" cy="4738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/>
          </a:p>
        </p:txBody>
      </p:sp>
      <p:sp>
        <p:nvSpPr>
          <p:cNvPr id="202" name="Freeform: Shape 30">
            <a:extLst>
              <a:ext uri="{FF2B5EF4-FFF2-40B4-BE49-F238E27FC236}">
                <a16:creationId xmlns:a16="http://schemas.microsoft.com/office/drawing/2014/main" id="{405C866B-71E3-9E0F-FAD2-6177C18F5093}"/>
              </a:ext>
            </a:extLst>
          </p:cNvPr>
          <p:cNvSpPr/>
          <p:nvPr/>
        </p:nvSpPr>
        <p:spPr>
          <a:xfrm>
            <a:off x="10459797" y="3065096"/>
            <a:ext cx="763732" cy="236903"/>
          </a:xfrm>
          <a:custGeom>
            <a:avLst/>
            <a:gdLst>
              <a:gd name="connsiteX0" fmla="*/ 315872 w 1018309"/>
              <a:gd name="connsiteY0" fmla="*/ 0 h 315870"/>
              <a:gd name="connsiteX1" fmla="*/ 702437 w 1018309"/>
              <a:gd name="connsiteY1" fmla="*/ 0 h 315870"/>
              <a:gd name="connsiteX2" fmla="*/ 1011892 w 1018309"/>
              <a:gd name="connsiteY2" fmla="*/ 252213 h 315870"/>
              <a:gd name="connsiteX3" fmla="*/ 1018309 w 1018309"/>
              <a:gd name="connsiteY3" fmla="*/ 315870 h 315870"/>
              <a:gd name="connsiteX4" fmla="*/ 0 w 1018309"/>
              <a:gd name="connsiteY4" fmla="*/ 315870 h 315870"/>
              <a:gd name="connsiteX5" fmla="*/ 6417 w 1018309"/>
              <a:gd name="connsiteY5" fmla="*/ 252213 h 315870"/>
              <a:gd name="connsiteX6" fmla="*/ 315872 w 1018309"/>
              <a:gd name="connsiteY6" fmla="*/ 0 h 315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8309" h="315870">
                <a:moveTo>
                  <a:pt x="315872" y="0"/>
                </a:moveTo>
                <a:lnTo>
                  <a:pt x="702437" y="0"/>
                </a:lnTo>
                <a:cubicBezTo>
                  <a:pt x="855082" y="0"/>
                  <a:pt x="982438" y="108276"/>
                  <a:pt x="1011892" y="252213"/>
                </a:cubicBezTo>
                <a:lnTo>
                  <a:pt x="1018309" y="315870"/>
                </a:lnTo>
                <a:lnTo>
                  <a:pt x="0" y="315870"/>
                </a:lnTo>
                <a:lnTo>
                  <a:pt x="6417" y="252213"/>
                </a:lnTo>
                <a:cubicBezTo>
                  <a:pt x="35871" y="108276"/>
                  <a:pt x="163227" y="0"/>
                  <a:pt x="315872" y="0"/>
                </a:cubicBez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203" name="TextBox 72">
            <a:extLst>
              <a:ext uri="{FF2B5EF4-FFF2-40B4-BE49-F238E27FC236}">
                <a16:creationId xmlns:a16="http://schemas.microsoft.com/office/drawing/2014/main" id="{DF5ED5E3-052E-294C-4D48-6D4052A1AFE7}"/>
              </a:ext>
            </a:extLst>
          </p:cNvPr>
          <p:cNvSpPr txBox="1"/>
          <p:nvPr/>
        </p:nvSpPr>
        <p:spPr>
          <a:xfrm>
            <a:off x="10515291" y="3117335"/>
            <a:ext cx="6527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n-US" b="1">
                <a:solidFill>
                  <a:srgbClr val="FFFFFF"/>
                </a:solidFill>
                <a:latin typeface="Calibri" panose="020F0502020204030204"/>
              </a:rPr>
              <a:t>2026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6C9F143-56F5-3142-4E7A-E2B3B943503A}"/>
              </a:ext>
            </a:extLst>
          </p:cNvPr>
          <p:cNvSpPr txBox="1"/>
          <p:nvPr/>
        </p:nvSpPr>
        <p:spPr>
          <a:xfrm>
            <a:off x="1058334" y="4224865"/>
            <a:ext cx="2226733" cy="15696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Redes móviles celulares.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Desarrollo de software basado en componentes  y especificación arquitectural.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Seminario de investigación.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Infraestructura de datos espaciales.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Ingeniería de software. </a:t>
            </a:r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49739098-5A08-4D81-A48F-F5AE56A4FD5F}"/>
              </a:ext>
            </a:extLst>
          </p:cNvPr>
          <p:cNvSpPr txBox="1"/>
          <p:nvPr/>
        </p:nvSpPr>
        <p:spPr>
          <a:xfrm>
            <a:off x="2226733" y="1303865"/>
            <a:ext cx="1998133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Desarrollo de software basado en componentes y especificación arquitectural.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Métodos avanzados en análisis de imágenes.</a:t>
            </a: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9B1C604-028A-193C-5CAF-8CF93AE1079F}"/>
              </a:ext>
            </a:extLst>
          </p:cNvPr>
          <p:cNvSpPr txBox="1"/>
          <p:nvPr/>
        </p:nvSpPr>
        <p:spPr>
          <a:xfrm>
            <a:off x="3606800" y="4216399"/>
            <a:ext cx="1998133" cy="15696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Análisis espacial.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Comunicaciones.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Servicios geográficos web.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Bases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Base de datos espaciales.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200"/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7BB747EA-0210-6B8F-237F-B74387DEDF9F}"/>
              </a:ext>
            </a:extLst>
          </p:cNvPr>
          <p:cNvSpPr txBox="1"/>
          <p:nvPr/>
        </p:nvSpPr>
        <p:spPr>
          <a:xfrm>
            <a:off x="5046134" y="1498599"/>
            <a:ext cx="1998133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Elaboración de productos cartográficos y fotogramétrico.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Telemedicina y telesalud. </a:t>
            </a: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F5A2A95D-88A6-29FE-511E-892DFE22CFA3}"/>
              </a:ext>
            </a:extLst>
          </p:cNvPr>
          <p:cNvSpPr txBox="1"/>
          <p:nvPr/>
        </p:nvSpPr>
        <p:spPr>
          <a:xfrm>
            <a:off x="6358469" y="4216400"/>
            <a:ext cx="1667932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Ingeniería de software II</a:t>
            </a: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7B34D190-4051-B6E9-C007-D0E7571A444E}"/>
              </a:ext>
            </a:extLst>
          </p:cNvPr>
          <p:cNvSpPr txBox="1"/>
          <p:nvPr/>
        </p:nvSpPr>
        <p:spPr>
          <a:xfrm>
            <a:off x="7450667" y="1456267"/>
            <a:ext cx="1989667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Herramientas matemáticas para el manejo de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Informática.</a:t>
            </a: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22EFC84B-DE19-2DE8-9720-B0D4A8310658}"/>
              </a:ext>
            </a:extLst>
          </p:cNvPr>
          <p:cNvSpPr txBox="1"/>
          <p:nvPr/>
        </p:nvSpPr>
        <p:spPr>
          <a:xfrm>
            <a:off x="8644467" y="4089401"/>
            <a:ext cx="1989667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Estadística espacial.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Construcción y pruebas de software. </a:t>
            </a:r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9E976C5B-8BEE-B54B-2A28-8ED6CCF2917B}"/>
              </a:ext>
            </a:extLst>
          </p:cNvPr>
          <p:cNvSpPr txBox="1"/>
          <p:nvPr/>
        </p:nvSpPr>
        <p:spPr>
          <a:xfrm>
            <a:off x="9728201" y="1413935"/>
            <a:ext cx="2252134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Computación paralela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Tendencias en ingeniería de software.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/>
              <a:t>Sistemas de posicionamiento geodésico.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87A334-3984-1541-BC34-D2DD65983A24}"/>
              </a:ext>
            </a:extLst>
          </p:cNvPr>
          <p:cNvSpPr txBox="1"/>
          <p:nvPr/>
        </p:nvSpPr>
        <p:spPr>
          <a:xfrm>
            <a:off x="2492350" y="212853"/>
            <a:ext cx="8915585" cy="9694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MX" sz="1900" b="1">
                <a:solidFill>
                  <a:srgbClr val="002060"/>
                </a:solidFill>
                <a:latin typeface="Montserrat Black"/>
                <a:cs typeface="Poppins"/>
              </a:rPr>
              <a:t>TRAYECTORIA DEL PROGRAMA ACADÉMICO </a:t>
            </a:r>
            <a:r>
              <a:rPr lang="es-MX" sz="1900" b="1">
                <a:solidFill>
                  <a:srgbClr val="002060"/>
                </a:solidFill>
                <a:latin typeface="Montserrat Black"/>
                <a:ea typeface="Calibri"/>
                <a:cs typeface="Poppins"/>
              </a:rPr>
              <a:t>MAESTRÍA EN CIENCIAS DE LA INFORMACIÓN Y LAS COMUNICACIONES DE MODALIDAD PRESENCIAL CON EL APOYO DE LA VIRTUALIDAD </a:t>
            </a:r>
            <a:endParaRPr lang="es-MX" sz="1900"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E2766D-FD57-E19E-5DAD-7CB11D07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0" i="0" u="none" strike="noStrike" cap="none" normalizeH="0" baseline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Facultad de Ingeniería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94D1C19-5950-FEA8-E168-62AE4BF85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2" y="4963259"/>
            <a:ext cx="4755361" cy="179300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ED50299-FE27-FB07-0BE2-D230AF779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57" y="2928536"/>
            <a:ext cx="3261386" cy="19109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BB6877F-68AF-AB5A-08C0-B3D5592FA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518" y="939543"/>
            <a:ext cx="5063686" cy="248960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102DE67-AFC9-490D-DE05-53C8A7C64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038" y="3511281"/>
            <a:ext cx="4935448" cy="2411051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81F82B00-B78D-9120-5942-F4A1C3845218}"/>
              </a:ext>
            </a:extLst>
          </p:cNvPr>
          <p:cNvSpPr txBox="1"/>
          <p:nvPr/>
        </p:nvSpPr>
        <p:spPr>
          <a:xfrm>
            <a:off x="1636657" y="223024"/>
            <a:ext cx="969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Ambiente Virtual de Aprendizaje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D8664C2-B190-D597-35D9-950F1D612622}"/>
              </a:ext>
            </a:extLst>
          </p:cNvPr>
          <p:cNvSpPr/>
          <p:nvPr/>
        </p:nvSpPr>
        <p:spPr>
          <a:xfrm>
            <a:off x="7057958" y="743601"/>
            <a:ext cx="4946920" cy="206210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 creación de estas aulas virtuales, se realiza a partir de los siguientes momentos: </a:t>
            </a:r>
            <a:endParaRPr lang="es-ES" sz="16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Solicitud de la creación de las aulas. </a:t>
            </a:r>
          </a:p>
          <a:p>
            <a:pPr marL="342900" indent="-342900">
              <a:buAutoNum type="arabicPeriod"/>
            </a:pPr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Alistamiento de las aulas a partir del esqueleto de curso. </a:t>
            </a:r>
            <a:endParaRPr lang="es-MX" sz="1600">
              <a:solidFill>
                <a:srgbClr val="00206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Matriculación de usuarios (docentes y estudiantes)</a:t>
            </a:r>
            <a:endParaRPr lang="es-MX" sz="1600">
              <a:solidFill>
                <a:srgbClr val="00206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Capacitación a usuarios. </a:t>
            </a:r>
            <a:endParaRPr lang="es-MX" sz="1600">
              <a:solidFill>
                <a:srgbClr val="002060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Lanzamiento el curso. </a:t>
            </a:r>
            <a:endParaRPr lang="es-MX" sz="1600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0355-8C43-2149-3C49-662A0050E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C7E52B-207B-2218-2664-F3D571C1D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960" y="1112016"/>
            <a:ext cx="4969375" cy="24807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13FFA7B-6BFE-D15A-E1C1-7A40CF234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333" y="1244729"/>
            <a:ext cx="5105400" cy="252571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3D31DB-9247-84D4-EAA3-069FE8C54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106" y="4036798"/>
            <a:ext cx="5502670" cy="27178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D7369A1-D125-C0C6-1F23-0A7174CC3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335" y="4036798"/>
            <a:ext cx="5369396" cy="2690350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49D30E30-58CB-808F-BAC8-0A034BC98457}"/>
              </a:ext>
            </a:extLst>
          </p:cNvPr>
          <p:cNvSpPr txBox="1"/>
          <p:nvPr/>
        </p:nvSpPr>
        <p:spPr>
          <a:xfrm>
            <a:off x="1688065" y="0"/>
            <a:ext cx="9690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Ambiente Virtual de Aprendizaje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1B3E6E-9840-67AB-0AF5-1F174F31C592}"/>
              </a:ext>
            </a:extLst>
          </p:cNvPr>
          <p:cNvSpPr/>
          <p:nvPr/>
        </p:nvSpPr>
        <p:spPr>
          <a:xfrm>
            <a:off x="1798960" y="493308"/>
            <a:ext cx="10206773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6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 organización del curso responde a las unidades de formación. Adicionalmente, se vincula un espacio destinado para los encuentros sincrónicos de clase a través de la cuenta institucional de Teams. </a:t>
            </a:r>
          </a:p>
        </p:txBody>
      </p:sp>
    </p:spTree>
    <p:extLst>
      <p:ext uri="{BB962C8B-B14F-4D97-AF65-F5344CB8AC3E}">
        <p14:creationId xmlns:p14="http://schemas.microsoft.com/office/powerpoint/2010/main" val="293780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PRESENTACIONES  -  Modo de compatibilidad" id="{A26AC363-5CC9-42B4-9B1D-1CA3C1F394C1}" vid="{CD804E11-8059-44C7-A030-65C6AE20793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403A950870724FBC411EEB7EC1F630" ma:contentTypeVersion="15" ma:contentTypeDescription="Crear nuevo documento." ma:contentTypeScope="" ma:versionID="63b03aa587063051acbc8ff8b2fa0195">
  <xsd:schema xmlns:xsd="http://www.w3.org/2001/XMLSchema" xmlns:xs="http://www.w3.org/2001/XMLSchema" xmlns:p="http://schemas.microsoft.com/office/2006/metadata/properties" xmlns:ns3="1d885472-1b03-4c27-abea-e0b86428d9b9" xmlns:ns4="2d6b6581-d0cd-4f64-a2b3-c7ef1a89b301" targetNamespace="http://schemas.microsoft.com/office/2006/metadata/properties" ma:root="true" ma:fieldsID="73ffcc516c0bd4877f4938b207ba8988" ns3:_="" ns4:_="">
    <xsd:import namespace="1d885472-1b03-4c27-abea-e0b86428d9b9"/>
    <xsd:import namespace="2d6b6581-d0cd-4f64-a2b3-c7ef1a89b30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885472-1b03-4c27-abea-e0b86428d9b9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b6581-d0cd-4f64-a2b3-c7ef1a89b30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885472-1b03-4c27-abea-e0b86428d9b9" xsi:nil="true"/>
  </documentManagement>
</p:properties>
</file>

<file path=customXml/itemProps1.xml><?xml version="1.0" encoding="utf-8"?>
<ds:datastoreItem xmlns:ds="http://schemas.openxmlformats.org/officeDocument/2006/customXml" ds:itemID="{40E1B47A-8C75-4A46-A1BD-D34BFD7B27C2}">
  <ds:schemaRefs>
    <ds:schemaRef ds:uri="1d885472-1b03-4c27-abea-e0b86428d9b9"/>
    <ds:schemaRef ds:uri="2d6b6581-d0cd-4f64-a2b3-c7ef1a89b3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5959EB-1455-47D4-BB4F-E975995EA6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A5F984-7A66-4899-9AB7-28B5DB7E9254}">
  <ds:schemaRefs>
    <ds:schemaRef ds:uri="1d885472-1b03-4c27-abea-e0b86428d9b9"/>
    <ds:schemaRef ds:uri="2d6b6581-d0cd-4f64-a2b3-c7ef1a89b30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</Template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Tema de Office</vt:lpstr>
      <vt:lpstr>PowerPoint Presentation</vt:lpstr>
      <vt:lpstr>ESTRUCTURA VIRTUAL</vt:lpstr>
      <vt:lpstr>PowerPoint Presentation</vt:lpstr>
      <vt:lpstr>GESTIÓN PARA EL DISEÑO PEDAGÓGICO DE CURSOS</vt:lpstr>
      <vt:lpstr>PowerPoint Presentation</vt:lpstr>
      <vt:lpstr>PowerPoint Presentation</vt:lpstr>
      <vt:lpstr>PowerPoint Presentation</vt:lpstr>
      <vt:lpstr>GESTIÓN COMUNICATIVA </vt:lpstr>
      <vt:lpstr>PowerPoint Presentation</vt:lpstr>
      <vt:lpstr>GESTIÓN TECNÓLOGICA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ANGELICA MARIA AROCA PERDOMO</dc:creator>
  <cp:revision>4</cp:revision>
  <dcterms:created xsi:type="dcterms:W3CDTF">2026-09-21T14:07:39Z</dcterms:created>
  <dcterms:modified xsi:type="dcterms:W3CDTF">2026-09-24T15:41:08Z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0x01010001403A950870724FBC411EEB7EC1F630</vt:lpwstr>
  </property>
</Properties>
</file>