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93" r:id="rId2"/>
    <p:sldId id="295" r:id="rId3"/>
    <p:sldId id="300" r:id="rId4"/>
    <p:sldId id="301" r:id="rId5"/>
    <p:sldId id="303" r:id="rId6"/>
    <p:sldId id="296" r:id="rId7"/>
    <p:sldId id="297" r:id="rId8"/>
    <p:sldId id="294" r:id="rId9"/>
    <p:sldId id="298" r:id="rId10"/>
    <p:sldId id="299" r:id="rId11"/>
    <p:sldId id="302" r:id="rId12"/>
    <p:sldId id="304" r:id="rId13"/>
    <p:sldId id="305" r:id="rId14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E812A46-D2A9-9B66-8F7A-DA0994A8F6E5}" v="61" dt="2026-09-30T21:28:56.43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Estilo claro 1 - Acento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D27102A9-8310-4765-A935-A1911B00CA55}" styleName="Estilo claro 1 - Acento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8799B23B-EC83-4686-B30A-512413B5E67A}" styleName="Estilo claro 3 - Acento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7292A2E-F333-43FB-9621-5CBBE7FDCDCB}" styleName="Estilo claro 2 - Acento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Estilo cl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microsoft.com/office/2015/10/relationships/revisionInfo" Target="revisionInfo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FE4769-CD44-4358-8508-050195C6DAF0}" type="datetimeFigureOut">
              <a:t>01/10/2026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B55DB4-8117-4C41-9210-B50FEC348E71}" type="slidenum"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805656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3908432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88191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981744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397005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79029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523942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306586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823756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60449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36035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418632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150962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CC1534-9D13-43E9-BC8B-5694C28527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5746" y="308698"/>
            <a:ext cx="5238313" cy="853352"/>
          </a:xfrm>
        </p:spPr>
        <p:txBody>
          <a:bodyPr rtlCol="0">
            <a:noAutofit/>
          </a:bodyPr>
          <a:lstStyle>
            <a:lvl1pPr>
              <a:defRPr sz="2025" b="1"/>
            </a:lvl1pPr>
          </a:lstStyle>
          <a:p>
            <a:pPr rtl="0"/>
            <a:r>
              <a:rPr lang="es-ES" noProof="0"/>
              <a:t>HAGA CLIC PARA EDITAR EL ESTILO DEL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F63A8573-17E8-4191-86F9-ABE0BA279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824DA4B-6AA0-4965-A92B-6F540FC54C36}" type="datetime1">
              <a:rPr lang="es-ES" noProof="0" smtClean="0"/>
              <a:t>01/10/2026</a:t>
            </a:fld>
            <a:endParaRPr lang="es-ES" noProof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3D92FA6-D8B1-4403-B9DD-E60A4F3510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5" name="Marcador de posición de número de diapositiva 4">
            <a:extLst>
              <a:ext uri="{FF2B5EF4-FFF2-40B4-BE49-F238E27FC236}">
                <a16:creationId xmlns:a16="http://schemas.microsoft.com/office/drawing/2014/main" id="{70C2CB2D-6860-4817-B66C-9C44DC4CA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7966EA62-41C5-4F9A-A915-5B0BC739C923}" type="slidenum">
              <a:rPr lang="es-ES" noProof="0" smtClean="0"/>
              <a:t>‹Nº›</a:t>
            </a:fld>
            <a:endParaRPr lang="es-ES" noProof="0"/>
          </a:p>
        </p:txBody>
      </p:sp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183C82E0-1F49-4A07-A8B3-E2F2CBAC03B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95737" y="979487"/>
            <a:ext cx="3581400" cy="365126"/>
          </a:xfrm>
        </p:spPr>
        <p:txBody>
          <a:bodyPr rtlCol="0">
            <a:noAutofit/>
          </a:bodyPr>
          <a:lstStyle>
            <a:lvl1pPr marL="0" indent="0">
              <a:spcBef>
                <a:spcPts val="507"/>
              </a:spcBef>
              <a:buNone/>
              <a:defRPr sz="1125" b="1">
                <a:latin typeface="+mj-lt"/>
              </a:defRPr>
            </a:lvl1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2DC4173A-9EF2-4DB4-AE8D-0202037CB0D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5300" y="1543051"/>
            <a:ext cx="11353800" cy="4733925"/>
          </a:xfrm>
        </p:spPr>
        <p:txBody>
          <a:bodyPr rtlCol="0"/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423010877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771E8B-6CA5-40B2-8038-0E112F3DAC1C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33118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eg"/><Relationship Id="rId3" Type="http://schemas.openxmlformats.org/officeDocument/2006/relationships/image" Target="../media/image3.jpe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eg"/><Relationship Id="rId3" Type="http://schemas.openxmlformats.org/officeDocument/2006/relationships/image" Target="../media/image3.jpeg"/><Relationship Id="rId4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eg"/><Relationship Id="rId3" Type="http://schemas.openxmlformats.org/officeDocument/2006/relationships/image" Target="../media/image3.jpeg"/><Relationship Id="rId4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eg"/><Relationship Id="rId3" Type="http://schemas.openxmlformats.org/officeDocument/2006/relationships/image" Target="../media/image3.jpeg"/><Relationship Id="rId4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eg"/><Relationship Id="rId3" Type="http://schemas.openxmlformats.org/officeDocument/2006/relationships/image" Target="../media/image3.jpeg"/><Relationship Id="rId4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eg"/><Relationship Id="rId3" Type="http://schemas.openxmlformats.org/officeDocument/2006/relationships/image" Target="../media/image3.jpeg"/><Relationship Id="rId4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eg"/><Relationship Id="rId3" Type="http://schemas.openxmlformats.org/officeDocument/2006/relationships/image" Target="../media/image3.jpeg"/><Relationship Id="rId4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eg"/><Relationship Id="rId3" Type="http://schemas.openxmlformats.org/officeDocument/2006/relationships/image" Target="../media/image3.jpeg"/><Relationship Id="rId4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eg"/><Relationship Id="rId3" Type="http://schemas.openxmlformats.org/officeDocument/2006/relationships/image" Target="../media/image3.jpeg"/><Relationship Id="rId4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eg"/><Relationship Id="rId3" Type="http://schemas.openxmlformats.org/officeDocument/2006/relationships/image" Target="../media/image3.jpeg"/><Relationship Id="rId4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eg"/><Relationship Id="rId3" Type="http://schemas.openxmlformats.org/officeDocument/2006/relationships/image" Target="../media/image3.jpeg"/><Relationship Id="rId4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eg"/><Relationship Id="rId3" Type="http://schemas.openxmlformats.org/officeDocument/2006/relationships/image" Target="../media/image3.jpe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Marcador de contenido 5">
            <a:extLst>
              <a:ext uri="{FF2B5EF4-FFF2-40B4-BE49-F238E27FC236}">
                <a16:creationId xmlns:a16="http://schemas.microsoft.com/office/drawing/2014/main" id="{650B416D-C40D-8B73-EF64-A0A863A5C3D0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3">
            <a:alphaModFix amt="50000"/>
          </a:blip>
          <a:srcRect t="904" b="1693"/>
          <a:stretch/>
        </p:blipFill>
        <p:spPr>
          <a:xfrm>
            <a:off x="133068" y="1"/>
            <a:ext cx="12191980" cy="6857999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BEABCED7-F64C-081D-806A-525B5A51E2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476045"/>
            <a:ext cx="9144000" cy="290051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 defTabSz="914400"/>
            <a:r>
              <a:rPr lang="es-CO" sz="6000" noProof="0">
                <a:solidFill>
                  <a:srgbClr val="FFFFFF"/>
                </a:solidFill>
                <a:latin typeface="+mn-lt"/>
              </a:rPr>
              <a:t>LABORATORIOS FACULTAD DE INGENIERÍA 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F9FD763-CC85-BCE4-DC7F-F7075EBF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24000" y="5013450"/>
            <a:ext cx="9144000" cy="853980"/>
          </a:xfrm>
        </p:spPr>
        <p:txBody>
          <a:bodyPr vert="horz" lIns="91440" tIns="45720" rIns="91440" bIns="45720" rtlCol="0">
            <a:normAutofit fontScale="85000" lnSpcReduction="10000"/>
          </a:bodyPr>
          <a:lstStyle/>
          <a:p>
            <a:pPr algn="ctr" defTabSz="914400">
              <a:spcBef>
                <a:spcPts val="1000"/>
              </a:spcBef>
            </a:pPr>
            <a:r>
              <a:rPr lang="es-CO" sz="2400" noProof="0">
                <a:solidFill>
                  <a:srgbClr val="FFFFFF"/>
                </a:solidFill>
                <a:latin typeface="+mn-lt"/>
              </a:rPr>
              <a:t>Facultad de Ingeniería – Universidad Distrital Francisco José de Caldas</a:t>
            </a:r>
          </a:p>
          <a:p>
            <a:pPr algn="ctr">
              <a:spcBef>
                <a:spcPts val="1000"/>
              </a:spcBef>
            </a:pPr>
            <a:r>
              <a:rPr lang="es-CO" sz="2400">
                <a:solidFill>
                  <a:srgbClr val="FFFFFF"/>
                </a:solidFill>
                <a:latin typeface="+mn-lt"/>
              </a:rPr>
              <a:t>Software Maestría en Ciencias de la Información y las Comunicaciones</a:t>
            </a:r>
          </a:p>
        </p:txBody>
      </p:sp>
    </p:spTree>
    <p:extLst>
      <p:ext uri="{BB962C8B-B14F-4D97-AF65-F5344CB8AC3E}">
        <p14:creationId xmlns:p14="http://schemas.microsoft.com/office/powerpoint/2010/main" val="31896191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356DA8-9466-9A56-FB9F-248EF67371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Texto, Carta&#10;&#10;El contenido generado por IA puede ser incorrecto.">
            <a:extLst>
              <a:ext uri="{FF2B5EF4-FFF2-40B4-BE49-F238E27FC236}">
                <a16:creationId xmlns:a16="http://schemas.microsoft.com/office/drawing/2014/main" id="{2AED42CC-BD75-0C3F-EE3B-66A844CB219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3000"/>
          </a:blip>
          <a:stretch>
            <a:fillRect/>
          </a:stretch>
        </p:blipFill>
        <p:spPr>
          <a:xfrm>
            <a:off x="8464671" y="5359161"/>
            <a:ext cx="2940528" cy="1283719"/>
          </a:xfrm>
          <a:prstGeom prst="rect">
            <a:avLst/>
          </a:prstGeom>
        </p:spPr>
      </p:pic>
      <p:pic>
        <p:nvPicPr>
          <p:cNvPr id="8" name="Imagen 7" descr="Francisco Jose De Caldas Ingeniería">
            <a:extLst>
              <a:ext uri="{FF2B5EF4-FFF2-40B4-BE49-F238E27FC236}">
                <a16:creationId xmlns:a16="http://schemas.microsoft.com/office/drawing/2014/main" id="{F56EE64E-613B-6D84-2563-F77BDE99289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>
            <a:off x="10131723" y="79818"/>
            <a:ext cx="1518967" cy="1600558"/>
          </a:xfrm>
          <a:prstGeom prst="rect">
            <a:avLst/>
          </a:prstGeom>
        </p:spPr>
      </p:pic>
      <p:pic>
        <p:nvPicPr>
          <p:cNvPr id="9" name="Imagen 8" descr="Imagen que contiene botella, firmar, naranja, parada&#10;&#10;El contenido generado por inteligencia artificial puede ser incorrecto.">
            <a:extLst>
              <a:ext uri="{FF2B5EF4-FFF2-40B4-BE49-F238E27FC236}">
                <a16:creationId xmlns:a16="http://schemas.microsoft.com/office/drawing/2014/main" id="{4740A330-00AE-85B9-6C00-F23674F050EF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2000"/>
          </a:blip>
          <a:srcRect r="9662" b="1667"/>
          <a:stretch>
            <a:fillRect/>
          </a:stretch>
        </p:blipFill>
        <p:spPr>
          <a:xfrm>
            <a:off x="785362" y="5486761"/>
            <a:ext cx="3627803" cy="1159264"/>
          </a:xfrm>
          <a:prstGeom prst="rect">
            <a:avLst/>
          </a:prstGeom>
        </p:spPr>
      </p:pic>
      <p:sp>
        <p:nvSpPr>
          <p:cNvPr id="22" name="Título 1">
            <a:extLst>
              <a:ext uri="{FF2B5EF4-FFF2-40B4-BE49-F238E27FC236}">
                <a16:creationId xmlns:a16="http://schemas.microsoft.com/office/drawing/2014/main" id="{EA07849B-34CD-BE95-CFB6-DEF6F90B1374}"/>
              </a:ext>
            </a:extLst>
          </p:cNvPr>
          <p:cNvSpPr>
            <a:spLocks noGrp="1"/>
          </p:cNvSpPr>
          <p:nvPr/>
        </p:nvSpPr>
        <p:spPr>
          <a:xfrm>
            <a:off x="783293" y="883792"/>
            <a:ext cx="8372577" cy="45078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51433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25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2800">
                <a:latin typeface="Segoe UI"/>
                <a:cs typeface="Segoe UI"/>
              </a:rPr>
              <a:t>Solicitudes de Software por la Maestría</a:t>
            </a:r>
          </a:p>
        </p:txBody>
      </p:sp>
      <p:sp>
        <p:nvSpPr>
          <p:cNvPr id="58" name="Título 1">
            <a:extLst>
              <a:ext uri="{FF2B5EF4-FFF2-40B4-BE49-F238E27FC236}">
                <a16:creationId xmlns:a16="http://schemas.microsoft.com/office/drawing/2014/main" id="{ED01F3A3-1BB3-9F82-DB43-7BCF5028AEA1}"/>
              </a:ext>
            </a:extLst>
          </p:cNvPr>
          <p:cNvSpPr>
            <a:spLocks noGrp="1"/>
          </p:cNvSpPr>
          <p:nvPr/>
        </p:nvSpPr>
        <p:spPr>
          <a:xfrm>
            <a:off x="783291" y="1332153"/>
            <a:ext cx="10862877" cy="19928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51433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25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es-ES" sz="2000" b="0"/>
              <a:t>Se presenta la información sobre los aplicativos, programas y software requeridos por docentes de la Maestría, se precisa que los registros disponibles en Aulas de Software corresponden desde el semestre académico 2025-1 a la fecha. A partir de esta información se realizó la revisión y consolidación de las solicitudes registradas, efectuando adicionalmente una estandarización en la denominación de los aplicativos con el propósito de presentar la información de manera homogénea y facilitar su consulta durante la visita de los pares académicos.</a:t>
            </a:r>
          </a:p>
        </p:txBody>
      </p:sp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5FBCB8EF-80ED-7B4B-1CF7-118FEA8A0F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6589776"/>
              </p:ext>
            </p:extLst>
          </p:nvPr>
        </p:nvGraphicFramePr>
        <p:xfrm>
          <a:off x="2399006" y="3304070"/>
          <a:ext cx="7624215" cy="21945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541405">
                  <a:extLst>
                    <a:ext uri="{9D8B030D-6E8A-4147-A177-3AD203B41FA5}">
                      <a16:colId xmlns:a16="http://schemas.microsoft.com/office/drawing/2014/main" val="2178623940"/>
                    </a:ext>
                  </a:extLst>
                </a:gridCol>
                <a:gridCol w="2541405">
                  <a:extLst>
                    <a:ext uri="{9D8B030D-6E8A-4147-A177-3AD203B41FA5}">
                      <a16:colId xmlns:a16="http://schemas.microsoft.com/office/drawing/2014/main" val="158611219"/>
                    </a:ext>
                  </a:extLst>
                </a:gridCol>
                <a:gridCol w="2541405">
                  <a:extLst>
                    <a:ext uri="{9D8B030D-6E8A-4147-A177-3AD203B41FA5}">
                      <a16:colId xmlns:a16="http://schemas.microsoft.com/office/drawing/2014/main" val="2030174880"/>
                    </a:ext>
                  </a:extLst>
                </a:gridCol>
              </a:tblGrid>
              <a:tr h="481913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s-ES" sz="1600" b="1">
                          <a:solidFill>
                            <a:schemeClr val="tx1"/>
                          </a:solidFill>
                          <a:effectLst/>
                        </a:rPr>
                        <a:t>Periodo</a:t>
                      </a:r>
                      <a:endParaRPr lang="es-ES"/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600" b="1">
                          <a:solidFill>
                            <a:schemeClr val="tx1"/>
                          </a:solidFill>
                          <a:effectLst/>
                        </a:rPr>
                        <a:t>Nombre del docente</a:t>
                      </a:r>
                      <a:endParaRPr lang="es-ES" sz="16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600" b="1">
                          <a:solidFill>
                            <a:schemeClr val="tx1"/>
                          </a:solidFill>
                          <a:effectLst/>
                        </a:rPr>
                        <a:t>Software o programas solicitados</a:t>
                      </a:r>
                      <a:endParaRPr lang="es-ES" sz="16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86237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2025-I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Jorge Enrique Rodríguez </a:t>
                      </a:r>
                      <a:r>
                        <a:rPr lang="es-ES" sz="1600" err="1">
                          <a:solidFill>
                            <a:schemeClr val="tx1"/>
                          </a:solidFill>
                          <a:effectLst/>
                        </a:rPr>
                        <a:t>Rodríguez</a:t>
                      </a:r>
                      <a:endParaRPr lang="es-ES" sz="16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WEKA</a:t>
                      </a:r>
                      <a:br>
                        <a:rPr lang="es-ES" sz="160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Orange </a:t>
                      </a:r>
                      <a:r>
                        <a:rPr lang="es-ES" sz="1600" err="1">
                          <a:solidFill>
                            <a:schemeClr val="tx1"/>
                          </a:solidFill>
                          <a:effectLst/>
                        </a:rPr>
                        <a:t>Canvas</a:t>
                      </a:r>
                      <a:endParaRPr lang="es-ES" sz="16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1205903"/>
                  </a:ext>
                </a:extLst>
              </a:tr>
              <a:tr h="268759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i="0" u="none" strike="noStrike" noProof="0">
                          <a:solidFill>
                            <a:schemeClr val="tx1"/>
                          </a:solidFill>
                          <a:effectLst/>
                          <a:latin typeface="Aptos"/>
                        </a:rPr>
                        <a:t>2025-I</a:t>
                      </a:r>
                      <a:endParaRPr lang="es-ES" sz="1600" b="1" i="0" u="none" strike="noStrike" noProof="0">
                        <a:solidFill>
                          <a:srgbClr val="FFFFFF"/>
                        </a:solidFill>
                        <a:effectLst/>
                        <a:latin typeface="Apto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John Alexander Orduña Diaz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Leica Infinity 4.21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77160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i="0" u="none" strike="noStrike" noProof="0">
                          <a:solidFill>
                            <a:schemeClr val="tx1"/>
                          </a:solidFill>
                          <a:effectLst/>
                          <a:latin typeface="Aptos"/>
                        </a:rPr>
                        <a:t>2025-I</a:t>
                      </a:r>
                      <a:endParaRPr lang="es-ES" sz="1600" b="1" i="0" u="none" strike="noStrike" noProof="0">
                        <a:solidFill>
                          <a:srgbClr val="FFFFFF"/>
                        </a:solidFill>
                        <a:effectLst/>
                        <a:latin typeface="Apto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600" err="1">
                          <a:solidFill>
                            <a:schemeClr val="tx1"/>
                          </a:solidFill>
                          <a:effectLst/>
                        </a:rPr>
                        <a:t>Alvaro</a:t>
                      </a: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 Enrique Ortiz Dávila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PostgreSQL 17</a:t>
                      </a:r>
                      <a:br>
                        <a:rPr lang="es-ES" sz="160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QGIS 3.42.1</a:t>
                      </a:r>
                      <a:br>
                        <a:rPr lang="es-ES" sz="160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Microsoft Office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29318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800111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EECF51-3B8B-E770-51F9-B3C9D8E6B8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Texto, Carta&#10;&#10;El contenido generado por IA puede ser incorrecto.">
            <a:extLst>
              <a:ext uri="{FF2B5EF4-FFF2-40B4-BE49-F238E27FC236}">
                <a16:creationId xmlns:a16="http://schemas.microsoft.com/office/drawing/2014/main" id="{6F0DF4CC-7BF3-C021-F2FF-8C08A8F07BF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3000"/>
          </a:blip>
          <a:stretch>
            <a:fillRect/>
          </a:stretch>
        </p:blipFill>
        <p:spPr>
          <a:xfrm>
            <a:off x="8464671" y="5359161"/>
            <a:ext cx="2940528" cy="1283719"/>
          </a:xfrm>
          <a:prstGeom prst="rect">
            <a:avLst/>
          </a:prstGeom>
        </p:spPr>
      </p:pic>
      <p:pic>
        <p:nvPicPr>
          <p:cNvPr id="8" name="Imagen 7" descr="Francisco Jose De Caldas Ingeniería">
            <a:extLst>
              <a:ext uri="{FF2B5EF4-FFF2-40B4-BE49-F238E27FC236}">
                <a16:creationId xmlns:a16="http://schemas.microsoft.com/office/drawing/2014/main" id="{9E7B9963-ACD1-8893-C0A1-B5AA5771605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>
            <a:off x="10131723" y="79818"/>
            <a:ext cx="1518967" cy="1600558"/>
          </a:xfrm>
          <a:prstGeom prst="rect">
            <a:avLst/>
          </a:prstGeom>
        </p:spPr>
      </p:pic>
      <p:pic>
        <p:nvPicPr>
          <p:cNvPr id="9" name="Imagen 8" descr="Imagen que contiene botella, firmar, naranja, parada&#10;&#10;El contenido generado por inteligencia artificial puede ser incorrecto.">
            <a:extLst>
              <a:ext uri="{FF2B5EF4-FFF2-40B4-BE49-F238E27FC236}">
                <a16:creationId xmlns:a16="http://schemas.microsoft.com/office/drawing/2014/main" id="{30CC51CF-2C90-8661-E7DE-045F8C54A8BD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2000"/>
          </a:blip>
          <a:srcRect r="9662" b="1667"/>
          <a:stretch>
            <a:fillRect/>
          </a:stretch>
        </p:blipFill>
        <p:spPr>
          <a:xfrm>
            <a:off x="785362" y="5486761"/>
            <a:ext cx="3627803" cy="1159264"/>
          </a:xfrm>
          <a:prstGeom prst="rect">
            <a:avLst/>
          </a:prstGeom>
        </p:spPr>
      </p:pic>
      <p:sp>
        <p:nvSpPr>
          <p:cNvPr id="22" name="Título 1">
            <a:extLst>
              <a:ext uri="{FF2B5EF4-FFF2-40B4-BE49-F238E27FC236}">
                <a16:creationId xmlns:a16="http://schemas.microsoft.com/office/drawing/2014/main" id="{ACE4E23D-2D44-EF6B-7999-CFB781E6A5E2}"/>
              </a:ext>
            </a:extLst>
          </p:cNvPr>
          <p:cNvSpPr>
            <a:spLocks noGrp="1"/>
          </p:cNvSpPr>
          <p:nvPr/>
        </p:nvSpPr>
        <p:spPr>
          <a:xfrm>
            <a:off x="9118256" y="2219644"/>
            <a:ext cx="2869244" cy="216293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51433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25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2800">
                <a:latin typeface="Segoe UI"/>
                <a:cs typeface="Segoe UI"/>
              </a:rPr>
              <a:t>Solicitudes de Software por la Maestría</a:t>
            </a:r>
          </a:p>
        </p:txBody>
      </p: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62152AE8-0306-2088-20C2-AE1539B87C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5659059"/>
              </p:ext>
            </p:extLst>
          </p:nvPr>
        </p:nvGraphicFramePr>
        <p:xfrm>
          <a:off x="395228" y="381658"/>
          <a:ext cx="8244975" cy="58521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748325">
                  <a:extLst>
                    <a:ext uri="{9D8B030D-6E8A-4147-A177-3AD203B41FA5}">
                      <a16:colId xmlns:a16="http://schemas.microsoft.com/office/drawing/2014/main" val="1305285797"/>
                    </a:ext>
                  </a:extLst>
                </a:gridCol>
                <a:gridCol w="2748325">
                  <a:extLst>
                    <a:ext uri="{9D8B030D-6E8A-4147-A177-3AD203B41FA5}">
                      <a16:colId xmlns:a16="http://schemas.microsoft.com/office/drawing/2014/main" val="432840737"/>
                    </a:ext>
                  </a:extLst>
                </a:gridCol>
                <a:gridCol w="2748325">
                  <a:extLst>
                    <a:ext uri="{9D8B030D-6E8A-4147-A177-3AD203B41FA5}">
                      <a16:colId xmlns:a16="http://schemas.microsoft.com/office/drawing/2014/main" val="283486931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i="0" u="none" strike="noStrike" noProof="0">
                          <a:solidFill>
                            <a:schemeClr val="tx1"/>
                          </a:solidFill>
                          <a:effectLst/>
                          <a:latin typeface="Aptos"/>
                        </a:rPr>
                        <a:t>2025-I</a:t>
                      </a:r>
                      <a:endParaRPr lang="es-ES" sz="1600" b="1" i="0" u="none" strike="noStrike" noProof="0">
                        <a:solidFill>
                          <a:srgbClr val="FFFFFF"/>
                        </a:solidFill>
                        <a:effectLst/>
                        <a:latin typeface="Apto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600" err="1">
                          <a:solidFill>
                            <a:schemeClr val="tx1"/>
                          </a:solidFill>
                          <a:effectLst/>
                        </a:rPr>
                        <a:t>Alvaro</a:t>
                      </a: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 Enrique Ortiz Dávila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Java</a:t>
                      </a:r>
                      <a:br>
                        <a:rPr lang="es-ES" sz="160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Apache NetBeans</a:t>
                      </a:r>
                      <a:br>
                        <a:rPr lang="es-ES" sz="160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Microsoft Office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57933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i="0" u="none" strike="noStrike" noProof="0">
                          <a:solidFill>
                            <a:schemeClr val="tx1"/>
                          </a:solidFill>
                          <a:effectLst/>
                          <a:latin typeface="Aptos"/>
                        </a:rPr>
                        <a:t>2025-I</a:t>
                      </a:r>
                      <a:endParaRPr lang="es-ES" sz="1600" b="1" i="0" u="none" strike="noStrike" noProof="0">
                        <a:solidFill>
                          <a:srgbClr val="FFFFFF"/>
                        </a:solidFill>
                        <a:effectLst/>
                        <a:latin typeface="Apto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John Alexander Orduña Diaz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Leica Infinity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3994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i="0" u="none" strike="noStrike" noProof="0">
                          <a:solidFill>
                            <a:schemeClr val="tx1"/>
                          </a:solidFill>
                          <a:effectLst/>
                          <a:latin typeface="Aptos"/>
                        </a:rPr>
                        <a:t>2025-I</a:t>
                      </a:r>
                      <a:endParaRPr lang="es-ES" sz="1600" b="1" i="0" u="none" strike="noStrike" noProof="0">
                        <a:solidFill>
                          <a:srgbClr val="FFFFFF"/>
                        </a:solidFill>
                        <a:effectLst/>
                        <a:latin typeface="Apto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Hans Igor López Chávez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MATLAB R2025a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74370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i="0" u="none" strike="noStrike" noProof="0">
                          <a:solidFill>
                            <a:schemeClr val="tx1"/>
                          </a:solidFill>
                          <a:effectLst/>
                          <a:latin typeface="Aptos"/>
                        </a:rPr>
                        <a:t>2025-III</a:t>
                      </a:r>
                      <a:endParaRPr lang="es-ES" sz="1600" b="1" i="0" u="none" strike="noStrike" noProof="0">
                        <a:solidFill>
                          <a:srgbClr val="FFFFFF"/>
                        </a:solidFill>
                        <a:effectLst/>
                        <a:latin typeface="Apto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Hans Igor López Chávez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MATLAB R2025a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86382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i="0" u="none" strike="noStrike" noProof="0">
                          <a:solidFill>
                            <a:schemeClr val="tx1"/>
                          </a:solidFill>
                          <a:effectLst/>
                          <a:latin typeface="Aptos"/>
                        </a:rPr>
                        <a:t>2025-III</a:t>
                      </a:r>
                      <a:endParaRPr lang="es-ES" sz="1600" b="1" i="0" u="none" strike="noStrike" noProof="0">
                        <a:solidFill>
                          <a:srgbClr val="FFFFFF"/>
                        </a:solidFill>
                        <a:effectLst/>
                        <a:latin typeface="Apto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John Alexander Orduña Diaz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ArcGIS Pro 3.x o superior</a:t>
                      </a:r>
                      <a:br>
                        <a:rPr lang="es-ES" sz="160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PCI </a:t>
                      </a:r>
                      <a:r>
                        <a:rPr lang="es-ES" sz="1600" err="1">
                          <a:solidFill>
                            <a:schemeClr val="tx1"/>
                          </a:solidFill>
                          <a:effectLst/>
                        </a:rPr>
                        <a:t>Geomatica</a:t>
                      </a: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 2018 o superior</a:t>
                      </a:r>
                      <a:br>
                        <a:rPr lang="es-ES" sz="160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QGIS 3.x o superior</a:t>
                      </a:r>
                      <a:br>
                        <a:rPr lang="es-ES" sz="160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GRASS GIS 8.x o superior</a:t>
                      </a:r>
                      <a:br>
                        <a:rPr lang="es-ES" sz="160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es-ES" sz="1600" err="1">
                          <a:solidFill>
                            <a:schemeClr val="tx1"/>
                          </a:solidFill>
                          <a:effectLst/>
                        </a:rPr>
                        <a:t>Agisoft</a:t>
                      </a: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s-ES" sz="1600" err="1">
                          <a:solidFill>
                            <a:schemeClr val="tx1"/>
                          </a:solidFill>
                          <a:effectLst/>
                        </a:rPr>
                        <a:t>Metashape</a:t>
                      </a: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 2.x o superior</a:t>
                      </a:r>
                      <a:br>
                        <a:rPr lang="es-ES" sz="160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Pix4Dmapper 4.x o superior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02575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i="0" u="none" strike="noStrike" noProof="0">
                          <a:solidFill>
                            <a:schemeClr val="tx1"/>
                          </a:solidFill>
                          <a:effectLst/>
                          <a:latin typeface="Aptos"/>
                        </a:rPr>
                        <a:t>2025-III</a:t>
                      </a:r>
                      <a:endParaRPr lang="es-ES" sz="1600" b="1" i="0" u="none" strike="noStrike" noProof="0">
                        <a:solidFill>
                          <a:srgbClr val="FFFFFF"/>
                        </a:solidFill>
                        <a:effectLst/>
                        <a:latin typeface="Apto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Daniel David Leal Lara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SonarQube</a:t>
                      </a:r>
                      <a:br>
                        <a:rPr lang="es-ES" sz="160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Docker</a:t>
                      </a:r>
                      <a:br>
                        <a:rPr lang="es-ES" sz="160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Postman</a:t>
                      </a:r>
                      <a:br>
                        <a:rPr lang="es-ES" sz="160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Git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53395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i="0" u="none" strike="noStrike" noProof="0">
                          <a:solidFill>
                            <a:schemeClr val="tx1"/>
                          </a:solidFill>
                          <a:effectLst/>
                          <a:latin typeface="Aptos"/>
                        </a:rPr>
                        <a:t>2025-III</a:t>
                      </a:r>
                      <a:endParaRPr lang="es-ES" sz="1600" b="1" i="0" u="none" strike="noStrike" noProof="0">
                        <a:solidFill>
                          <a:srgbClr val="FFFFFF"/>
                        </a:solidFill>
                        <a:effectLst/>
                        <a:latin typeface="Apto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José Antonio Valero Medina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Eclipse IDE (preconfigurado con el plugin Papyrus)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89868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i="0" u="none" strike="noStrike" noProof="0">
                          <a:solidFill>
                            <a:schemeClr val="tx1"/>
                          </a:solidFill>
                          <a:effectLst/>
                          <a:latin typeface="Aptos"/>
                        </a:rPr>
                        <a:t>2025-III</a:t>
                      </a:r>
                      <a:endParaRPr lang="es-ES" sz="1600" b="1" i="0" u="none" strike="noStrike" noProof="0">
                        <a:solidFill>
                          <a:srgbClr val="FFFFFF"/>
                        </a:solidFill>
                        <a:effectLst/>
                        <a:latin typeface="Apto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Sergio Rojas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Python</a:t>
                      </a:r>
                      <a:br>
                        <a:rPr lang="es-ES" sz="160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es-ES" sz="1600" err="1">
                          <a:solidFill>
                            <a:schemeClr val="tx1"/>
                          </a:solidFill>
                          <a:effectLst/>
                        </a:rPr>
                        <a:t>Jupyter</a:t>
                      </a: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 Notebook</a:t>
                      </a:r>
                      <a:br>
                        <a:rPr lang="es-ES" sz="160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es-ES" sz="1600" err="1">
                          <a:solidFill>
                            <a:schemeClr val="tx1"/>
                          </a:solidFill>
                          <a:effectLst/>
                        </a:rPr>
                        <a:t>PyCharm</a:t>
                      </a:r>
                      <a:br>
                        <a:rPr lang="es-ES" sz="160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es-ES" sz="1600" err="1">
                          <a:solidFill>
                            <a:schemeClr val="tx1"/>
                          </a:solidFill>
                          <a:effectLst/>
                        </a:rPr>
                        <a:t>OpenAI</a:t>
                      </a: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 API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85478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391716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5FE0F5-C23D-44B7-5B01-1FC85D6872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Texto, Carta&#10;&#10;El contenido generado por IA puede ser incorrecto.">
            <a:extLst>
              <a:ext uri="{FF2B5EF4-FFF2-40B4-BE49-F238E27FC236}">
                <a16:creationId xmlns:a16="http://schemas.microsoft.com/office/drawing/2014/main" id="{B7AA9ECC-00C5-CFE9-C53A-9801B87AB55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3000"/>
          </a:blip>
          <a:stretch>
            <a:fillRect/>
          </a:stretch>
        </p:blipFill>
        <p:spPr>
          <a:xfrm>
            <a:off x="8464671" y="5359161"/>
            <a:ext cx="2940528" cy="1283719"/>
          </a:xfrm>
          <a:prstGeom prst="rect">
            <a:avLst/>
          </a:prstGeom>
        </p:spPr>
      </p:pic>
      <p:pic>
        <p:nvPicPr>
          <p:cNvPr id="8" name="Imagen 7" descr="Francisco Jose De Caldas Ingeniería">
            <a:extLst>
              <a:ext uri="{FF2B5EF4-FFF2-40B4-BE49-F238E27FC236}">
                <a16:creationId xmlns:a16="http://schemas.microsoft.com/office/drawing/2014/main" id="{8115C8A1-6502-361A-15F9-AE35ACD99C6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>
            <a:off x="10131723" y="79818"/>
            <a:ext cx="1518967" cy="1600558"/>
          </a:xfrm>
          <a:prstGeom prst="rect">
            <a:avLst/>
          </a:prstGeom>
        </p:spPr>
      </p:pic>
      <p:pic>
        <p:nvPicPr>
          <p:cNvPr id="9" name="Imagen 8" descr="Imagen que contiene botella, firmar, naranja, parada&#10;&#10;El contenido generado por inteligencia artificial puede ser incorrecto.">
            <a:extLst>
              <a:ext uri="{FF2B5EF4-FFF2-40B4-BE49-F238E27FC236}">
                <a16:creationId xmlns:a16="http://schemas.microsoft.com/office/drawing/2014/main" id="{377B3B82-8537-91DB-AD73-3409ECD63935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2000"/>
          </a:blip>
          <a:srcRect r="9662" b="1667"/>
          <a:stretch>
            <a:fillRect/>
          </a:stretch>
        </p:blipFill>
        <p:spPr>
          <a:xfrm>
            <a:off x="785362" y="5486761"/>
            <a:ext cx="3627803" cy="1159264"/>
          </a:xfrm>
          <a:prstGeom prst="rect">
            <a:avLst/>
          </a:prstGeom>
        </p:spPr>
      </p:pic>
      <p:sp>
        <p:nvSpPr>
          <p:cNvPr id="22" name="Título 1">
            <a:extLst>
              <a:ext uri="{FF2B5EF4-FFF2-40B4-BE49-F238E27FC236}">
                <a16:creationId xmlns:a16="http://schemas.microsoft.com/office/drawing/2014/main" id="{CF69911F-1C16-3DC3-E3AC-79C3ED6DFAEA}"/>
              </a:ext>
            </a:extLst>
          </p:cNvPr>
          <p:cNvSpPr>
            <a:spLocks noGrp="1"/>
          </p:cNvSpPr>
          <p:nvPr/>
        </p:nvSpPr>
        <p:spPr>
          <a:xfrm>
            <a:off x="9118256" y="2219644"/>
            <a:ext cx="2869244" cy="216293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51433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25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2800">
                <a:latin typeface="Segoe UI"/>
                <a:cs typeface="Segoe UI"/>
              </a:rPr>
              <a:t>Solicitudes de Software por la Maestría</a:t>
            </a:r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38CCB52E-5035-4B47-8A72-0E12148824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6764679"/>
              </p:ext>
            </p:extLst>
          </p:nvPr>
        </p:nvGraphicFramePr>
        <p:xfrm>
          <a:off x="385703" y="376296"/>
          <a:ext cx="8652626" cy="536448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884209">
                  <a:extLst>
                    <a:ext uri="{9D8B030D-6E8A-4147-A177-3AD203B41FA5}">
                      <a16:colId xmlns:a16="http://schemas.microsoft.com/office/drawing/2014/main" val="1439373484"/>
                    </a:ext>
                  </a:extLst>
                </a:gridCol>
                <a:gridCol w="2530045">
                  <a:extLst>
                    <a:ext uri="{9D8B030D-6E8A-4147-A177-3AD203B41FA5}">
                      <a16:colId xmlns:a16="http://schemas.microsoft.com/office/drawing/2014/main" val="850724715"/>
                    </a:ext>
                  </a:extLst>
                </a:gridCol>
                <a:gridCol w="3238372">
                  <a:extLst>
                    <a:ext uri="{9D8B030D-6E8A-4147-A177-3AD203B41FA5}">
                      <a16:colId xmlns:a16="http://schemas.microsoft.com/office/drawing/2014/main" val="364193902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2026-I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DIOSA HENRY ALBERTO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Enterprise </a:t>
                      </a:r>
                      <a:r>
                        <a:rPr lang="es-ES" sz="1600" err="1">
                          <a:solidFill>
                            <a:schemeClr val="tx1"/>
                          </a:solidFill>
                          <a:effectLst/>
                        </a:rPr>
                        <a:t>Architect</a:t>
                      </a: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 16 o superior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43622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i="0" u="none" strike="noStrike" noProof="0">
                          <a:solidFill>
                            <a:schemeClr val="tx1"/>
                          </a:solidFill>
                          <a:effectLst/>
                          <a:latin typeface="Aptos"/>
                        </a:rPr>
                        <a:t>2026-I</a:t>
                      </a:r>
                      <a:endParaRPr lang="es-ES" sz="1600" b="1" i="0" u="none" strike="noStrike" noProof="0">
                        <a:solidFill>
                          <a:srgbClr val="FFFFFF"/>
                        </a:solidFill>
                        <a:effectLst/>
                        <a:latin typeface="Apto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Jorge Enrique Rodríguez </a:t>
                      </a:r>
                      <a:r>
                        <a:rPr lang="es-ES" sz="1600" err="1">
                          <a:solidFill>
                            <a:schemeClr val="tx1"/>
                          </a:solidFill>
                          <a:effectLst/>
                        </a:rPr>
                        <a:t>Rodríguez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WEKA</a:t>
                      </a:r>
                      <a:b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</a:b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Orange </a:t>
                      </a:r>
                      <a:r>
                        <a:rPr lang="es-ES" sz="1600" err="1">
                          <a:solidFill>
                            <a:schemeClr val="tx1"/>
                          </a:solidFill>
                          <a:effectLst/>
                        </a:rPr>
                        <a:t>Canvas</a:t>
                      </a:r>
                      <a:b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</a:b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Python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02157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i="0" u="none" strike="noStrike" noProof="0">
                          <a:solidFill>
                            <a:schemeClr val="tx1"/>
                          </a:solidFill>
                          <a:effectLst/>
                          <a:latin typeface="Aptos"/>
                        </a:rPr>
                        <a:t>2026-I</a:t>
                      </a:r>
                      <a:endParaRPr lang="es-ES" sz="1600" b="1" i="0" u="none" strike="noStrike" noProof="0">
                        <a:solidFill>
                          <a:srgbClr val="FFFFFF"/>
                        </a:solidFill>
                        <a:effectLst/>
                        <a:latin typeface="Apto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Hans Igor López Chávez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MATLAB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4710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i="0" u="none" strike="noStrike" noProof="0">
                          <a:solidFill>
                            <a:schemeClr val="tx1"/>
                          </a:solidFill>
                          <a:effectLst/>
                          <a:latin typeface="Aptos"/>
                        </a:rPr>
                        <a:t>2026-III</a:t>
                      </a:r>
                      <a:endParaRPr lang="es-ES" sz="1600" b="1" i="0" u="none" strike="noStrike" noProof="0">
                        <a:solidFill>
                          <a:srgbClr val="FFFFFF"/>
                        </a:solidFill>
                        <a:effectLst/>
                        <a:latin typeface="Apto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600" err="1">
                          <a:solidFill>
                            <a:schemeClr val="tx1"/>
                          </a:solidFill>
                          <a:effectLst/>
                        </a:rPr>
                        <a:t>Alvaro</a:t>
                      </a: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 Enrique Ortiz Dávila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PostgreSQL</a:t>
                      </a:r>
                      <a:b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</a:br>
                      <a:r>
                        <a:rPr lang="es-ES" sz="1600" err="1">
                          <a:solidFill>
                            <a:schemeClr val="tx1"/>
                          </a:solidFill>
                          <a:effectLst/>
                        </a:rPr>
                        <a:t>PostGIS</a:t>
                      </a:r>
                      <a:b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</a:b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QGIS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52943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i="0" u="none" strike="noStrike" noProof="0">
                          <a:solidFill>
                            <a:schemeClr val="tx1"/>
                          </a:solidFill>
                          <a:effectLst/>
                          <a:latin typeface="Aptos"/>
                        </a:rPr>
                        <a:t>2026-III</a:t>
                      </a:r>
                      <a:endParaRPr lang="es-ES" sz="1600" b="1" i="0" u="none" strike="noStrike" noProof="0">
                        <a:solidFill>
                          <a:srgbClr val="FFFFFF"/>
                        </a:solidFill>
                        <a:effectLst/>
                        <a:latin typeface="Apto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Hans Igor López Chávez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MATLAB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88239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i="0" u="none" strike="noStrike" noProof="0">
                          <a:solidFill>
                            <a:schemeClr val="tx1"/>
                          </a:solidFill>
                          <a:effectLst/>
                          <a:latin typeface="Aptos"/>
                        </a:rPr>
                        <a:t>2026-III</a:t>
                      </a:r>
                      <a:endParaRPr lang="es-ES" sz="1600" b="1" i="0" u="none" strike="noStrike" noProof="0">
                        <a:solidFill>
                          <a:srgbClr val="FFFFFF"/>
                        </a:solidFill>
                        <a:effectLst/>
                        <a:latin typeface="Apto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Cesar Andrey Perdomo Charry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MATLAB</a:t>
                      </a:r>
                      <a:b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</a:b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Anaconda 2025.12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91254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i="0" u="none" strike="noStrike" noProof="0">
                          <a:solidFill>
                            <a:schemeClr val="tx1"/>
                          </a:solidFill>
                          <a:effectLst/>
                          <a:latin typeface="Aptos"/>
                        </a:rPr>
                        <a:t>2026-III</a:t>
                      </a:r>
                      <a:endParaRPr lang="es-ES" sz="1600" b="1" i="0" u="none" strike="noStrike" noProof="0">
                        <a:solidFill>
                          <a:srgbClr val="FFFFFF"/>
                        </a:solidFill>
                        <a:effectLst/>
                        <a:latin typeface="Apto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Nancy Yaneth </a:t>
                      </a:r>
                      <a:r>
                        <a:rPr lang="es-ES" sz="1600" err="1">
                          <a:solidFill>
                            <a:schemeClr val="tx1"/>
                          </a:solidFill>
                          <a:effectLst/>
                        </a:rPr>
                        <a:t>Gelvez</a:t>
                      </a: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s-ES" sz="1600" err="1">
                          <a:solidFill>
                            <a:schemeClr val="tx1"/>
                          </a:solidFill>
                          <a:effectLst/>
                        </a:rPr>
                        <a:t>Garcia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Power BI Desktop</a:t>
                      </a:r>
                      <a:br>
                        <a:rPr lang="es-ES" sz="160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SQL Server </a:t>
                      </a:r>
                      <a:r>
                        <a:rPr lang="es-ES" sz="1600" err="1">
                          <a:solidFill>
                            <a:schemeClr val="tx1"/>
                          </a:solidFill>
                          <a:effectLst/>
                        </a:rPr>
                        <a:t>Developer</a:t>
                      </a:r>
                      <a:br>
                        <a:rPr lang="es-ES" sz="160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SQL Server Management Studio (SSMS)</a:t>
                      </a:r>
                      <a:br>
                        <a:rPr lang="es-ES" sz="160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Visual Studio </a:t>
                      </a:r>
                      <a:r>
                        <a:rPr lang="es-ES" sz="1600" err="1">
                          <a:solidFill>
                            <a:schemeClr val="tx1"/>
                          </a:solidFill>
                          <a:effectLst/>
                        </a:rPr>
                        <a:t>Community</a:t>
                      </a: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 + SQL Server </a:t>
                      </a:r>
                      <a:r>
                        <a:rPr lang="es-ES" sz="1600" err="1">
                          <a:solidFill>
                            <a:schemeClr val="tx1"/>
                          </a:solidFill>
                          <a:effectLst/>
                        </a:rPr>
                        <a:t>Integration</a:t>
                      </a: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s-ES" sz="1600" err="1">
                          <a:solidFill>
                            <a:schemeClr val="tx1"/>
                          </a:solidFill>
                          <a:effectLst/>
                        </a:rPr>
                        <a:t>Services</a:t>
                      </a: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 (SSIS)</a:t>
                      </a:r>
                      <a:br>
                        <a:rPr lang="es-ES" sz="160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Python (Anaconda)</a:t>
                      </a:r>
                      <a:br>
                        <a:rPr lang="es-ES" sz="160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Git</a:t>
                      </a:r>
                      <a:br>
                        <a:rPr lang="es-ES" sz="160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es-ES" sz="1600" err="1">
                          <a:solidFill>
                            <a:schemeClr val="tx1"/>
                          </a:solidFill>
                          <a:effectLst/>
                        </a:rPr>
                        <a:t>DBeaver</a:t>
                      </a:r>
                      <a:br>
                        <a:rPr lang="es-ES" sz="160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Pentaho Data </a:t>
                      </a:r>
                      <a:r>
                        <a:rPr lang="es-ES" sz="1600" err="1">
                          <a:solidFill>
                            <a:schemeClr val="tx1"/>
                          </a:solidFill>
                          <a:effectLst/>
                        </a:rPr>
                        <a:t>Integration</a:t>
                      </a:r>
                      <a:br>
                        <a:rPr lang="es-ES" sz="160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draw.io Desktop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46687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989700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8A5D96-BC59-7D78-3A0C-19000088B7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Texto, Carta&#10;&#10;El contenido generado por IA puede ser incorrecto.">
            <a:extLst>
              <a:ext uri="{FF2B5EF4-FFF2-40B4-BE49-F238E27FC236}">
                <a16:creationId xmlns:a16="http://schemas.microsoft.com/office/drawing/2014/main" id="{3BAFFAD0-D060-54F5-9EE6-B458F584D92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3000"/>
          </a:blip>
          <a:stretch>
            <a:fillRect/>
          </a:stretch>
        </p:blipFill>
        <p:spPr>
          <a:xfrm>
            <a:off x="8464671" y="5359161"/>
            <a:ext cx="2940528" cy="1283719"/>
          </a:xfrm>
          <a:prstGeom prst="rect">
            <a:avLst/>
          </a:prstGeom>
        </p:spPr>
      </p:pic>
      <p:pic>
        <p:nvPicPr>
          <p:cNvPr id="8" name="Imagen 7" descr="Francisco Jose De Caldas Ingeniería">
            <a:extLst>
              <a:ext uri="{FF2B5EF4-FFF2-40B4-BE49-F238E27FC236}">
                <a16:creationId xmlns:a16="http://schemas.microsoft.com/office/drawing/2014/main" id="{1C71BFCF-79C0-31DF-7B60-2BF21E52FFD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>
            <a:off x="10131723" y="79818"/>
            <a:ext cx="1518967" cy="1600558"/>
          </a:xfrm>
          <a:prstGeom prst="rect">
            <a:avLst/>
          </a:prstGeom>
        </p:spPr>
      </p:pic>
      <p:pic>
        <p:nvPicPr>
          <p:cNvPr id="9" name="Imagen 8" descr="Imagen que contiene botella, firmar, naranja, parada&#10;&#10;El contenido generado por inteligencia artificial puede ser incorrecto.">
            <a:extLst>
              <a:ext uri="{FF2B5EF4-FFF2-40B4-BE49-F238E27FC236}">
                <a16:creationId xmlns:a16="http://schemas.microsoft.com/office/drawing/2014/main" id="{F74A0B88-19F1-4E19-E5AE-80EE47FFAADC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2000"/>
          </a:blip>
          <a:srcRect r="9662" b="1667"/>
          <a:stretch>
            <a:fillRect/>
          </a:stretch>
        </p:blipFill>
        <p:spPr>
          <a:xfrm>
            <a:off x="785362" y="5486761"/>
            <a:ext cx="3627803" cy="1159264"/>
          </a:xfrm>
          <a:prstGeom prst="rect">
            <a:avLst/>
          </a:prstGeom>
        </p:spPr>
      </p:pic>
      <p:sp>
        <p:nvSpPr>
          <p:cNvPr id="22" name="Título 1">
            <a:extLst>
              <a:ext uri="{FF2B5EF4-FFF2-40B4-BE49-F238E27FC236}">
                <a16:creationId xmlns:a16="http://schemas.microsoft.com/office/drawing/2014/main" id="{EA4D16D5-DFD2-0D35-FCA8-3F8E32D600A0}"/>
              </a:ext>
            </a:extLst>
          </p:cNvPr>
          <p:cNvSpPr>
            <a:spLocks noGrp="1"/>
          </p:cNvSpPr>
          <p:nvPr/>
        </p:nvSpPr>
        <p:spPr>
          <a:xfrm>
            <a:off x="9118256" y="2219644"/>
            <a:ext cx="2869244" cy="216293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51433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25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2800">
                <a:latin typeface="Segoe UI"/>
                <a:cs typeface="Segoe UI"/>
              </a:rPr>
              <a:t>Solicitudes de Software por la Maestría</a:t>
            </a:r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408462FE-0CA5-EC04-5BDF-3F8247E4FD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0869381"/>
              </p:ext>
            </p:extLst>
          </p:nvPr>
        </p:nvGraphicFramePr>
        <p:xfrm>
          <a:off x="385703" y="376296"/>
          <a:ext cx="8652626" cy="512064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884209">
                  <a:extLst>
                    <a:ext uri="{9D8B030D-6E8A-4147-A177-3AD203B41FA5}">
                      <a16:colId xmlns:a16="http://schemas.microsoft.com/office/drawing/2014/main" val="1439373484"/>
                    </a:ext>
                  </a:extLst>
                </a:gridCol>
                <a:gridCol w="2530045">
                  <a:extLst>
                    <a:ext uri="{9D8B030D-6E8A-4147-A177-3AD203B41FA5}">
                      <a16:colId xmlns:a16="http://schemas.microsoft.com/office/drawing/2014/main" val="850724715"/>
                    </a:ext>
                  </a:extLst>
                </a:gridCol>
                <a:gridCol w="3238372">
                  <a:extLst>
                    <a:ext uri="{9D8B030D-6E8A-4147-A177-3AD203B41FA5}">
                      <a16:colId xmlns:a16="http://schemas.microsoft.com/office/drawing/2014/main" val="364193902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s-ES" sz="1400">
                          <a:solidFill>
                            <a:schemeClr val="tx1"/>
                          </a:solidFill>
                          <a:effectLst/>
                        </a:rPr>
                        <a:t>2026-I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400">
                          <a:solidFill>
                            <a:schemeClr val="tx1"/>
                          </a:solidFill>
                          <a:effectLst/>
                        </a:rPr>
                        <a:t>DIOSA HENRY ALBERTO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400">
                          <a:solidFill>
                            <a:schemeClr val="tx1"/>
                          </a:solidFill>
                          <a:effectLst/>
                        </a:rPr>
                        <a:t>Enterprise </a:t>
                      </a:r>
                      <a:r>
                        <a:rPr lang="es-ES" sz="1400" err="1">
                          <a:solidFill>
                            <a:schemeClr val="tx1"/>
                          </a:solidFill>
                          <a:effectLst/>
                        </a:rPr>
                        <a:t>Architect</a:t>
                      </a:r>
                      <a:r>
                        <a:rPr lang="es-ES" sz="1400">
                          <a:solidFill>
                            <a:schemeClr val="tx1"/>
                          </a:solidFill>
                          <a:effectLst/>
                        </a:rPr>
                        <a:t> 16 o superior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43622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b="1" i="0" u="none" strike="noStrike" noProof="0">
                          <a:solidFill>
                            <a:schemeClr val="tx1"/>
                          </a:solidFill>
                          <a:effectLst/>
                          <a:latin typeface="Aptos"/>
                        </a:rPr>
                        <a:t>2026-I</a:t>
                      </a:r>
                      <a:endParaRPr lang="es-ES" sz="1400" b="1" i="0" u="none" strike="noStrike" noProof="0">
                        <a:solidFill>
                          <a:srgbClr val="FFFFFF"/>
                        </a:solidFill>
                        <a:effectLst/>
                        <a:latin typeface="Apto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400">
                          <a:solidFill>
                            <a:schemeClr val="tx1"/>
                          </a:solidFill>
                          <a:effectLst/>
                        </a:rPr>
                        <a:t>Jorge Enrique Rodríguez </a:t>
                      </a:r>
                      <a:r>
                        <a:rPr lang="es-ES" sz="1400" err="1">
                          <a:solidFill>
                            <a:schemeClr val="tx1"/>
                          </a:solidFill>
                          <a:effectLst/>
                        </a:rPr>
                        <a:t>Rodríguez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400">
                          <a:solidFill>
                            <a:schemeClr val="tx1"/>
                          </a:solidFill>
                          <a:effectLst/>
                        </a:rPr>
                        <a:t>WEKA</a:t>
                      </a:r>
                      <a:br>
                        <a:rPr lang="es-ES" sz="140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es-ES" sz="1400">
                          <a:solidFill>
                            <a:schemeClr val="tx1"/>
                          </a:solidFill>
                          <a:effectLst/>
                        </a:rPr>
                        <a:t>Orange </a:t>
                      </a:r>
                      <a:r>
                        <a:rPr lang="es-ES" sz="1400" err="1">
                          <a:solidFill>
                            <a:schemeClr val="tx1"/>
                          </a:solidFill>
                          <a:effectLst/>
                        </a:rPr>
                        <a:t>Canvas</a:t>
                      </a:r>
                      <a:br>
                        <a:rPr lang="es-ES" sz="140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es-ES" sz="1400">
                          <a:solidFill>
                            <a:schemeClr val="tx1"/>
                          </a:solidFill>
                          <a:effectLst/>
                        </a:rPr>
                        <a:t>Python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02157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b="1" i="0" u="none" strike="noStrike" noProof="0">
                          <a:solidFill>
                            <a:schemeClr val="tx1"/>
                          </a:solidFill>
                          <a:effectLst/>
                          <a:latin typeface="Aptos"/>
                        </a:rPr>
                        <a:t>2026-I</a:t>
                      </a:r>
                      <a:endParaRPr lang="es-ES" sz="1400" b="1" i="0" u="none" strike="noStrike" noProof="0">
                        <a:solidFill>
                          <a:srgbClr val="FFFFFF"/>
                        </a:solidFill>
                        <a:effectLst/>
                        <a:latin typeface="Apto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400">
                          <a:solidFill>
                            <a:schemeClr val="tx1"/>
                          </a:solidFill>
                          <a:effectLst/>
                        </a:rPr>
                        <a:t>Hans Igor López Chávez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400">
                          <a:solidFill>
                            <a:schemeClr val="tx1"/>
                          </a:solidFill>
                          <a:effectLst/>
                        </a:rPr>
                        <a:t>MATLAB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4710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b="1" i="0" u="none" strike="noStrike" noProof="0">
                          <a:solidFill>
                            <a:schemeClr val="tx1"/>
                          </a:solidFill>
                          <a:effectLst/>
                          <a:latin typeface="Aptos"/>
                        </a:rPr>
                        <a:t>2026-III</a:t>
                      </a:r>
                      <a:endParaRPr lang="es-ES" sz="1400" b="1" i="0" u="none" strike="noStrike" noProof="0">
                        <a:solidFill>
                          <a:srgbClr val="FFFFFF"/>
                        </a:solidFill>
                        <a:effectLst/>
                        <a:latin typeface="Apto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400" err="1">
                          <a:solidFill>
                            <a:schemeClr val="tx1"/>
                          </a:solidFill>
                          <a:effectLst/>
                        </a:rPr>
                        <a:t>Alvaro</a:t>
                      </a:r>
                      <a:r>
                        <a:rPr lang="es-ES" sz="1400">
                          <a:solidFill>
                            <a:schemeClr val="tx1"/>
                          </a:solidFill>
                          <a:effectLst/>
                        </a:rPr>
                        <a:t> Enrique Ortiz Dávila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400">
                          <a:solidFill>
                            <a:schemeClr val="tx1"/>
                          </a:solidFill>
                          <a:effectLst/>
                        </a:rPr>
                        <a:t>PostgreSQL</a:t>
                      </a:r>
                      <a:br>
                        <a:rPr lang="es-ES" sz="140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es-ES" sz="1400" err="1">
                          <a:solidFill>
                            <a:schemeClr val="tx1"/>
                          </a:solidFill>
                          <a:effectLst/>
                        </a:rPr>
                        <a:t>PostGIS</a:t>
                      </a:r>
                      <a:br>
                        <a:rPr lang="es-ES" sz="140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es-ES" sz="1400">
                          <a:solidFill>
                            <a:schemeClr val="tx1"/>
                          </a:solidFill>
                          <a:effectLst/>
                        </a:rPr>
                        <a:t>QGIS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52943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b="1" i="0" u="none" strike="noStrike" noProof="0">
                          <a:solidFill>
                            <a:schemeClr val="tx1"/>
                          </a:solidFill>
                          <a:effectLst/>
                          <a:latin typeface="Aptos"/>
                        </a:rPr>
                        <a:t>2026-III</a:t>
                      </a:r>
                      <a:endParaRPr lang="es-ES" sz="1400" b="1" i="0" u="none" strike="noStrike" noProof="0">
                        <a:solidFill>
                          <a:srgbClr val="FFFFFF"/>
                        </a:solidFill>
                        <a:effectLst/>
                        <a:latin typeface="Apto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400">
                          <a:solidFill>
                            <a:schemeClr val="tx1"/>
                          </a:solidFill>
                          <a:effectLst/>
                        </a:rPr>
                        <a:t>Hans Igor López Chávez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400">
                          <a:solidFill>
                            <a:schemeClr val="tx1"/>
                          </a:solidFill>
                          <a:effectLst/>
                        </a:rPr>
                        <a:t>MATLAB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88239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b="1" i="0" u="none" strike="noStrike" noProof="0">
                          <a:solidFill>
                            <a:schemeClr val="tx1"/>
                          </a:solidFill>
                          <a:effectLst/>
                          <a:latin typeface="Aptos"/>
                        </a:rPr>
                        <a:t>2026-III</a:t>
                      </a:r>
                      <a:endParaRPr lang="es-ES" sz="1400" b="1" i="0" u="none" strike="noStrike" noProof="0">
                        <a:solidFill>
                          <a:srgbClr val="FFFFFF"/>
                        </a:solidFill>
                        <a:effectLst/>
                        <a:latin typeface="Apto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400">
                          <a:solidFill>
                            <a:schemeClr val="tx1"/>
                          </a:solidFill>
                          <a:effectLst/>
                        </a:rPr>
                        <a:t>Cesar Andrey Perdomo Charry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400">
                          <a:solidFill>
                            <a:schemeClr val="tx1"/>
                          </a:solidFill>
                          <a:effectLst/>
                        </a:rPr>
                        <a:t>MATLAB</a:t>
                      </a:r>
                      <a:br>
                        <a:rPr lang="es-ES" sz="140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es-ES" sz="1400">
                          <a:solidFill>
                            <a:schemeClr val="tx1"/>
                          </a:solidFill>
                          <a:effectLst/>
                        </a:rPr>
                        <a:t>Anaconda 2025.12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91254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b="1" i="0" u="none" strike="noStrike" noProof="0">
                          <a:solidFill>
                            <a:schemeClr val="tx1"/>
                          </a:solidFill>
                          <a:effectLst/>
                          <a:latin typeface="Aptos"/>
                        </a:rPr>
                        <a:t>2026-III</a:t>
                      </a:r>
                      <a:endParaRPr lang="es-ES" sz="1400" b="1" i="0" u="none" strike="noStrike" noProof="0">
                        <a:solidFill>
                          <a:srgbClr val="FFFFFF"/>
                        </a:solidFill>
                        <a:effectLst/>
                        <a:latin typeface="Aptos"/>
                      </a:endParaRPr>
                    </a:p>
                  </a:txBody>
                  <a:tcPr marL="68580" marR="68580" marT="0" marB="0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b="0" i="0" u="none" strike="noStrike" noProof="0">
                          <a:solidFill>
                            <a:schemeClr val="tx1"/>
                          </a:solidFill>
                          <a:effectLst/>
                          <a:latin typeface="Aptos"/>
                        </a:rPr>
                        <a:t>John Alexander Orduña Diaz</a:t>
                      </a:r>
                      <a:endParaRPr lang="es-ES" sz="1400" b="1" i="0" u="none" strike="noStrike" noProof="0">
                        <a:solidFill>
                          <a:srgbClr val="FFFFFF"/>
                        </a:solidFill>
                        <a:effectLst/>
                        <a:latin typeface="Aptos"/>
                      </a:endParaRPr>
                    </a:p>
                  </a:txBody>
                  <a:tcPr marL="68580" marR="68580" marT="0" marB="0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b="0" i="0" u="none" strike="noStrike" noProof="0">
                          <a:solidFill>
                            <a:schemeClr val="tx1"/>
                          </a:solidFill>
                          <a:effectLst/>
                          <a:latin typeface="Aptos"/>
                        </a:rPr>
                        <a:t>Trimble Business Center</a:t>
                      </a:r>
                      <a:br>
                        <a:rPr lang="es-ES" sz="1400" b="0" i="0" u="none" strike="noStrike" noProof="0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</a:br>
                      <a:r>
                        <a:rPr lang="es-ES" sz="1400" b="0" i="0" u="none" strike="noStrike" noProof="0">
                          <a:solidFill>
                            <a:schemeClr val="tx1"/>
                          </a:solidFill>
                          <a:effectLst/>
                          <a:latin typeface="Aptos"/>
                        </a:rPr>
                        <a:t>Leica Infinity</a:t>
                      </a:r>
                      <a:br>
                        <a:rPr lang="es-ES" sz="1400" b="0" i="0" u="none" strike="noStrike" noProof="0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</a:br>
                      <a:r>
                        <a:rPr lang="es-ES" sz="1400" b="0" i="0" u="none" strike="noStrike" noProof="0">
                          <a:solidFill>
                            <a:schemeClr val="tx1"/>
                          </a:solidFill>
                          <a:effectLst/>
                          <a:latin typeface="Aptos"/>
                        </a:rPr>
                        <a:t>Bernese</a:t>
                      </a:r>
                      <a:endParaRPr lang="es-ES" sz="1400" b="1" i="0" u="none" strike="noStrike" noProof="0">
                        <a:solidFill>
                          <a:srgbClr val="FFFFFF"/>
                        </a:solidFill>
                        <a:effectLst/>
                        <a:latin typeface="Aptos"/>
                      </a:endParaRPr>
                    </a:p>
                  </a:txBody>
                  <a:tcPr marL="68580" marR="68580" marT="0" marB="0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002303"/>
                  </a:ext>
                </a:extLst>
              </a:tr>
              <a:tr h="1983259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b="1" i="0" u="none" strike="noStrike" noProof="0">
                          <a:solidFill>
                            <a:schemeClr val="tx1"/>
                          </a:solidFill>
                          <a:effectLst/>
                          <a:latin typeface="Aptos"/>
                        </a:rPr>
                        <a:t>2026-III</a:t>
                      </a:r>
                      <a:endParaRPr lang="es-ES" sz="1400" b="1" i="0" u="none" strike="noStrike" noProof="0">
                        <a:solidFill>
                          <a:srgbClr val="FFFFFF"/>
                        </a:solidFill>
                        <a:effectLst/>
                        <a:latin typeface="Apto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400">
                          <a:solidFill>
                            <a:schemeClr val="tx1"/>
                          </a:solidFill>
                          <a:effectLst/>
                        </a:rPr>
                        <a:t>Nancy Yaneth </a:t>
                      </a:r>
                      <a:r>
                        <a:rPr lang="es-ES" sz="1400" err="1">
                          <a:solidFill>
                            <a:schemeClr val="tx1"/>
                          </a:solidFill>
                          <a:effectLst/>
                        </a:rPr>
                        <a:t>Gelvez</a:t>
                      </a:r>
                      <a:r>
                        <a:rPr lang="es-ES" sz="140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s-ES" sz="1400" err="1">
                          <a:solidFill>
                            <a:schemeClr val="tx1"/>
                          </a:solidFill>
                          <a:effectLst/>
                        </a:rPr>
                        <a:t>Garcia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400">
                          <a:solidFill>
                            <a:schemeClr val="tx1"/>
                          </a:solidFill>
                          <a:effectLst/>
                        </a:rPr>
                        <a:t>Power BI Desktop</a:t>
                      </a:r>
                      <a:br>
                        <a:rPr lang="es-ES" sz="140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es-ES" sz="1400">
                          <a:solidFill>
                            <a:schemeClr val="tx1"/>
                          </a:solidFill>
                          <a:effectLst/>
                        </a:rPr>
                        <a:t>SQL Server </a:t>
                      </a:r>
                      <a:r>
                        <a:rPr lang="es-ES" sz="1400" err="1">
                          <a:solidFill>
                            <a:schemeClr val="tx1"/>
                          </a:solidFill>
                          <a:effectLst/>
                        </a:rPr>
                        <a:t>Developer</a:t>
                      </a:r>
                      <a:br>
                        <a:rPr lang="es-ES" sz="140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es-ES" sz="1400">
                          <a:solidFill>
                            <a:schemeClr val="tx1"/>
                          </a:solidFill>
                          <a:effectLst/>
                        </a:rPr>
                        <a:t>SQL Server Management Studio (SSMS)</a:t>
                      </a:r>
                      <a:br>
                        <a:rPr lang="es-ES" sz="140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es-ES" sz="1400">
                          <a:solidFill>
                            <a:schemeClr val="tx1"/>
                          </a:solidFill>
                          <a:effectLst/>
                        </a:rPr>
                        <a:t>Visual Studio </a:t>
                      </a:r>
                      <a:r>
                        <a:rPr lang="es-ES" sz="1400" err="1">
                          <a:solidFill>
                            <a:schemeClr val="tx1"/>
                          </a:solidFill>
                          <a:effectLst/>
                        </a:rPr>
                        <a:t>Community</a:t>
                      </a:r>
                      <a:r>
                        <a:rPr lang="es-ES" sz="1400">
                          <a:solidFill>
                            <a:schemeClr val="tx1"/>
                          </a:solidFill>
                          <a:effectLst/>
                        </a:rPr>
                        <a:t> + SQL Server </a:t>
                      </a:r>
                      <a:r>
                        <a:rPr lang="es-ES" sz="1400" err="1">
                          <a:solidFill>
                            <a:schemeClr val="tx1"/>
                          </a:solidFill>
                          <a:effectLst/>
                        </a:rPr>
                        <a:t>Integration</a:t>
                      </a:r>
                      <a:r>
                        <a:rPr lang="es-ES" sz="140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s-ES" sz="1400" err="1">
                          <a:solidFill>
                            <a:schemeClr val="tx1"/>
                          </a:solidFill>
                          <a:effectLst/>
                        </a:rPr>
                        <a:t>Services</a:t>
                      </a:r>
                      <a:r>
                        <a:rPr lang="es-ES" sz="1400">
                          <a:solidFill>
                            <a:schemeClr val="tx1"/>
                          </a:solidFill>
                          <a:effectLst/>
                        </a:rPr>
                        <a:t> (SSIS)</a:t>
                      </a:r>
                      <a:br>
                        <a:rPr lang="es-ES" sz="140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es-ES" sz="1400">
                          <a:solidFill>
                            <a:schemeClr val="tx1"/>
                          </a:solidFill>
                          <a:effectLst/>
                        </a:rPr>
                        <a:t>Python (Anaconda)</a:t>
                      </a:r>
                      <a:br>
                        <a:rPr lang="es-ES" sz="140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es-ES" sz="1400">
                          <a:solidFill>
                            <a:schemeClr val="tx1"/>
                          </a:solidFill>
                          <a:effectLst/>
                        </a:rPr>
                        <a:t>Git</a:t>
                      </a:r>
                      <a:br>
                        <a:rPr lang="es-ES" sz="140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es-ES" sz="1400" err="1">
                          <a:solidFill>
                            <a:schemeClr val="tx1"/>
                          </a:solidFill>
                          <a:effectLst/>
                        </a:rPr>
                        <a:t>DBeaver</a:t>
                      </a:r>
                      <a:br>
                        <a:rPr lang="es-ES" sz="140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es-ES" sz="1400">
                          <a:solidFill>
                            <a:schemeClr val="tx1"/>
                          </a:solidFill>
                          <a:effectLst/>
                        </a:rPr>
                        <a:t>Pentaho Data </a:t>
                      </a:r>
                      <a:r>
                        <a:rPr lang="es-ES" sz="1400" err="1">
                          <a:solidFill>
                            <a:schemeClr val="tx1"/>
                          </a:solidFill>
                          <a:effectLst/>
                        </a:rPr>
                        <a:t>Integration</a:t>
                      </a:r>
                      <a:br>
                        <a:rPr lang="es-ES" sz="140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es-ES" sz="1400">
                          <a:solidFill>
                            <a:schemeClr val="tx1"/>
                          </a:solidFill>
                          <a:effectLst/>
                        </a:rPr>
                        <a:t>draw.io Desktop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46687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2755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3A15D6-96FB-4AC1-B5AF-A9252D1394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Texto, Carta&#10;&#10;El contenido generado por IA puede ser incorrecto.">
            <a:extLst>
              <a:ext uri="{FF2B5EF4-FFF2-40B4-BE49-F238E27FC236}">
                <a16:creationId xmlns:a16="http://schemas.microsoft.com/office/drawing/2014/main" id="{E55DD79A-A730-2385-E378-3148BA12C4F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3000"/>
          </a:blip>
          <a:stretch>
            <a:fillRect/>
          </a:stretch>
        </p:blipFill>
        <p:spPr>
          <a:xfrm>
            <a:off x="8464671" y="5359161"/>
            <a:ext cx="2940528" cy="1283719"/>
          </a:xfrm>
          <a:prstGeom prst="rect">
            <a:avLst/>
          </a:prstGeom>
        </p:spPr>
      </p:pic>
      <p:pic>
        <p:nvPicPr>
          <p:cNvPr id="8" name="Imagen 7" descr="Francisco Jose De Caldas Ingeniería">
            <a:extLst>
              <a:ext uri="{FF2B5EF4-FFF2-40B4-BE49-F238E27FC236}">
                <a16:creationId xmlns:a16="http://schemas.microsoft.com/office/drawing/2014/main" id="{852B4930-0CFE-50DC-2CDA-5242B95B72DF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>
            <a:off x="9887130" y="484337"/>
            <a:ext cx="1518967" cy="1600558"/>
          </a:xfrm>
          <a:prstGeom prst="rect">
            <a:avLst/>
          </a:prstGeom>
        </p:spPr>
      </p:pic>
      <p:pic>
        <p:nvPicPr>
          <p:cNvPr id="9" name="Imagen 8" descr="Imagen que contiene botella, firmar, naranja, parada&#10;&#10;El contenido generado por inteligencia artificial puede ser incorrecto.">
            <a:extLst>
              <a:ext uri="{FF2B5EF4-FFF2-40B4-BE49-F238E27FC236}">
                <a16:creationId xmlns:a16="http://schemas.microsoft.com/office/drawing/2014/main" id="{0CA61EA5-3DCA-566E-7EDD-A3E441BB5659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2000"/>
          </a:blip>
          <a:srcRect r="9662" b="1667"/>
          <a:stretch>
            <a:fillRect/>
          </a:stretch>
        </p:blipFill>
        <p:spPr>
          <a:xfrm>
            <a:off x="785362" y="5486761"/>
            <a:ext cx="3627803" cy="1159264"/>
          </a:xfrm>
          <a:prstGeom prst="rect">
            <a:avLst/>
          </a:prstGeom>
        </p:spPr>
      </p:pic>
      <p:sp>
        <p:nvSpPr>
          <p:cNvPr id="22" name="Título 1">
            <a:extLst>
              <a:ext uri="{FF2B5EF4-FFF2-40B4-BE49-F238E27FC236}">
                <a16:creationId xmlns:a16="http://schemas.microsoft.com/office/drawing/2014/main" id="{854BC739-C541-3F21-27A7-071EDFE90182}"/>
              </a:ext>
            </a:extLst>
          </p:cNvPr>
          <p:cNvSpPr>
            <a:spLocks noGrp="1"/>
          </p:cNvSpPr>
          <p:nvPr/>
        </p:nvSpPr>
        <p:spPr>
          <a:xfrm>
            <a:off x="783293" y="471388"/>
            <a:ext cx="7128670" cy="81572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51433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25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4000">
                <a:latin typeface="Segoe UI"/>
                <a:cs typeface="Segoe UI"/>
              </a:rPr>
              <a:t> Sala de informática 306</a:t>
            </a:r>
          </a:p>
        </p:txBody>
      </p:sp>
      <p:sp>
        <p:nvSpPr>
          <p:cNvPr id="23" name="Título 1">
            <a:extLst>
              <a:ext uri="{FF2B5EF4-FFF2-40B4-BE49-F238E27FC236}">
                <a16:creationId xmlns:a16="http://schemas.microsoft.com/office/drawing/2014/main" id="{04C21933-AC11-65D0-F43F-2C9CE5A87C7C}"/>
              </a:ext>
            </a:extLst>
          </p:cNvPr>
          <p:cNvSpPr>
            <a:spLocks noGrp="1"/>
          </p:cNvSpPr>
          <p:nvPr/>
        </p:nvSpPr>
        <p:spPr>
          <a:xfrm>
            <a:off x="917931" y="1425898"/>
            <a:ext cx="8981396" cy="98218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51433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25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es-CO" sz="2400" b="0">
                <a:latin typeface="Abadi ExtraLight"/>
                <a:ea typeface="Calibri"/>
                <a:cs typeface="Calibri"/>
              </a:rPr>
              <a:t>Docente: </a:t>
            </a:r>
            <a:r>
              <a:rPr lang="es-CO" sz="2400" b="0">
                <a:ea typeface="+mj-lt"/>
                <a:cs typeface="+mj-lt"/>
              </a:rPr>
              <a:t>NANCY YANETH GELVEZ GARCIA</a:t>
            </a:r>
          </a:p>
          <a:p>
            <a:pPr algn="just"/>
            <a:r>
              <a:rPr lang="es-CO" sz="2400" b="0">
                <a:latin typeface="Abadi ExtraLight"/>
                <a:ea typeface="Calibri"/>
                <a:cs typeface="Calibri"/>
              </a:rPr>
              <a:t>Asignatura: </a:t>
            </a:r>
            <a:r>
              <a:rPr lang="es-CO" sz="2400" b="0">
                <a:ea typeface="+mj-lt"/>
                <a:cs typeface="+mj-lt"/>
              </a:rPr>
              <a:t>INTELIGENCIA DE NEGOCIOS</a:t>
            </a:r>
          </a:p>
          <a:p>
            <a:pPr algn="just"/>
            <a:r>
              <a:rPr lang="es-CO" sz="2400" b="0">
                <a:latin typeface="Abadi ExtraLight"/>
                <a:ea typeface="Calibri"/>
                <a:cs typeface="Calibri"/>
              </a:rPr>
              <a:t>Software:</a:t>
            </a:r>
            <a:endParaRPr lang="es-CO" sz="2000"/>
          </a:p>
        </p:txBody>
      </p:sp>
      <p:graphicFrame>
        <p:nvGraphicFramePr>
          <p:cNvPr id="11" name="Tabla 10">
            <a:extLst>
              <a:ext uri="{FF2B5EF4-FFF2-40B4-BE49-F238E27FC236}">
                <a16:creationId xmlns:a16="http://schemas.microsoft.com/office/drawing/2014/main" id="{4FC69563-FFFF-58B5-F4FB-1784A0C170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5019125"/>
              </p:ext>
            </p:extLst>
          </p:nvPr>
        </p:nvGraphicFramePr>
        <p:xfrm>
          <a:off x="1028235" y="2618339"/>
          <a:ext cx="9627866" cy="2133600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4813933">
                  <a:extLst>
                    <a:ext uri="{9D8B030D-6E8A-4147-A177-3AD203B41FA5}">
                      <a16:colId xmlns:a16="http://schemas.microsoft.com/office/drawing/2014/main" val="2941143682"/>
                    </a:ext>
                  </a:extLst>
                </a:gridCol>
                <a:gridCol w="4813933">
                  <a:extLst>
                    <a:ext uri="{9D8B030D-6E8A-4147-A177-3AD203B41FA5}">
                      <a16:colId xmlns:a16="http://schemas.microsoft.com/office/drawing/2014/main" val="1473180393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Microsoft Power BI Desktop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s-ES" sz="2000" b="0" kern="120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Jupyter</a:t>
                      </a: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 Notebook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66467928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Excel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MySQL + MySQL </a:t>
                      </a:r>
                      <a:r>
                        <a:rPr lang="es-ES" sz="2000" b="0" kern="120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Workbench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85677711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Microsoft SQL Server / SSMS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PostgreSQL + </a:t>
                      </a:r>
                      <a:r>
                        <a:rPr lang="es-ES" sz="2000" b="0" kern="120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pgAdmin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34402181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Microsoft Access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MongoDB + Compass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53604318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Orange Data </a:t>
                      </a:r>
                      <a:r>
                        <a:rPr lang="es-ES" sz="2000" b="0" kern="120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Mining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s-ES" sz="2000" b="0" kern="120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Weka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86300781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R + </a:t>
                      </a:r>
                      <a:r>
                        <a:rPr lang="es-ES" sz="2000" b="0" kern="120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RStudio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MATLAB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322007674"/>
                  </a:ext>
                </a:extLst>
              </a:tr>
              <a:tr h="27572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Python + Anaconda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s-ES" sz="2000" b="0" kern="120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gretl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2748510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635146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C762EB-1742-27C2-6AEE-465B8D3EC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Texto, Carta&#10;&#10;El contenido generado por IA puede ser incorrecto.">
            <a:extLst>
              <a:ext uri="{FF2B5EF4-FFF2-40B4-BE49-F238E27FC236}">
                <a16:creationId xmlns:a16="http://schemas.microsoft.com/office/drawing/2014/main" id="{66332092-E428-6CCA-8327-250B98AE33D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3000"/>
          </a:blip>
          <a:stretch>
            <a:fillRect/>
          </a:stretch>
        </p:blipFill>
        <p:spPr>
          <a:xfrm>
            <a:off x="8464671" y="5359161"/>
            <a:ext cx="2940528" cy="1283719"/>
          </a:xfrm>
          <a:prstGeom prst="rect">
            <a:avLst/>
          </a:prstGeom>
        </p:spPr>
      </p:pic>
      <p:pic>
        <p:nvPicPr>
          <p:cNvPr id="8" name="Imagen 7" descr="Francisco Jose De Caldas Ingeniería">
            <a:extLst>
              <a:ext uri="{FF2B5EF4-FFF2-40B4-BE49-F238E27FC236}">
                <a16:creationId xmlns:a16="http://schemas.microsoft.com/office/drawing/2014/main" id="{AC583A0A-DA73-7123-54B5-78431C78742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>
            <a:off x="9887130" y="484337"/>
            <a:ext cx="1518967" cy="1600558"/>
          </a:xfrm>
          <a:prstGeom prst="rect">
            <a:avLst/>
          </a:prstGeom>
        </p:spPr>
      </p:pic>
      <p:pic>
        <p:nvPicPr>
          <p:cNvPr id="9" name="Imagen 8" descr="Imagen que contiene botella, firmar, naranja, parada&#10;&#10;El contenido generado por inteligencia artificial puede ser incorrecto.">
            <a:extLst>
              <a:ext uri="{FF2B5EF4-FFF2-40B4-BE49-F238E27FC236}">
                <a16:creationId xmlns:a16="http://schemas.microsoft.com/office/drawing/2014/main" id="{3187855D-B355-6C86-E722-973476DED1CB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2000"/>
          </a:blip>
          <a:srcRect r="9662" b="1667"/>
          <a:stretch>
            <a:fillRect/>
          </a:stretch>
        </p:blipFill>
        <p:spPr>
          <a:xfrm>
            <a:off x="785362" y="5486761"/>
            <a:ext cx="3627803" cy="1159264"/>
          </a:xfrm>
          <a:prstGeom prst="rect">
            <a:avLst/>
          </a:prstGeom>
        </p:spPr>
      </p:pic>
      <p:sp>
        <p:nvSpPr>
          <p:cNvPr id="22" name="Título 1">
            <a:extLst>
              <a:ext uri="{FF2B5EF4-FFF2-40B4-BE49-F238E27FC236}">
                <a16:creationId xmlns:a16="http://schemas.microsoft.com/office/drawing/2014/main" id="{B65A9047-EFC3-2F39-8C49-36702EA56981}"/>
              </a:ext>
            </a:extLst>
          </p:cNvPr>
          <p:cNvSpPr>
            <a:spLocks noGrp="1"/>
          </p:cNvSpPr>
          <p:nvPr/>
        </p:nvSpPr>
        <p:spPr>
          <a:xfrm>
            <a:off x="783293" y="471388"/>
            <a:ext cx="7128670" cy="81572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51433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25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4000">
                <a:latin typeface="Segoe UI"/>
                <a:cs typeface="Segoe UI"/>
              </a:rPr>
              <a:t> Sala de informática 312</a:t>
            </a:r>
          </a:p>
        </p:txBody>
      </p:sp>
      <p:sp>
        <p:nvSpPr>
          <p:cNvPr id="23" name="Título 1">
            <a:extLst>
              <a:ext uri="{FF2B5EF4-FFF2-40B4-BE49-F238E27FC236}">
                <a16:creationId xmlns:a16="http://schemas.microsoft.com/office/drawing/2014/main" id="{AA7E2EE4-5284-4AC6-F7CF-109AF763CF81}"/>
              </a:ext>
            </a:extLst>
          </p:cNvPr>
          <p:cNvSpPr>
            <a:spLocks noGrp="1"/>
          </p:cNvSpPr>
          <p:nvPr/>
        </p:nvSpPr>
        <p:spPr>
          <a:xfrm>
            <a:off x="917931" y="1716661"/>
            <a:ext cx="10294843" cy="98218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51433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25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es-CO" sz="2400" b="0">
                <a:latin typeface="Abadi ExtraLight"/>
                <a:ea typeface="Calibri"/>
                <a:cs typeface="Calibri"/>
              </a:rPr>
              <a:t>Docente: </a:t>
            </a:r>
            <a:r>
              <a:rPr lang="es-CO" sz="2400" b="0">
                <a:ea typeface="+mj-lt"/>
                <a:cs typeface="+mj-lt"/>
              </a:rPr>
              <a:t>SEBASTIAN CAMILO VANEGAS AYALA, DANIEL DAVID LEAL LARA, HANS IGOR LOPEZ CHAVEZ</a:t>
            </a:r>
          </a:p>
          <a:p>
            <a:pPr algn="just"/>
            <a:r>
              <a:rPr lang="es-CO" sz="2400" b="0">
                <a:latin typeface="Abadi ExtraLight"/>
                <a:ea typeface="Calibri"/>
                <a:cs typeface="Calibri"/>
              </a:rPr>
              <a:t>Asignatura: </a:t>
            </a:r>
            <a:r>
              <a:rPr lang="es-CO" sz="2400" b="0">
                <a:ea typeface="+mj-lt"/>
                <a:cs typeface="+mj-lt"/>
              </a:rPr>
              <a:t>TENDENCIAS EN INGENIERIA DE SOFTWARE, </a:t>
            </a:r>
          </a:p>
          <a:p>
            <a:pPr algn="just"/>
            <a:r>
              <a:rPr lang="es-CO" sz="2400" b="0">
                <a:ea typeface="+mj-lt"/>
                <a:cs typeface="+mj-lt"/>
              </a:rPr>
              <a:t>HERRAMIENTAS MATEMATICAS PARA EL MANEJO DE LA INFORMACION</a:t>
            </a:r>
            <a:endParaRPr lang="es-CO" sz="2400"/>
          </a:p>
          <a:p>
            <a:pPr algn="just"/>
            <a:r>
              <a:rPr lang="es-CO" sz="2400" b="0">
                <a:latin typeface="Abadi ExtraLight"/>
                <a:ea typeface="Calibri"/>
                <a:cs typeface="Calibri"/>
              </a:rPr>
              <a:t>Software:</a:t>
            </a:r>
            <a:endParaRPr lang="es-CO" sz="2400">
              <a:latin typeface="Abadi ExtraLight"/>
              <a:ea typeface="Calibri"/>
              <a:cs typeface="Calibri"/>
            </a:endParaRPr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9A31ED13-2F50-079E-950D-5A70071979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1864498"/>
              </p:ext>
            </p:extLst>
          </p:nvPr>
        </p:nvGraphicFramePr>
        <p:xfrm>
          <a:off x="1083567" y="3181103"/>
          <a:ext cx="10208919" cy="2556710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10208919">
                  <a:extLst>
                    <a:ext uri="{9D8B030D-6E8A-4147-A177-3AD203B41FA5}">
                      <a16:colId xmlns:a16="http://schemas.microsoft.com/office/drawing/2014/main" val="1489055365"/>
                    </a:ext>
                  </a:extLst>
                </a:gridCol>
              </a:tblGrid>
              <a:tr h="1190625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s-ES" sz="24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Visual Studio, Visual Studio Code, Git, GitHub Desktop, Docker Desktop, Postman, SonarQube, Apache NetBeans, Eclipse, IntelliJ IDEA, Android Studio, </a:t>
                      </a:r>
                      <a:r>
                        <a:rPr lang="es-ES" sz="2400" b="0" kern="120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PyCharm</a:t>
                      </a:r>
                      <a:r>
                        <a:rPr lang="es-ES" sz="24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, Enterprise </a:t>
                      </a:r>
                      <a:r>
                        <a:rPr lang="es-ES" sz="2400" b="0" kern="120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Architect</a:t>
                      </a:r>
                      <a:r>
                        <a:rPr lang="es-ES" sz="24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.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888244935"/>
                  </a:ext>
                </a:extLst>
              </a:tr>
              <a:tr h="1366085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s-ES" sz="24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MATLAB R2025a, MATLAB R2026a, Python/Anaconda, </a:t>
                      </a:r>
                      <a:r>
                        <a:rPr lang="es-ES" sz="2400" b="0" kern="120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Jupyter</a:t>
                      </a:r>
                      <a:r>
                        <a:rPr lang="es-ES" sz="24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 Notebook, R, </a:t>
                      </a:r>
                      <a:r>
                        <a:rPr lang="es-ES" sz="2400" b="0" kern="120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RStudio</a:t>
                      </a:r>
                      <a:r>
                        <a:rPr lang="es-ES" sz="24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, </a:t>
                      </a:r>
                      <a:r>
                        <a:rPr lang="es-ES" sz="2400" b="0" kern="120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gretl</a:t>
                      </a:r>
                      <a:r>
                        <a:rPr lang="es-ES" sz="24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, Excel, Orange Data </a:t>
                      </a:r>
                      <a:r>
                        <a:rPr lang="es-ES" sz="2400" b="0" kern="120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Mining</a:t>
                      </a:r>
                      <a:r>
                        <a:rPr lang="es-ES" sz="24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, Power BI Desktop, </a:t>
                      </a:r>
                      <a:r>
                        <a:rPr lang="es-ES" sz="2400" b="0" kern="120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GeoDaSpace</a:t>
                      </a:r>
                      <a:r>
                        <a:rPr lang="es-ES" sz="24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, QGIS.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875063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164311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Texto, Carta&#10;&#10;El contenido generado por IA puede ser incorrecto.">
            <a:extLst>
              <a:ext uri="{FF2B5EF4-FFF2-40B4-BE49-F238E27FC236}">
                <a16:creationId xmlns:a16="http://schemas.microsoft.com/office/drawing/2014/main" id="{A1350E4C-1D67-E65A-0448-2AC3A7A881F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3000"/>
          </a:blip>
          <a:stretch>
            <a:fillRect/>
          </a:stretch>
        </p:blipFill>
        <p:spPr>
          <a:xfrm>
            <a:off x="8464671" y="5359161"/>
            <a:ext cx="2940528" cy="1283719"/>
          </a:xfrm>
          <a:prstGeom prst="rect">
            <a:avLst/>
          </a:prstGeom>
        </p:spPr>
      </p:pic>
      <p:pic>
        <p:nvPicPr>
          <p:cNvPr id="8" name="Imagen 7" descr="Francisco Jose De Caldas Ingeniería">
            <a:extLst>
              <a:ext uri="{FF2B5EF4-FFF2-40B4-BE49-F238E27FC236}">
                <a16:creationId xmlns:a16="http://schemas.microsoft.com/office/drawing/2014/main" id="{B2FA68D7-2CAD-31EA-30D0-4C1A29BE481F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>
            <a:off x="9887130" y="484337"/>
            <a:ext cx="1518967" cy="1600558"/>
          </a:xfrm>
          <a:prstGeom prst="rect">
            <a:avLst/>
          </a:prstGeom>
        </p:spPr>
      </p:pic>
      <p:pic>
        <p:nvPicPr>
          <p:cNvPr id="9" name="Imagen 8" descr="Imagen que contiene botella, firmar, naranja, parada&#10;&#10;El contenido generado por inteligencia artificial puede ser incorrecto.">
            <a:extLst>
              <a:ext uri="{FF2B5EF4-FFF2-40B4-BE49-F238E27FC236}">
                <a16:creationId xmlns:a16="http://schemas.microsoft.com/office/drawing/2014/main" id="{74312902-D912-702E-70E9-8C5295C02CB2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2000"/>
          </a:blip>
          <a:srcRect r="9662" b="1667"/>
          <a:stretch>
            <a:fillRect/>
          </a:stretch>
        </p:blipFill>
        <p:spPr>
          <a:xfrm>
            <a:off x="785362" y="5486761"/>
            <a:ext cx="3627803" cy="1159264"/>
          </a:xfrm>
          <a:prstGeom prst="rect">
            <a:avLst/>
          </a:prstGeom>
        </p:spPr>
      </p:pic>
      <p:sp>
        <p:nvSpPr>
          <p:cNvPr id="22" name="Título 1">
            <a:extLst>
              <a:ext uri="{FF2B5EF4-FFF2-40B4-BE49-F238E27FC236}">
                <a16:creationId xmlns:a16="http://schemas.microsoft.com/office/drawing/2014/main" id="{3B1CECCD-E42A-D0E8-7D3F-8839E160F88A}"/>
              </a:ext>
            </a:extLst>
          </p:cNvPr>
          <p:cNvSpPr>
            <a:spLocks noGrp="1"/>
          </p:cNvSpPr>
          <p:nvPr/>
        </p:nvSpPr>
        <p:spPr>
          <a:xfrm>
            <a:off x="783293" y="471388"/>
            <a:ext cx="7128670" cy="81572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51433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25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4000">
                <a:latin typeface="Segoe UI"/>
                <a:cs typeface="Segoe UI"/>
              </a:rPr>
              <a:t> Sala de informática 503</a:t>
            </a:r>
          </a:p>
        </p:txBody>
      </p:sp>
      <p:sp>
        <p:nvSpPr>
          <p:cNvPr id="23" name="Título 1">
            <a:extLst>
              <a:ext uri="{FF2B5EF4-FFF2-40B4-BE49-F238E27FC236}">
                <a16:creationId xmlns:a16="http://schemas.microsoft.com/office/drawing/2014/main" id="{E670A40E-58BC-72FC-8286-40C7620E2060}"/>
              </a:ext>
            </a:extLst>
          </p:cNvPr>
          <p:cNvSpPr>
            <a:spLocks noGrp="1"/>
          </p:cNvSpPr>
          <p:nvPr/>
        </p:nvSpPr>
        <p:spPr>
          <a:xfrm>
            <a:off x="917931" y="1425898"/>
            <a:ext cx="8981396" cy="98218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51433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25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es-CO" sz="2400" b="0">
                <a:latin typeface="Abadi ExtraLight"/>
                <a:ea typeface="Calibri"/>
                <a:cs typeface="Calibri"/>
              </a:rPr>
              <a:t>Docente: </a:t>
            </a:r>
            <a:r>
              <a:rPr lang="es-CO" sz="2400" b="0">
                <a:ea typeface="+mj-lt"/>
                <a:cs typeface="+mj-lt"/>
              </a:rPr>
              <a:t>NELSON ENRIQUE VERA PARRA</a:t>
            </a:r>
          </a:p>
          <a:p>
            <a:pPr algn="just"/>
            <a:r>
              <a:rPr lang="es-CO" sz="2400" b="0">
                <a:latin typeface="Abadi ExtraLight"/>
                <a:ea typeface="Calibri"/>
                <a:cs typeface="Calibri"/>
              </a:rPr>
              <a:t>Asignatura: </a:t>
            </a:r>
            <a:r>
              <a:rPr lang="es-CO" sz="2400" b="0">
                <a:ea typeface="+mj-lt"/>
                <a:cs typeface="+mj-lt"/>
              </a:rPr>
              <a:t>COMPUTACION PARALELA</a:t>
            </a:r>
          </a:p>
          <a:p>
            <a:pPr algn="just"/>
            <a:r>
              <a:rPr lang="es-CO" sz="2400" b="0">
                <a:latin typeface="Abadi ExtraLight"/>
                <a:ea typeface="Calibri"/>
                <a:cs typeface="Calibri"/>
              </a:rPr>
              <a:t>Software:</a:t>
            </a:r>
            <a:endParaRPr lang="es-CO" sz="2000"/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C8E448A2-F0DE-02E4-CBE2-506034AB73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7460024"/>
              </p:ext>
            </p:extLst>
          </p:nvPr>
        </p:nvGraphicFramePr>
        <p:xfrm>
          <a:off x="1029512" y="2625004"/>
          <a:ext cx="10131166" cy="2438400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5121225">
                  <a:extLst>
                    <a:ext uri="{9D8B030D-6E8A-4147-A177-3AD203B41FA5}">
                      <a16:colId xmlns:a16="http://schemas.microsoft.com/office/drawing/2014/main" val="4257745027"/>
                    </a:ext>
                  </a:extLst>
                </a:gridCol>
                <a:gridCol w="5009941">
                  <a:extLst>
                    <a:ext uri="{9D8B030D-6E8A-4147-A177-3AD203B41FA5}">
                      <a16:colId xmlns:a16="http://schemas.microsoft.com/office/drawing/2014/main" val="309616401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MATLAB R2025a / R2026a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s-ES" sz="2000" b="0" kern="120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CMake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50932183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Python + Anaconda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Docker Desktop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9651778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ES" sz="2000" b="0" kern="120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Jupyter</a:t>
                      </a: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 Notebook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s-ES" sz="2000" b="0" kern="120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Agisoft</a:t>
                      </a: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 </a:t>
                      </a:r>
                      <a:r>
                        <a:rPr lang="es-ES" sz="2000" b="0" kern="120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Metashape</a:t>
                      </a: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 Professional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94265360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ES" sz="2000" b="0" kern="120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IPython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ArcGIS Pro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1823769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Spyder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QGIS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76064009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ES" sz="2000" b="0" kern="120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PyCharm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GRASS GIS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302677313"/>
                  </a:ext>
                </a:extLst>
              </a:tr>
              <a:tr h="27572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Visual Studio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SAGA GIS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43359452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Visual Studio Code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R / </a:t>
                      </a:r>
                      <a:r>
                        <a:rPr lang="es-ES" sz="2000" b="0" kern="120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RStudio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1797289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916523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5FE364-0F88-F3D9-ABBA-F2739FC2CB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Texto, Carta&#10;&#10;El contenido generado por IA puede ser incorrecto.">
            <a:extLst>
              <a:ext uri="{FF2B5EF4-FFF2-40B4-BE49-F238E27FC236}">
                <a16:creationId xmlns:a16="http://schemas.microsoft.com/office/drawing/2014/main" id="{C4933090-0734-E49A-F9A2-24EEE3FC697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3000"/>
          </a:blip>
          <a:stretch>
            <a:fillRect/>
          </a:stretch>
        </p:blipFill>
        <p:spPr>
          <a:xfrm>
            <a:off x="8464671" y="5359161"/>
            <a:ext cx="2940528" cy="1283719"/>
          </a:xfrm>
          <a:prstGeom prst="rect">
            <a:avLst/>
          </a:prstGeom>
        </p:spPr>
      </p:pic>
      <p:pic>
        <p:nvPicPr>
          <p:cNvPr id="8" name="Imagen 7" descr="Francisco Jose De Caldas Ingeniería">
            <a:extLst>
              <a:ext uri="{FF2B5EF4-FFF2-40B4-BE49-F238E27FC236}">
                <a16:creationId xmlns:a16="http://schemas.microsoft.com/office/drawing/2014/main" id="{0C8A5499-6D58-D888-06A7-D94A8FBB31D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>
            <a:off x="9887130" y="484337"/>
            <a:ext cx="1518967" cy="1600558"/>
          </a:xfrm>
          <a:prstGeom prst="rect">
            <a:avLst/>
          </a:prstGeom>
        </p:spPr>
      </p:pic>
      <p:pic>
        <p:nvPicPr>
          <p:cNvPr id="9" name="Imagen 8" descr="Imagen que contiene botella, firmar, naranja, parada&#10;&#10;El contenido generado por inteligencia artificial puede ser incorrecto.">
            <a:extLst>
              <a:ext uri="{FF2B5EF4-FFF2-40B4-BE49-F238E27FC236}">
                <a16:creationId xmlns:a16="http://schemas.microsoft.com/office/drawing/2014/main" id="{748033FC-51F6-0CAB-0562-E818FD9E9CBB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2000"/>
          </a:blip>
          <a:srcRect r="9662" b="1667"/>
          <a:stretch>
            <a:fillRect/>
          </a:stretch>
        </p:blipFill>
        <p:spPr>
          <a:xfrm>
            <a:off x="785362" y="5486761"/>
            <a:ext cx="3627803" cy="1159264"/>
          </a:xfrm>
          <a:prstGeom prst="rect">
            <a:avLst/>
          </a:prstGeom>
        </p:spPr>
      </p:pic>
      <p:sp>
        <p:nvSpPr>
          <p:cNvPr id="22" name="Título 1">
            <a:extLst>
              <a:ext uri="{FF2B5EF4-FFF2-40B4-BE49-F238E27FC236}">
                <a16:creationId xmlns:a16="http://schemas.microsoft.com/office/drawing/2014/main" id="{5C7A6791-5EBE-0544-87F0-63F54EFEE8C9}"/>
              </a:ext>
            </a:extLst>
          </p:cNvPr>
          <p:cNvSpPr>
            <a:spLocks noGrp="1"/>
          </p:cNvSpPr>
          <p:nvPr/>
        </p:nvSpPr>
        <p:spPr>
          <a:xfrm>
            <a:off x="783293" y="471388"/>
            <a:ext cx="7128670" cy="81572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51433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25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4000">
                <a:latin typeface="Segoe UI"/>
                <a:cs typeface="Segoe UI"/>
              </a:rPr>
              <a:t> Sala de informática 506</a:t>
            </a:r>
          </a:p>
        </p:txBody>
      </p:sp>
      <p:sp>
        <p:nvSpPr>
          <p:cNvPr id="23" name="Título 1">
            <a:extLst>
              <a:ext uri="{FF2B5EF4-FFF2-40B4-BE49-F238E27FC236}">
                <a16:creationId xmlns:a16="http://schemas.microsoft.com/office/drawing/2014/main" id="{B0ED7C0F-3DF5-2D89-79A9-8E2492A60B48}"/>
              </a:ext>
            </a:extLst>
          </p:cNvPr>
          <p:cNvSpPr>
            <a:spLocks noGrp="1"/>
          </p:cNvSpPr>
          <p:nvPr/>
        </p:nvSpPr>
        <p:spPr>
          <a:xfrm>
            <a:off x="787589" y="1285529"/>
            <a:ext cx="10294843" cy="98218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51433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25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es-CO" sz="2400" b="0">
                <a:latin typeface="Abadi ExtraLight"/>
                <a:ea typeface="Calibri"/>
                <a:cs typeface="Calibri"/>
              </a:rPr>
              <a:t>Docente: </a:t>
            </a:r>
            <a:r>
              <a:rPr lang="es-CO" sz="2400" b="0">
                <a:ea typeface="+mj-lt"/>
                <a:cs typeface="+mj-lt"/>
              </a:rPr>
              <a:t>ALVARO ENRIQUE ORTIZ DAVILA</a:t>
            </a:r>
          </a:p>
          <a:p>
            <a:pPr algn="just"/>
            <a:r>
              <a:rPr lang="es-CO" sz="2400" b="0">
                <a:latin typeface="Abadi ExtraLight"/>
                <a:ea typeface="Calibri"/>
                <a:cs typeface="Calibri"/>
              </a:rPr>
              <a:t>Asignatura: </a:t>
            </a:r>
            <a:r>
              <a:rPr lang="es-CO" sz="2400" b="0">
                <a:ea typeface="+mj-lt"/>
                <a:cs typeface="+mj-lt"/>
              </a:rPr>
              <a:t>INFORMATICA</a:t>
            </a:r>
            <a:endParaRPr lang="es-CO" sz="2000">
              <a:latin typeface="Aptos Display" panose="020F0302020204030204"/>
              <a:ea typeface="Calibri"/>
              <a:cs typeface="Calibri"/>
            </a:endParaRPr>
          </a:p>
          <a:p>
            <a:pPr algn="just"/>
            <a:r>
              <a:rPr lang="es-CO" sz="2400" b="0">
                <a:latin typeface="Abadi ExtraLight"/>
                <a:ea typeface="Calibri"/>
                <a:cs typeface="Calibri"/>
              </a:rPr>
              <a:t>Software:</a:t>
            </a:r>
            <a:endParaRPr lang="es-CO" sz="2000"/>
          </a:p>
        </p:txBody>
      </p: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96EB3B6B-796C-3413-C884-74670720E6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5669302"/>
              </p:ext>
            </p:extLst>
          </p:nvPr>
        </p:nvGraphicFramePr>
        <p:xfrm>
          <a:off x="892341" y="2396289"/>
          <a:ext cx="10417422" cy="2978937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5208711">
                  <a:extLst>
                    <a:ext uri="{9D8B030D-6E8A-4147-A177-3AD203B41FA5}">
                      <a16:colId xmlns:a16="http://schemas.microsoft.com/office/drawing/2014/main" val="2722545016"/>
                    </a:ext>
                  </a:extLst>
                </a:gridCol>
                <a:gridCol w="5208711">
                  <a:extLst>
                    <a:ext uri="{9D8B030D-6E8A-4147-A177-3AD203B41FA5}">
                      <a16:colId xmlns:a16="http://schemas.microsoft.com/office/drawing/2014/main" val="810190930"/>
                    </a:ext>
                  </a:extLst>
                </a:gridCol>
              </a:tblGrid>
              <a:tr h="3309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 Python / Anaconda3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 SQL Server Management Studio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441709736"/>
                  </a:ext>
                </a:extLst>
              </a:tr>
              <a:tr h="3309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 Visual Studio Code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 Cisco </a:t>
                      </a:r>
                      <a:r>
                        <a:rPr lang="es-ES" sz="2000" b="0" kern="120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Packet</a:t>
                      </a: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 Tracer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376406916"/>
                  </a:ext>
                </a:extLst>
              </a:tr>
              <a:tr h="3309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 Visual Studio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 Wireshark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168173019"/>
                  </a:ext>
                </a:extLst>
              </a:tr>
              <a:tr h="3309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 Excel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 Oracle VirtualBox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34406914"/>
                  </a:ext>
                </a:extLst>
              </a:tr>
              <a:tr h="3309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 Access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 Git / GitHub Desktop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542373177"/>
                  </a:ext>
                </a:extLst>
              </a:tr>
              <a:tr h="3309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 Microsoft Power BI Desktop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 </a:t>
                      </a:r>
                      <a:r>
                        <a:rPr lang="es-ES" sz="2000" b="0" kern="120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Jupyter</a:t>
                      </a: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 Notebook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054876516"/>
                  </a:ext>
                </a:extLst>
              </a:tr>
              <a:tr h="3309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 MySQL </a:t>
                      </a:r>
                      <a:r>
                        <a:rPr lang="es-ES" sz="2000" b="0" kern="120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Workbench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 </a:t>
                      </a:r>
                      <a:r>
                        <a:rPr lang="es-ES" sz="2000" b="0" kern="120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DBeaver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444800362"/>
                  </a:ext>
                </a:extLst>
              </a:tr>
              <a:tr h="3309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 SQL Server Management Studio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 Postman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071094073"/>
                  </a:ext>
                </a:extLst>
              </a:tr>
              <a:tr h="3309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 Cisco </a:t>
                      </a:r>
                      <a:r>
                        <a:rPr lang="es-ES" sz="2000" b="0" kern="120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Packet</a:t>
                      </a: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 Tracer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s-ES" sz="2000" b="0" kern="1200">
                        <a:solidFill>
                          <a:schemeClr val="tx1"/>
                        </a:solidFill>
                        <a:latin typeface="Abadi ExtraLight"/>
                        <a:ea typeface="Calibri"/>
                        <a:cs typeface="Calibri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8721810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513847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0C27E9-455A-09F1-BBB3-79CD4FEB40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Texto, Carta&#10;&#10;El contenido generado por IA puede ser incorrecto.">
            <a:extLst>
              <a:ext uri="{FF2B5EF4-FFF2-40B4-BE49-F238E27FC236}">
                <a16:creationId xmlns:a16="http://schemas.microsoft.com/office/drawing/2014/main" id="{59BBE4B1-C691-A69D-1C90-FAFC4B23333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3000"/>
          </a:blip>
          <a:stretch>
            <a:fillRect/>
          </a:stretch>
        </p:blipFill>
        <p:spPr>
          <a:xfrm>
            <a:off x="8464671" y="5359161"/>
            <a:ext cx="2940528" cy="1283719"/>
          </a:xfrm>
          <a:prstGeom prst="rect">
            <a:avLst/>
          </a:prstGeom>
        </p:spPr>
      </p:pic>
      <p:pic>
        <p:nvPicPr>
          <p:cNvPr id="8" name="Imagen 7" descr="Francisco Jose De Caldas Ingeniería">
            <a:extLst>
              <a:ext uri="{FF2B5EF4-FFF2-40B4-BE49-F238E27FC236}">
                <a16:creationId xmlns:a16="http://schemas.microsoft.com/office/drawing/2014/main" id="{A0D35CBE-4DD5-F56A-4D7F-8A9343429B2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>
            <a:off x="9887130" y="484337"/>
            <a:ext cx="1518967" cy="1600558"/>
          </a:xfrm>
          <a:prstGeom prst="rect">
            <a:avLst/>
          </a:prstGeom>
        </p:spPr>
      </p:pic>
      <p:pic>
        <p:nvPicPr>
          <p:cNvPr id="9" name="Imagen 8" descr="Imagen que contiene botella, firmar, naranja, parada&#10;&#10;El contenido generado por inteligencia artificial puede ser incorrecto.">
            <a:extLst>
              <a:ext uri="{FF2B5EF4-FFF2-40B4-BE49-F238E27FC236}">
                <a16:creationId xmlns:a16="http://schemas.microsoft.com/office/drawing/2014/main" id="{E2DCE5E1-9B0C-52B7-8E48-46651109A45F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2000"/>
          </a:blip>
          <a:srcRect r="9662" b="1667"/>
          <a:stretch>
            <a:fillRect/>
          </a:stretch>
        </p:blipFill>
        <p:spPr>
          <a:xfrm>
            <a:off x="785362" y="5486761"/>
            <a:ext cx="3627803" cy="1159264"/>
          </a:xfrm>
          <a:prstGeom prst="rect">
            <a:avLst/>
          </a:prstGeom>
        </p:spPr>
      </p:pic>
      <p:sp>
        <p:nvSpPr>
          <p:cNvPr id="22" name="Título 1">
            <a:extLst>
              <a:ext uri="{FF2B5EF4-FFF2-40B4-BE49-F238E27FC236}">
                <a16:creationId xmlns:a16="http://schemas.microsoft.com/office/drawing/2014/main" id="{CFFD83F2-3AE4-890E-F7F6-17614D3A887D}"/>
              </a:ext>
            </a:extLst>
          </p:cNvPr>
          <p:cNvSpPr>
            <a:spLocks noGrp="1"/>
          </p:cNvSpPr>
          <p:nvPr/>
        </p:nvSpPr>
        <p:spPr>
          <a:xfrm>
            <a:off x="783293" y="471388"/>
            <a:ext cx="7128670" cy="81572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51433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25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4000">
                <a:latin typeface="Segoe UI"/>
                <a:cs typeface="Segoe UI"/>
              </a:rPr>
              <a:t> Sala de informática 701</a:t>
            </a:r>
          </a:p>
        </p:txBody>
      </p:sp>
      <p:sp>
        <p:nvSpPr>
          <p:cNvPr id="23" name="Título 1">
            <a:extLst>
              <a:ext uri="{FF2B5EF4-FFF2-40B4-BE49-F238E27FC236}">
                <a16:creationId xmlns:a16="http://schemas.microsoft.com/office/drawing/2014/main" id="{A11C89E4-F814-5281-6B2C-7B3670EC7996}"/>
              </a:ext>
            </a:extLst>
          </p:cNvPr>
          <p:cNvSpPr>
            <a:spLocks noGrp="1"/>
          </p:cNvSpPr>
          <p:nvPr/>
        </p:nvSpPr>
        <p:spPr>
          <a:xfrm>
            <a:off x="787589" y="1285529"/>
            <a:ext cx="10294843" cy="98218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51433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25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es-CO" sz="2400" b="0">
                <a:latin typeface="Abadi ExtraLight"/>
                <a:ea typeface="Calibri"/>
                <a:cs typeface="Calibri"/>
              </a:rPr>
              <a:t>Docente: </a:t>
            </a:r>
            <a:r>
              <a:rPr lang="es-CO" sz="2400" b="0">
                <a:ea typeface="+mj-lt"/>
                <a:cs typeface="+mj-lt"/>
              </a:rPr>
              <a:t>CESAR ANDREY PERDOMO CHARRY</a:t>
            </a:r>
          </a:p>
          <a:p>
            <a:pPr algn="just"/>
            <a:r>
              <a:rPr lang="es-CO" sz="2400" b="0">
                <a:latin typeface="Abadi ExtraLight"/>
                <a:ea typeface="Calibri"/>
                <a:cs typeface="Calibri"/>
              </a:rPr>
              <a:t>Asignatura: </a:t>
            </a:r>
            <a:r>
              <a:rPr lang="es-CO" sz="2400" b="0">
                <a:ea typeface="+mj-lt"/>
                <a:cs typeface="+mj-lt"/>
              </a:rPr>
              <a:t>INTELIGENCIA COMPUTACIONAL</a:t>
            </a:r>
            <a:endParaRPr lang="es-CO" sz="2000">
              <a:latin typeface="Aptos Display" panose="020F0302020204030204"/>
              <a:ea typeface="Calibri"/>
              <a:cs typeface="Calibri"/>
            </a:endParaRPr>
          </a:p>
          <a:p>
            <a:pPr algn="just"/>
            <a:r>
              <a:rPr lang="es-CO" sz="2400" b="0">
                <a:latin typeface="Abadi ExtraLight"/>
                <a:ea typeface="Calibri"/>
                <a:cs typeface="Calibri"/>
              </a:rPr>
              <a:t>Software:</a:t>
            </a:r>
            <a:endParaRPr lang="es-CO" sz="2000"/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204FD81D-8A23-15E7-C84F-4AC49E5D02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6465138"/>
              </p:ext>
            </p:extLst>
          </p:nvPr>
        </p:nvGraphicFramePr>
        <p:xfrm>
          <a:off x="912395" y="2376237"/>
          <a:ext cx="10164079" cy="3657600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5194679">
                  <a:extLst>
                    <a:ext uri="{9D8B030D-6E8A-4147-A177-3AD203B41FA5}">
                      <a16:colId xmlns:a16="http://schemas.microsoft.com/office/drawing/2014/main" val="1155101726"/>
                    </a:ext>
                  </a:extLst>
                </a:gridCol>
                <a:gridCol w="4969400">
                  <a:extLst>
                    <a:ext uri="{9D8B030D-6E8A-4147-A177-3AD203B41FA5}">
                      <a16:colId xmlns:a16="http://schemas.microsoft.com/office/drawing/2014/main" val="1979444318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Python / Anaconda3 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000" b="0" kern="120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FlexSim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63761592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000" b="0" kern="120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Jupyter</a:t>
                      </a: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 Notebook 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ProModel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9144616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MATLAB R2025a / R2026a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000" b="0" kern="120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Vensim</a:t>
                      </a: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 PLE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424919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R / </a:t>
                      </a:r>
                      <a:r>
                        <a:rPr lang="es-ES" sz="2000" b="0" kern="120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RStudio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000" b="0" kern="120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SimRunner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5344672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IBM SPSS </a:t>
                      </a:r>
                      <a:r>
                        <a:rPr lang="es-ES" sz="2000" b="0" kern="120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Statistics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000" b="0" kern="120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StatFit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93772981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Orange Data </a:t>
                      </a:r>
                      <a:r>
                        <a:rPr lang="es-ES" sz="2000" b="0" kern="120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Mining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Python + </a:t>
                      </a:r>
                      <a:r>
                        <a:rPr lang="es-ES" sz="2000" b="0" kern="120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PyCharm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7649817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000" b="0" kern="120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Weka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Visual Studio / Visual Studio Code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59170372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CPLEX / IBM ILOG CPLEX </a:t>
                      </a:r>
                      <a:r>
                        <a:rPr lang="es-ES" sz="2000" b="0" kern="120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Optimization</a:t>
                      </a: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 Studio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000" b="0" kern="120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IPython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60413878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Xpress / Xpress IVE / Xpress </a:t>
                      </a:r>
                      <a:r>
                        <a:rPr lang="es-ES" sz="2000" b="0" kern="120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Workbench</a:t>
                      </a: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 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Spyder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52964095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LINGO 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SQL Server / MySQL / PostgreSQL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51427445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CP </a:t>
                      </a:r>
                      <a:r>
                        <a:rPr lang="es-ES" sz="2000" b="0" kern="120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Optimizer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MongoDB / MongoDB Compass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15118811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LEKIN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s-ES" sz="2000" b="0" kern="1200">
                        <a:solidFill>
                          <a:schemeClr val="tx1"/>
                        </a:solidFill>
                        <a:latin typeface="Abadi ExtraLight"/>
                        <a:ea typeface="Calibri"/>
                        <a:cs typeface="Calibri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8182791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458115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F35F0B-7D40-E360-C781-674913D1F6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Texto, Carta&#10;&#10;El contenido generado por IA puede ser incorrecto.">
            <a:extLst>
              <a:ext uri="{FF2B5EF4-FFF2-40B4-BE49-F238E27FC236}">
                <a16:creationId xmlns:a16="http://schemas.microsoft.com/office/drawing/2014/main" id="{2492855F-33ED-C19D-77ED-7503B3AAE9C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3000"/>
          </a:blip>
          <a:stretch>
            <a:fillRect/>
          </a:stretch>
        </p:blipFill>
        <p:spPr>
          <a:xfrm>
            <a:off x="8464671" y="5359161"/>
            <a:ext cx="2940528" cy="1283719"/>
          </a:xfrm>
          <a:prstGeom prst="rect">
            <a:avLst/>
          </a:prstGeom>
        </p:spPr>
      </p:pic>
      <p:pic>
        <p:nvPicPr>
          <p:cNvPr id="8" name="Imagen 7" descr="Francisco Jose De Caldas Ingeniería">
            <a:extLst>
              <a:ext uri="{FF2B5EF4-FFF2-40B4-BE49-F238E27FC236}">
                <a16:creationId xmlns:a16="http://schemas.microsoft.com/office/drawing/2014/main" id="{120041A4-E105-AEED-36EF-F253FA944CDF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>
            <a:off x="9887130" y="484337"/>
            <a:ext cx="1518967" cy="1600558"/>
          </a:xfrm>
          <a:prstGeom prst="rect">
            <a:avLst/>
          </a:prstGeom>
        </p:spPr>
      </p:pic>
      <p:pic>
        <p:nvPicPr>
          <p:cNvPr id="9" name="Imagen 8" descr="Imagen que contiene botella, firmar, naranja, parada&#10;&#10;El contenido generado por inteligencia artificial puede ser incorrecto.">
            <a:extLst>
              <a:ext uri="{FF2B5EF4-FFF2-40B4-BE49-F238E27FC236}">
                <a16:creationId xmlns:a16="http://schemas.microsoft.com/office/drawing/2014/main" id="{4EA7CE70-3619-74A0-30EA-0FFF49367F2B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2000"/>
          </a:blip>
          <a:srcRect r="9662" b="1667"/>
          <a:stretch>
            <a:fillRect/>
          </a:stretch>
        </p:blipFill>
        <p:spPr>
          <a:xfrm>
            <a:off x="785362" y="5486761"/>
            <a:ext cx="3627803" cy="1159264"/>
          </a:xfrm>
          <a:prstGeom prst="rect">
            <a:avLst/>
          </a:prstGeom>
        </p:spPr>
      </p:pic>
      <p:sp>
        <p:nvSpPr>
          <p:cNvPr id="22" name="Título 1">
            <a:extLst>
              <a:ext uri="{FF2B5EF4-FFF2-40B4-BE49-F238E27FC236}">
                <a16:creationId xmlns:a16="http://schemas.microsoft.com/office/drawing/2014/main" id="{1784C25F-AA9A-F82A-DA14-B2B38C3147C8}"/>
              </a:ext>
            </a:extLst>
          </p:cNvPr>
          <p:cNvSpPr>
            <a:spLocks noGrp="1"/>
          </p:cNvSpPr>
          <p:nvPr/>
        </p:nvSpPr>
        <p:spPr>
          <a:xfrm>
            <a:off x="700667" y="296954"/>
            <a:ext cx="7128670" cy="81572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51433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25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4000">
                <a:latin typeface="Segoe UI"/>
                <a:cs typeface="Segoe UI"/>
              </a:rPr>
              <a:t> Sala de informática 703</a:t>
            </a:r>
          </a:p>
        </p:txBody>
      </p:sp>
      <p:sp>
        <p:nvSpPr>
          <p:cNvPr id="23" name="Título 1">
            <a:extLst>
              <a:ext uri="{FF2B5EF4-FFF2-40B4-BE49-F238E27FC236}">
                <a16:creationId xmlns:a16="http://schemas.microsoft.com/office/drawing/2014/main" id="{9CB2B934-317D-15B2-35AE-43A38F37CB17}"/>
              </a:ext>
            </a:extLst>
          </p:cNvPr>
          <p:cNvSpPr>
            <a:spLocks noGrp="1"/>
          </p:cNvSpPr>
          <p:nvPr/>
        </p:nvSpPr>
        <p:spPr>
          <a:xfrm>
            <a:off x="879396" y="1000927"/>
            <a:ext cx="10294843" cy="98218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51433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25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es-CO" sz="2400" b="0">
                <a:latin typeface="Abadi ExtraLight"/>
                <a:ea typeface="Calibri"/>
                <a:cs typeface="Calibri"/>
              </a:rPr>
              <a:t>Docente: </a:t>
            </a:r>
            <a:r>
              <a:rPr lang="es-CO" sz="2400" b="0">
                <a:ea typeface="+mj-lt"/>
                <a:cs typeface="+mj-lt"/>
              </a:rPr>
              <a:t>JOHN ALEXANDER ORDUÑA DIAZ</a:t>
            </a:r>
          </a:p>
          <a:p>
            <a:pPr algn="just"/>
            <a:r>
              <a:rPr lang="es-CO" sz="2400" b="0">
                <a:latin typeface="Abadi ExtraLight"/>
                <a:ea typeface="Calibri"/>
                <a:cs typeface="Calibri"/>
              </a:rPr>
              <a:t>Asignatura: </a:t>
            </a:r>
            <a:r>
              <a:rPr lang="es-CO" sz="2400" b="0">
                <a:ea typeface="+mj-lt"/>
                <a:cs typeface="+mj-lt"/>
              </a:rPr>
              <a:t>SISTEMAS DE POSICIONAMIENTO GEODESICO</a:t>
            </a:r>
            <a:endParaRPr lang="es-CO" sz="2000">
              <a:latin typeface="Aptos Display" panose="020F0302020204030204"/>
              <a:ea typeface="Calibri"/>
              <a:cs typeface="Calibri"/>
            </a:endParaRPr>
          </a:p>
          <a:p>
            <a:pPr algn="just"/>
            <a:r>
              <a:rPr lang="es-CO" sz="2400" b="0">
                <a:latin typeface="Abadi ExtraLight"/>
                <a:ea typeface="Calibri"/>
                <a:cs typeface="Calibri"/>
              </a:rPr>
              <a:t>Software:</a:t>
            </a:r>
            <a:endParaRPr lang="es-CO" sz="200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175596E-FABA-511B-A4C4-F935834B1C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680776"/>
              </p:ext>
            </p:extLst>
          </p:nvPr>
        </p:nvGraphicFramePr>
        <p:xfrm>
          <a:off x="876504" y="2299403"/>
          <a:ext cx="9612725" cy="27736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4912890">
                  <a:extLst>
                    <a:ext uri="{9D8B030D-6E8A-4147-A177-3AD203B41FA5}">
                      <a16:colId xmlns:a16="http://schemas.microsoft.com/office/drawing/2014/main" val="2708665023"/>
                    </a:ext>
                  </a:extLst>
                </a:gridCol>
                <a:gridCol w="4699835">
                  <a:extLst>
                    <a:ext uri="{9D8B030D-6E8A-4147-A177-3AD203B41FA5}">
                      <a16:colId xmlns:a16="http://schemas.microsoft.com/office/drawing/2014/main" val="2954760001"/>
                    </a:ext>
                  </a:extLst>
                </a:gridCol>
              </a:tblGrid>
              <a:tr h="272139">
                <a:tc>
                  <a:txBody>
                    <a:bodyPr/>
                    <a:lstStyle/>
                    <a:p>
                      <a:pPr marL="0" marR="0" lvl="0" indent="0" algn="l">
                        <a:buNone/>
                      </a:pPr>
                      <a:r>
                        <a:rPr lang="es-ES" sz="2000" b="0" kern="1200" noProof="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Trimble Business Center</a:t>
                      </a:r>
                      <a:endParaRPr lang="en-US" sz="2000" b="0" kern="1200">
                        <a:solidFill>
                          <a:schemeClr val="tx1"/>
                        </a:solidFill>
                        <a:latin typeface="Abadi ExtraLight"/>
                        <a:ea typeface="Calibri"/>
                        <a:cs typeface="Calibri"/>
                      </a:endParaRPr>
                    </a:p>
                  </a:txBody>
                  <a:tcPr anchor="ctr">
                    <a:lnL w="111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1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1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1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buNone/>
                      </a:pPr>
                      <a:r>
                        <a:rPr lang="es-ES" sz="2000" b="0" kern="1200" noProof="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Leica </a:t>
                      </a:r>
                      <a:r>
                        <a:rPr lang="es-ES" sz="2000" b="0" kern="1200" noProof="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Geosystems</a:t>
                      </a:r>
                      <a:r>
                        <a:rPr lang="es-ES" sz="2000" b="0" kern="1200" noProof="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 </a:t>
                      </a:r>
                      <a:r>
                        <a:rPr lang="es-ES" sz="2000" b="0" kern="1200" noProof="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Clm</a:t>
                      </a:r>
                      <a:endParaRPr lang="en-US" sz="2000" b="0" kern="1200" err="1">
                        <a:solidFill>
                          <a:schemeClr val="tx1"/>
                        </a:solidFill>
                        <a:latin typeface="Abadi ExtraLight"/>
                        <a:ea typeface="Calibri"/>
                        <a:cs typeface="Calibri"/>
                      </a:endParaRPr>
                    </a:p>
                  </a:txBody>
                  <a:tcPr anchor="ctr">
                    <a:lnL w="111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1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1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1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6026950"/>
                  </a:ext>
                </a:extLst>
              </a:tr>
              <a:tr h="272139">
                <a:tc>
                  <a:txBody>
                    <a:bodyPr/>
                    <a:lstStyle/>
                    <a:p>
                      <a:pPr marL="0" marR="0" lvl="0" indent="0" algn="l">
                        <a:buNone/>
                      </a:pPr>
                      <a:r>
                        <a:rPr lang="es-ES" sz="2000" b="0" kern="1200" noProof="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Leica Infinity</a:t>
                      </a:r>
                      <a:endParaRPr lang="en-US" sz="2000" b="0" kern="1200">
                        <a:solidFill>
                          <a:schemeClr val="tx1"/>
                        </a:solidFill>
                        <a:latin typeface="Abadi ExtraLight"/>
                        <a:ea typeface="Calibri"/>
                        <a:cs typeface="Calibri"/>
                      </a:endParaRPr>
                    </a:p>
                  </a:txBody>
                  <a:tcPr anchor="ctr">
                    <a:lnL w="111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1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1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1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buNone/>
                      </a:pPr>
                      <a:r>
                        <a:rPr lang="es-ES" sz="2000" b="0" kern="1200" noProof="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SCS Data Manager</a:t>
                      </a:r>
                      <a:endParaRPr lang="en-US" sz="2000" b="0" kern="1200">
                        <a:solidFill>
                          <a:schemeClr val="tx1"/>
                        </a:solidFill>
                        <a:latin typeface="Abadi ExtraLight"/>
                        <a:ea typeface="Calibri"/>
                        <a:cs typeface="Calibri"/>
                      </a:endParaRPr>
                    </a:p>
                  </a:txBody>
                  <a:tcPr anchor="ctr">
                    <a:lnL w="111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1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1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1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2711823"/>
                  </a:ext>
                </a:extLst>
              </a:tr>
              <a:tr h="272139">
                <a:tc>
                  <a:txBody>
                    <a:bodyPr/>
                    <a:lstStyle/>
                    <a:p>
                      <a:pPr marL="0" marR="0" lvl="0" indent="0" algn="l">
                        <a:buNone/>
                      </a:pPr>
                      <a:r>
                        <a:rPr lang="es-ES" sz="2000" b="0" kern="1200" noProof="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POSPacCommandLineTBCSubscription</a:t>
                      </a:r>
                      <a:endParaRPr lang="en-US" sz="2000" b="0" kern="1200" err="1">
                        <a:solidFill>
                          <a:schemeClr val="tx1"/>
                        </a:solidFill>
                        <a:latin typeface="Abadi ExtraLight"/>
                        <a:ea typeface="Calibri"/>
                        <a:cs typeface="Calibri"/>
                      </a:endParaRPr>
                    </a:p>
                  </a:txBody>
                  <a:tcPr anchor="ctr">
                    <a:lnL w="111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1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1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1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buNone/>
                      </a:pPr>
                      <a:r>
                        <a:rPr lang="es-ES" sz="2000" b="0" kern="1200" noProof="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Trimble SCS Data Manager</a:t>
                      </a:r>
                      <a:endParaRPr lang="en-US" sz="2000" b="0" kern="1200">
                        <a:solidFill>
                          <a:schemeClr val="tx1"/>
                        </a:solidFill>
                        <a:latin typeface="Abadi ExtraLight"/>
                        <a:ea typeface="Calibri"/>
                        <a:cs typeface="Calibri"/>
                      </a:endParaRPr>
                    </a:p>
                  </a:txBody>
                  <a:tcPr anchor="ctr">
                    <a:lnL w="111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1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1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1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6772196"/>
                  </a:ext>
                </a:extLst>
              </a:tr>
              <a:tr h="272139">
                <a:tc>
                  <a:txBody>
                    <a:bodyPr/>
                    <a:lstStyle/>
                    <a:p>
                      <a:pPr marL="0" marR="0" lvl="0" indent="0" algn="l">
                        <a:buNone/>
                      </a:pPr>
                      <a:r>
                        <a:rPr lang="es-ES" sz="2000" b="0" kern="1200" noProof="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Convert</a:t>
                      </a:r>
                      <a:r>
                        <a:rPr lang="es-ES" sz="2000" b="0" kern="1200" noProof="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 </a:t>
                      </a:r>
                      <a:r>
                        <a:rPr lang="es-ES" sz="2000" b="0" kern="1200" noProof="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To</a:t>
                      </a:r>
                      <a:r>
                        <a:rPr lang="es-ES" sz="2000" b="0" kern="1200" noProof="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 RINEX</a:t>
                      </a:r>
                      <a:endParaRPr lang="en-US" sz="2000" b="0" kern="1200">
                        <a:solidFill>
                          <a:schemeClr val="tx1"/>
                        </a:solidFill>
                        <a:latin typeface="Abadi ExtraLight"/>
                        <a:ea typeface="Calibri"/>
                        <a:cs typeface="Calibri"/>
                      </a:endParaRPr>
                    </a:p>
                  </a:txBody>
                  <a:tcPr anchor="ctr">
                    <a:lnL w="111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1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1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1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buNone/>
                      </a:pPr>
                      <a:r>
                        <a:rPr lang="es-ES" sz="2000" b="0" kern="1200" noProof="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ArcGIS Pro</a:t>
                      </a:r>
                      <a:endParaRPr lang="en-US" sz="2000" b="0" kern="1200">
                        <a:solidFill>
                          <a:schemeClr val="tx1"/>
                        </a:solidFill>
                        <a:latin typeface="Abadi ExtraLight"/>
                        <a:ea typeface="Calibri"/>
                        <a:cs typeface="Calibri"/>
                      </a:endParaRPr>
                    </a:p>
                  </a:txBody>
                  <a:tcPr anchor="ctr">
                    <a:lnL w="111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1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1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1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1018135"/>
                  </a:ext>
                </a:extLst>
              </a:tr>
              <a:tr h="272139">
                <a:tc>
                  <a:txBody>
                    <a:bodyPr/>
                    <a:lstStyle/>
                    <a:p>
                      <a:pPr marL="0" marR="0" lvl="0" indent="0" algn="l">
                        <a:buNone/>
                      </a:pPr>
                      <a:r>
                        <a:rPr lang="es-ES" sz="2000" b="0" kern="1200" noProof="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Trimble </a:t>
                      </a:r>
                      <a:r>
                        <a:rPr lang="es-ES" sz="2000" b="0" kern="1200" noProof="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convertToRINEX</a:t>
                      </a:r>
                      <a:endParaRPr lang="en-US" sz="2000" b="0" kern="1200" err="1">
                        <a:solidFill>
                          <a:schemeClr val="tx1"/>
                        </a:solidFill>
                        <a:latin typeface="Abadi ExtraLight"/>
                        <a:ea typeface="Calibri"/>
                        <a:cs typeface="Calibri"/>
                      </a:endParaRPr>
                    </a:p>
                  </a:txBody>
                  <a:tcPr anchor="ctr">
                    <a:lnL w="111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1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1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1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buNone/>
                      </a:pPr>
                      <a:r>
                        <a:rPr lang="es-ES" sz="2000" b="0" kern="1200" noProof="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QGIS</a:t>
                      </a:r>
                      <a:endParaRPr lang="en-US" sz="2000" b="0" kern="1200">
                        <a:solidFill>
                          <a:schemeClr val="tx1"/>
                        </a:solidFill>
                        <a:latin typeface="Abadi ExtraLight"/>
                        <a:ea typeface="Calibri"/>
                        <a:cs typeface="Calibri"/>
                      </a:endParaRPr>
                    </a:p>
                  </a:txBody>
                  <a:tcPr anchor="ctr">
                    <a:lnL w="111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1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1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1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4136341"/>
                  </a:ext>
                </a:extLst>
              </a:tr>
              <a:tr h="272139">
                <a:tc>
                  <a:txBody>
                    <a:bodyPr/>
                    <a:lstStyle/>
                    <a:p>
                      <a:pPr marL="0" marR="0" lvl="0" indent="0" algn="l">
                        <a:buNone/>
                      </a:pPr>
                      <a:r>
                        <a:rPr lang="es-ES" sz="2000" b="0" kern="1200" noProof="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Trimble </a:t>
                      </a:r>
                      <a:r>
                        <a:rPr lang="es-ES" sz="2000" b="0" kern="1200" noProof="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Coordinate</a:t>
                      </a:r>
                      <a:r>
                        <a:rPr lang="es-ES" sz="2000" b="0" kern="1200" noProof="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 </a:t>
                      </a:r>
                      <a:r>
                        <a:rPr lang="es-ES" sz="2000" b="0" kern="1200" noProof="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System</a:t>
                      </a:r>
                      <a:r>
                        <a:rPr lang="es-ES" sz="2000" b="0" kern="1200" noProof="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 Manager</a:t>
                      </a:r>
                      <a:endParaRPr lang="en-US" sz="2000" b="0" kern="1200">
                        <a:solidFill>
                          <a:schemeClr val="tx1"/>
                        </a:solidFill>
                        <a:latin typeface="Abadi ExtraLight"/>
                        <a:ea typeface="Calibri"/>
                        <a:cs typeface="Calibri"/>
                      </a:endParaRPr>
                    </a:p>
                  </a:txBody>
                  <a:tcPr anchor="ctr">
                    <a:lnL w="111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1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1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1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 b="0" i="0" u="none" strike="noStrike" kern="1200" noProof="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Leica </a:t>
                      </a:r>
                      <a:r>
                        <a:rPr lang="es-ES" sz="2000" b="0" i="0" u="none" strike="noStrike" kern="1200" noProof="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Geosystems</a:t>
                      </a:r>
                      <a:r>
                        <a:rPr lang="es-ES" sz="2000" b="0" i="0" u="none" strike="noStrike" kern="1200" noProof="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 CLM </a:t>
                      </a:r>
                      <a:r>
                        <a:rPr lang="es-ES" sz="2000" b="0" i="0" u="none" strike="noStrike" kern="1200" noProof="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Administration</a:t>
                      </a:r>
                      <a:endParaRPr lang="es-ES" sz="2000" b="0" i="0" u="none" strike="noStrike" kern="1200" noProof="0" err="1">
                        <a:solidFill>
                          <a:srgbClr val="000000"/>
                        </a:solidFill>
                        <a:latin typeface="Abadi ExtraLight"/>
                        <a:ea typeface="Calibri"/>
                        <a:cs typeface="Calibri"/>
                      </a:endParaRPr>
                    </a:p>
                  </a:txBody>
                  <a:tcPr anchor="ctr">
                    <a:lnL w="111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1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1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1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0943333"/>
                  </a:ext>
                </a:extLst>
              </a:tr>
              <a:tr h="272139">
                <a:tc>
                  <a:txBody>
                    <a:bodyPr/>
                    <a:lstStyle/>
                    <a:p>
                      <a:pPr marL="0" marR="0" lvl="0" indent="0" algn="l">
                        <a:buNone/>
                      </a:pPr>
                      <a:r>
                        <a:rPr lang="es-ES" sz="2000" b="0" kern="1200" noProof="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Trimble Desktop </a:t>
                      </a:r>
                      <a:r>
                        <a:rPr lang="es-ES" sz="2000" b="0" kern="1200" noProof="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Utility</a:t>
                      </a:r>
                      <a:endParaRPr lang="en-US" sz="2000" b="0" kern="1200" err="1">
                        <a:solidFill>
                          <a:schemeClr val="tx1"/>
                        </a:solidFill>
                        <a:latin typeface="Abadi ExtraLight"/>
                        <a:ea typeface="Calibri"/>
                        <a:cs typeface="Calibri"/>
                      </a:endParaRPr>
                    </a:p>
                  </a:txBody>
                  <a:tcPr anchor="ctr">
                    <a:lnL w="111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1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1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1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 b="0" i="0" u="none" strike="noStrike" kern="1200" noProof="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Trimble </a:t>
                      </a:r>
                      <a:r>
                        <a:rPr lang="es-ES" sz="2000" b="0" i="0" u="none" strike="noStrike" kern="1200" noProof="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Feature</a:t>
                      </a:r>
                      <a:r>
                        <a:rPr lang="es-ES" sz="2000" b="0" i="0" u="none" strike="noStrike" kern="1200" noProof="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 </a:t>
                      </a:r>
                      <a:r>
                        <a:rPr lang="es-ES" sz="2000" b="0" i="0" u="none" strike="noStrike" kern="1200" noProof="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Definition</a:t>
                      </a:r>
                      <a:r>
                        <a:rPr lang="es-ES" sz="2000" b="0" i="0" u="none" strike="noStrike" kern="1200" noProof="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 Manager</a:t>
                      </a:r>
                      <a:endParaRPr lang="es-ES" sz="2000" b="0" i="0" u="none" strike="noStrike" kern="1200" noProof="0">
                        <a:solidFill>
                          <a:srgbClr val="000000"/>
                        </a:solidFill>
                        <a:latin typeface="Abadi ExtraLight"/>
                        <a:ea typeface="Calibri"/>
                        <a:cs typeface="Calibri"/>
                      </a:endParaRPr>
                    </a:p>
                  </a:txBody>
                  <a:tcPr anchor="ctr">
                    <a:lnL w="111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1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1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1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67851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492345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D69EF8-69A6-22B3-C1C6-B042D05C5D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Texto, Carta&#10;&#10;El contenido generado por IA puede ser incorrecto.">
            <a:extLst>
              <a:ext uri="{FF2B5EF4-FFF2-40B4-BE49-F238E27FC236}">
                <a16:creationId xmlns:a16="http://schemas.microsoft.com/office/drawing/2014/main" id="{CB71ED35-FD2F-623C-0FA3-A0FFF95F61D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3000"/>
          </a:blip>
          <a:stretch>
            <a:fillRect/>
          </a:stretch>
        </p:blipFill>
        <p:spPr>
          <a:xfrm>
            <a:off x="8464671" y="5359161"/>
            <a:ext cx="2940528" cy="1283719"/>
          </a:xfrm>
          <a:prstGeom prst="rect">
            <a:avLst/>
          </a:prstGeom>
        </p:spPr>
      </p:pic>
      <p:pic>
        <p:nvPicPr>
          <p:cNvPr id="8" name="Imagen 7" descr="Francisco Jose De Caldas Ingeniería">
            <a:extLst>
              <a:ext uri="{FF2B5EF4-FFF2-40B4-BE49-F238E27FC236}">
                <a16:creationId xmlns:a16="http://schemas.microsoft.com/office/drawing/2014/main" id="{10EA84AE-7EE5-4851-4D5D-68E7E190521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>
            <a:off x="9887130" y="484337"/>
            <a:ext cx="1518967" cy="1600558"/>
          </a:xfrm>
          <a:prstGeom prst="rect">
            <a:avLst/>
          </a:prstGeom>
        </p:spPr>
      </p:pic>
      <p:pic>
        <p:nvPicPr>
          <p:cNvPr id="9" name="Imagen 8" descr="Imagen que contiene botella, firmar, naranja, parada&#10;&#10;El contenido generado por inteligencia artificial puede ser incorrecto.">
            <a:extLst>
              <a:ext uri="{FF2B5EF4-FFF2-40B4-BE49-F238E27FC236}">
                <a16:creationId xmlns:a16="http://schemas.microsoft.com/office/drawing/2014/main" id="{E9925339-3AB5-BF9E-A6CC-05B5925BFD21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2000"/>
          </a:blip>
          <a:srcRect r="9662" b="1667"/>
          <a:stretch>
            <a:fillRect/>
          </a:stretch>
        </p:blipFill>
        <p:spPr>
          <a:xfrm>
            <a:off x="785362" y="5486761"/>
            <a:ext cx="3627803" cy="1159264"/>
          </a:xfrm>
          <a:prstGeom prst="rect">
            <a:avLst/>
          </a:prstGeom>
        </p:spPr>
      </p:pic>
      <p:sp>
        <p:nvSpPr>
          <p:cNvPr id="22" name="Título 1">
            <a:extLst>
              <a:ext uri="{FF2B5EF4-FFF2-40B4-BE49-F238E27FC236}">
                <a16:creationId xmlns:a16="http://schemas.microsoft.com/office/drawing/2014/main" id="{3BBDAB06-4439-36E4-ED40-AF07D5BA7608}"/>
              </a:ext>
            </a:extLst>
          </p:cNvPr>
          <p:cNvSpPr>
            <a:spLocks noGrp="1"/>
          </p:cNvSpPr>
          <p:nvPr/>
        </p:nvSpPr>
        <p:spPr>
          <a:xfrm>
            <a:off x="783293" y="471388"/>
            <a:ext cx="7128670" cy="81572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51433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25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4000">
                <a:latin typeface="Segoe UI"/>
                <a:cs typeface="Segoe UI"/>
              </a:rPr>
              <a:t> Sala de informática 704</a:t>
            </a:r>
          </a:p>
        </p:txBody>
      </p:sp>
      <p:sp>
        <p:nvSpPr>
          <p:cNvPr id="23" name="Título 1">
            <a:extLst>
              <a:ext uri="{FF2B5EF4-FFF2-40B4-BE49-F238E27FC236}">
                <a16:creationId xmlns:a16="http://schemas.microsoft.com/office/drawing/2014/main" id="{E3BA1C42-79C0-BE75-81DA-DD60C62C1AB2}"/>
              </a:ext>
            </a:extLst>
          </p:cNvPr>
          <p:cNvSpPr>
            <a:spLocks noGrp="1"/>
          </p:cNvSpPr>
          <p:nvPr/>
        </p:nvSpPr>
        <p:spPr>
          <a:xfrm>
            <a:off x="787589" y="1285529"/>
            <a:ext cx="10294843" cy="98218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51433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25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es-CO" sz="2400" b="0">
                <a:latin typeface="Abadi ExtraLight"/>
                <a:ea typeface="Calibri"/>
                <a:cs typeface="Calibri"/>
              </a:rPr>
              <a:t>Docente: </a:t>
            </a:r>
            <a:r>
              <a:rPr lang="es-CO" sz="2400" b="0">
                <a:ea typeface="+mj-lt"/>
                <a:cs typeface="+mj-lt"/>
              </a:rPr>
              <a:t>LUIS EDUARDO CASTILLO MENDEZ</a:t>
            </a:r>
          </a:p>
          <a:p>
            <a:pPr algn="just"/>
            <a:r>
              <a:rPr lang="es-CO" sz="2400" b="0">
                <a:latin typeface="Abadi ExtraLight"/>
                <a:ea typeface="Calibri"/>
                <a:cs typeface="Calibri"/>
              </a:rPr>
              <a:t>Asignatura: </a:t>
            </a:r>
            <a:r>
              <a:rPr lang="es-CO" sz="2400" b="0">
                <a:ea typeface="+mj-lt"/>
                <a:cs typeface="+mj-lt"/>
              </a:rPr>
              <a:t>ESTADISTICA ESPACIAL </a:t>
            </a:r>
            <a:endParaRPr lang="es-CO" sz="2400" b="0">
              <a:latin typeface="Aptos Display" panose="020F0302020204030204"/>
              <a:ea typeface="Calibri"/>
              <a:cs typeface="Calibri"/>
            </a:endParaRPr>
          </a:p>
          <a:p>
            <a:pPr algn="just"/>
            <a:r>
              <a:rPr lang="es-CO" sz="2400" b="0">
                <a:latin typeface="Abadi ExtraLight"/>
                <a:ea typeface="Calibri"/>
                <a:cs typeface="Calibri"/>
              </a:rPr>
              <a:t>Software:</a:t>
            </a:r>
            <a:endParaRPr lang="es-CO" sz="2000"/>
          </a:p>
        </p:txBody>
      </p: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32B5760A-34EB-BE0D-E8D0-0AF73DA5FE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5536779"/>
              </p:ext>
            </p:extLst>
          </p:nvPr>
        </p:nvGraphicFramePr>
        <p:xfrm>
          <a:off x="784958" y="2267837"/>
          <a:ext cx="10717146" cy="3447610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5358573">
                  <a:extLst>
                    <a:ext uri="{9D8B030D-6E8A-4147-A177-3AD203B41FA5}">
                      <a16:colId xmlns:a16="http://schemas.microsoft.com/office/drawing/2014/main" val="1017582412"/>
                    </a:ext>
                  </a:extLst>
                </a:gridCol>
                <a:gridCol w="5358573">
                  <a:extLst>
                    <a:ext uri="{9D8B030D-6E8A-4147-A177-3AD203B41FA5}">
                      <a16:colId xmlns:a16="http://schemas.microsoft.com/office/drawing/2014/main" val="2500239561"/>
                    </a:ext>
                  </a:extLst>
                </a:gridCol>
              </a:tblGrid>
              <a:tr h="3447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R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MATLAB R2025a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624095163"/>
                  </a:ext>
                </a:extLst>
              </a:tr>
              <a:tr h="3447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000" b="0" kern="120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RStudio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MATLAB R2026a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886218876"/>
                  </a:ext>
                </a:extLst>
              </a:tr>
              <a:tr h="3447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000" b="0" kern="120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GeoDaSpace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ENVI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22006486"/>
                  </a:ext>
                </a:extLst>
              </a:tr>
              <a:tr h="3447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ArcGIS Pro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ENVI Machine </a:t>
                      </a:r>
                      <a:r>
                        <a:rPr lang="es-ES" sz="2000" b="0" kern="120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Learning</a:t>
                      </a:r>
                      <a:endParaRPr lang="es-ES" sz="2000" b="0" kern="1200">
                        <a:solidFill>
                          <a:schemeClr val="tx1"/>
                        </a:solidFill>
                        <a:latin typeface="Abadi ExtraLight"/>
                        <a:ea typeface="Calibri"/>
                        <a:cs typeface="Calibri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514733732"/>
                  </a:ext>
                </a:extLst>
              </a:tr>
              <a:tr h="3447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QGIS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ESA SNAP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514729868"/>
                  </a:ext>
                </a:extLst>
              </a:tr>
              <a:tr h="3447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GRASS GIS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sz="2000" b="0" kern="120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GeoServer</a:t>
                      </a:r>
                      <a:endParaRPr lang="es-ES" sz="2000" b="0" kern="1200">
                        <a:solidFill>
                          <a:schemeClr val="tx1"/>
                        </a:solidFill>
                        <a:latin typeface="Abadi ExtraLight"/>
                        <a:ea typeface="Calibri"/>
                        <a:cs typeface="Calibri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550251769"/>
                  </a:ext>
                </a:extLst>
              </a:tr>
              <a:tr h="3447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SAGA GIS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Google Earth Pro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172484288"/>
                  </a:ext>
                </a:extLst>
              </a:tr>
              <a:tr h="3447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000" b="0" kern="120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TerrSet</a:t>
                      </a: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 </a:t>
                      </a:r>
                      <a:r>
                        <a:rPr lang="es-ES" sz="2000" b="0" kern="120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liberaGIS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sz="2000" b="0" kern="120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gretl</a:t>
                      </a:r>
                      <a:endParaRPr lang="es-ES" sz="2000" b="0" kern="1200">
                        <a:solidFill>
                          <a:schemeClr val="tx1"/>
                        </a:solidFill>
                        <a:latin typeface="Abadi ExtraLight"/>
                        <a:ea typeface="Calibri"/>
                        <a:cs typeface="Calibri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372413179"/>
                  </a:ext>
                </a:extLst>
              </a:tr>
              <a:tr h="3447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Anaconda3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Orange Data </a:t>
                      </a:r>
                      <a:r>
                        <a:rPr lang="es-ES" sz="2000" b="0" kern="120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Mining</a:t>
                      </a:r>
                      <a:endParaRPr lang="es-ES" sz="2000" b="0" kern="1200">
                        <a:solidFill>
                          <a:schemeClr val="tx1"/>
                        </a:solidFill>
                        <a:latin typeface="Abadi ExtraLight"/>
                        <a:ea typeface="Calibri"/>
                        <a:cs typeface="Calibri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25183124"/>
                  </a:ext>
                </a:extLst>
              </a:tr>
              <a:tr h="3447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Python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 b="0" kern="1200" noProof="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Jupyter</a:t>
                      </a:r>
                      <a:r>
                        <a:rPr lang="es-ES" sz="2000" b="0" kern="1200" noProof="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 Notebook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5649988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936293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5ACE55-E515-07F0-7FE1-A5E1EA400F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Texto, Carta&#10;&#10;El contenido generado por IA puede ser incorrecto.">
            <a:extLst>
              <a:ext uri="{FF2B5EF4-FFF2-40B4-BE49-F238E27FC236}">
                <a16:creationId xmlns:a16="http://schemas.microsoft.com/office/drawing/2014/main" id="{2C82D979-69BD-00C4-7031-926F8FFC455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3000"/>
          </a:blip>
          <a:stretch>
            <a:fillRect/>
          </a:stretch>
        </p:blipFill>
        <p:spPr>
          <a:xfrm>
            <a:off x="8464671" y="5359161"/>
            <a:ext cx="2940528" cy="1283719"/>
          </a:xfrm>
          <a:prstGeom prst="rect">
            <a:avLst/>
          </a:prstGeom>
        </p:spPr>
      </p:pic>
      <p:pic>
        <p:nvPicPr>
          <p:cNvPr id="8" name="Imagen 7" descr="Francisco Jose De Caldas Ingeniería">
            <a:extLst>
              <a:ext uri="{FF2B5EF4-FFF2-40B4-BE49-F238E27FC236}">
                <a16:creationId xmlns:a16="http://schemas.microsoft.com/office/drawing/2014/main" id="{EB85D378-946A-2353-9F9E-A1C8D0219C4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>
            <a:off x="9887130" y="484337"/>
            <a:ext cx="1518967" cy="1600558"/>
          </a:xfrm>
          <a:prstGeom prst="rect">
            <a:avLst/>
          </a:prstGeom>
        </p:spPr>
      </p:pic>
      <p:pic>
        <p:nvPicPr>
          <p:cNvPr id="9" name="Imagen 8" descr="Imagen que contiene botella, firmar, naranja, parada&#10;&#10;El contenido generado por inteligencia artificial puede ser incorrecto.">
            <a:extLst>
              <a:ext uri="{FF2B5EF4-FFF2-40B4-BE49-F238E27FC236}">
                <a16:creationId xmlns:a16="http://schemas.microsoft.com/office/drawing/2014/main" id="{A345DA37-80DA-60A7-2EB4-D84F194F1EC2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2000"/>
          </a:blip>
          <a:srcRect r="9662" b="1667"/>
          <a:stretch>
            <a:fillRect/>
          </a:stretch>
        </p:blipFill>
        <p:spPr>
          <a:xfrm>
            <a:off x="785362" y="5486761"/>
            <a:ext cx="3627803" cy="1159264"/>
          </a:xfrm>
          <a:prstGeom prst="rect">
            <a:avLst/>
          </a:prstGeom>
        </p:spPr>
      </p:pic>
      <p:sp>
        <p:nvSpPr>
          <p:cNvPr id="22" name="Título 1">
            <a:extLst>
              <a:ext uri="{FF2B5EF4-FFF2-40B4-BE49-F238E27FC236}">
                <a16:creationId xmlns:a16="http://schemas.microsoft.com/office/drawing/2014/main" id="{467CED5E-CCF6-DC72-069C-4341D6AAEB75}"/>
              </a:ext>
            </a:extLst>
          </p:cNvPr>
          <p:cNvSpPr>
            <a:spLocks noGrp="1"/>
          </p:cNvSpPr>
          <p:nvPr/>
        </p:nvSpPr>
        <p:spPr>
          <a:xfrm>
            <a:off x="783293" y="471388"/>
            <a:ext cx="7128670" cy="81572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51433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25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4000">
                <a:latin typeface="Segoe UI"/>
                <a:cs typeface="Segoe UI"/>
              </a:rPr>
              <a:t> Estudiantes Impactados </a:t>
            </a:r>
          </a:p>
        </p:txBody>
      </p:sp>
      <p:sp>
        <p:nvSpPr>
          <p:cNvPr id="23" name="Estudiantes activos - subtítulo"/>
          <p:cNvSpPr txBox="1"/>
          <p:nvPr/>
        </p:nvSpPr>
        <p:spPr>
          <a:xfrm>
            <a:off x="783293" y="1300000"/>
            <a:ext cx="8900000" cy="4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latin typeface="Segoe UI"/>
              </a:rPr>
              <a:t>Estudiantes activos 2022 a 2026 — modalidad Investigación: 245 estudiantes distintos</a:t>
            </a:r>
          </a:p>
        </p:txBody>
      </p:sp>
      <p:graphicFrame>
        <p:nvGraphicFramePr>
          <p:cNvPr id="24" name="Estudiantes activos - tabla"/>
          <p:cNvGraphicFramePr>
            <a:graphicFrameLocks noGrp="1"/>
          </p:cNvGraphicFramePr>
          <p:nvPr/>
        </p:nvGraphicFramePr>
        <p:xfrm>
          <a:off x="785362" y="1780000"/>
          <a:ext cx="8900000" cy="2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00000"/>
                <a:gridCol w="1000000"/>
                <a:gridCol w="1000000"/>
                <a:gridCol w="1000000"/>
                <a:gridCol w="1000000"/>
                <a:gridCol w="1000000"/>
              </a:tblGrid>
              <a:tr h="3400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latin typeface="Segoe UI"/>
                        </a:rPr>
                        <a:t>Énfasis</a:t>
                      </a:r>
                    </a:p>
                  </a:txBody>
                  <a:tcPr anchor="ctr" marL="70000" marR="70000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latin typeface="Segoe UI"/>
                        </a:rPr>
                        <a:t>2022</a:t>
                      </a:r>
                    </a:p>
                  </a:txBody>
                  <a:tcPr anchor="ctr" marL="70000" marR="70000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latin typeface="Segoe UI"/>
                        </a:rPr>
                        <a:t>2023</a:t>
                      </a:r>
                    </a:p>
                  </a:txBody>
                  <a:tcPr anchor="ctr" marL="70000" marR="70000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latin typeface="Segoe UI"/>
                        </a:rPr>
                        <a:t>2024</a:t>
                      </a:r>
                    </a:p>
                  </a:txBody>
                  <a:tcPr anchor="ctr" marL="70000" marR="70000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latin typeface="Segoe UI"/>
                        </a:rPr>
                        <a:t>2025</a:t>
                      </a:r>
                    </a:p>
                  </a:txBody>
                  <a:tcPr anchor="ctr" marL="70000" marR="70000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latin typeface="Segoe UI"/>
                        </a:rPr>
                        <a:t>2026</a:t>
                      </a:r>
                    </a:p>
                  </a:txBody>
                  <a:tcPr anchor="ctr" marL="70000" marR="70000">
                    <a:solidFill>
                      <a:srgbClr val="DCE6F1"/>
                    </a:solidFill>
                  </a:tcPr>
                </a:tc>
              </a:tr>
              <a:tr h="3400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latin typeface="Segoe UI"/>
                        </a:rPr>
                        <a:t>Teleinformática</a:t>
                      </a:r>
                    </a:p>
                  </a:txBody>
                  <a:tcPr anchor="ctr" marL="70000" marR="7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Segoe UI"/>
                        </a:rPr>
                        <a:t>54</a:t>
                      </a:r>
                    </a:p>
                  </a:txBody>
                  <a:tcPr anchor="ctr" marL="70000" marR="7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Segoe UI"/>
                        </a:rPr>
                        <a:t>43</a:t>
                      </a:r>
                    </a:p>
                  </a:txBody>
                  <a:tcPr anchor="ctr" marL="70000" marR="7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Segoe UI"/>
                        </a:rPr>
                        <a:t>39</a:t>
                      </a:r>
                    </a:p>
                  </a:txBody>
                  <a:tcPr anchor="ctr" marL="70000" marR="7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Segoe UI"/>
                        </a:rPr>
                        <a:t>26</a:t>
                      </a:r>
                    </a:p>
                  </a:txBody>
                  <a:tcPr anchor="ctr" marL="70000" marR="7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Segoe UI"/>
                        </a:rPr>
                        <a:t>21</a:t>
                      </a:r>
                    </a:p>
                  </a:txBody>
                  <a:tcPr anchor="ctr" marL="70000" marR="70000"/>
                </a:tc>
              </a:tr>
              <a:tr h="3400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latin typeface="Segoe UI"/>
                        </a:rPr>
                        <a:t>Sistemas de Información</a:t>
                      </a:r>
                    </a:p>
                  </a:txBody>
                  <a:tcPr anchor="ctr" marL="70000" marR="7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Segoe UI"/>
                        </a:rPr>
                        <a:t>4</a:t>
                      </a:r>
                    </a:p>
                  </a:txBody>
                  <a:tcPr anchor="ctr" marL="70000" marR="7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Segoe UI"/>
                        </a:rPr>
                        <a:t>1</a:t>
                      </a:r>
                    </a:p>
                  </a:txBody>
                  <a:tcPr anchor="ctr" marL="70000" marR="7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Segoe UI"/>
                        </a:rPr>
                        <a:t>1</a:t>
                      </a:r>
                    </a:p>
                  </a:txBody>
                  <a:tcPr anchor="ctr" marL="70000" marR="7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Segoe UI"/>
                        </a:rPr>
                        <a:t>0</a:t>
                      </a:r>
                    </a:p>
                  </a:txBody>
                  <a:tcPr anchor="ctr" marL="70000" marR="7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Segoe UI"/>
                        </a:rPr>
                        <a:t>0</a:t>
                      </a:r>
                    </a:p>
                  </a:txBody>
                  <a:tcPr anchor="ctr" marL="70000" marR="70000"/>
                </a:tc>
              </a:tr>
              <a:tr h="3400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latin typeface="Segoe UI"/>
                        </a:rPr>
                        <a:t>Geomática</a:t>
                      </a:r>
                    </a:p>
                  </a:txBody>
                  <a:tcPr anchor="ctr" marL="70000" marR="7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Segoe UI"/>
                        </a:rPr>
                        <a:t>58</a:t>
                      </a:r>
                    </a:p>
                  </a:txBody>
                  <a:tcPr anchor="ctr" marL="70000" marR="7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Segoe UI"/>
                        </a:rPr>
                        <a:t>39</a:t>
                      </a:r>
                    </a:p>
                  </a:txBody>
                  <a:tcPr anchor="ctr" marL="70000" marR="7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Segoe UI"/>
                        </a:rPr>
                        <a:t>34</a:t>
                      </a:r>
                    </a:p>
                  </a:txBody>
                  <a:tcPr anchor="ctr" marL="70000" marR="7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Segoe UI"/>
                        </a:rPr>
                        <a:t>26</a:t>
                      </a:r>
                    </a:p>
                  </a:txBody>
                  <a:tcPr anchor="ctr" marL="70000" marR="7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Segoe UI"/>
                        </a:rPr>
                        <a:t>18</a:t>
                      </a:r>
                    </a:p>
                  </a:txBody>
                  <a:tcPr anchor="ctr" marL="70000" marR="70000"/>
                </a:tc>
              </a:tr>
              <a:tr h="3400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latin typeface="Segoe UI"/>
                        </a:rPr>
                        <a:t>Ingeniería de Software</a:t>
                      </a:r>
                    </a:p>
                  </a:txBody>
                  <a:tcPr anchor="ctr" marL="70000" marR="7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Segoe UI"/>
                        </a:rPr>
                        <a:t>92</a:t>
                      </a:r>
                    </a:p>
                  </a:txBody>
                  <a:tcPr anchor="ctr" marL="70000" marR="7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Segoe UI"/>
                        </a:rPr>
                        <a:t>75</a:t>
                      </a:r>
                    </a:p>
                  </a:txBody>
                  <a:tcPr anchor="ctr" marL="70000" marR="7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Segoe UI"/>
                        </a:rPr>
                        <a:t>61</a:t>
                      </a:r>
                    </a:p>
                  </a:txBody>
                  <a:tcPr anchor="ctr" marL="70000" marR="7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Segoe UI"/>
                        </a:rPr>
                        <a:t>58</a:t>
                      </a:r>
                    </a:p>
                  </a:txBody>
                  <a:tcPr anchor="ctr" marL="70000" marR="7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Segoe UI"/>
                        </a:rPr>
                        <a:t>38</a:t>
                      </a:r>
                    </a:p>
                  </a:txBody>
                  <a:tcPr anchor="ctr" marL="70000" marR="70000"/>
                </a:tc>
              </a:tr>
              <a:tr h="3400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latin typeface="Segoe UI"/>
                        </a:rPr>
                        <a:t>Inteligencia Artificial</a:t>
                      </a:r>
                    </a:p>
                  </a:txBody>
                  <a:tcPr anchor="ctr" marL="70000" marR="7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Segoe UI"/>
                        </a:rPr>
                        <a:t>0</a:t>
                      </a:r>
                    </a:p>
                  </a:txBody>
                  <a:tcPr anchor="ctr" marL="70000" marR="7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Segoe UI"/>
                        </a:rPr>
                        <a:t>0</a:t>
                      </a:r>
                    </a:p>
                  </a:txBody>
                  <a:tcPr anchor="ctr" marL="70000" marR="7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Segoe UI"/>
                        </a:rPr>
                        <a:t>5</a:t>
                      </a:r>
                    </a:p>
                  </a:txBody>
                  <a:tcPr anchor="ctr" marL="70000" marR="7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Segoe UI"/>
                        </a:rPr>
                        <a:t>11</a:t>
                      </a:r>
                    </a:p>
                  </a:txBody>
                  <a:tcPr anchor="ctr" marL="70000" marR="7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Segoe UI"/>
                        </a:rPr>
                        <a:t>15</a:t>
                      </a:r>
                    </a:p>
                  </a:txBody>
                  <a:tcPr anchor="ctr" marL="70000" marR="70000"/>
                </a:tc>
              </a:tr>
              <a:tr h="3400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latin typeface="Segoe UI"/>
                        </a:rPr>
                        <a:t>Sin énfasis definido aún</a:t>
                      </a:r>
                    </a:p>
                  </a:txBody>
                  <a:tcPr anchor="ctr" marL="70000" marR="7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Segoe UI"/>
                        </a:rPr>
                        <a:t>1</a:t>
                      </a:r>
                    </a:p>
                  </a:txBody>
                  <a:tcPr anchor="ctr" marL="70000" marR="7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Segoe UI"/>
                        </a:rPr>
                        <a:t>0</a:t>
                      </a:r>
                    </a:p>
                  </a:txBody>
                  <a:tcPr anchor="ctr" marL="70000" marR="7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Segoe UI"/>
                        </a:rPr>
                        <a:t>0</a:t>
                      </a:r>
                    </a:p>
                  </a:txBody>
                  <a:tcPr anchor="ctr" marL="70000" marR="7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Segoe UI"/>
                        </a:rPr>
                        <a:t>0</a:t>
                      </a:r>
                    </a:p>
                  </a:txBody>
                  <a:tcPr anchor="ctr" marL="70000" marR="7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Segoe UI"/>
                        </a:rPr>
                        <a:t>4</a:t>
                      </a:r>
                    </a:p>
                  </a:txBody>
                  <a:tcPr anchor="ctr" marL="70000" marR="70000"/>
                </a:tc>
              </a:tr>
              <a:tr h="3400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latin typeface="Segoe UI"/>
                        </a:rPr>
                        <a:t>Total Investigación</a:t>
                      </a:r>
                    </a:p>
                  </a:txBody>
                  <a:tcPr anchor="ctr" marL="70000" marR="70000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latin typeface="Segoe UI"/>
                        </a:rPr>
                        <a:t>209</a:t>
                      </a:r>
                    </a:p>
                  </a:txBody>
                  <a:tcPr anchor="ctr" marL="70000" marR="70000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latin typeface="Segoe UI"/>
                        </a:rPr>
                        <a:t>158</a:t>
                      </a:r>
                    </a:p>
                  </a:txBody>
                  <a:tcPr anchor="ctr" marL="70000" marR="70000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latin typeface="Segoe UI"/>
                        </a:rPr>
                        <a:t>140</a:t>
                      </a:r>
                    </a:p>
                  </a:txBody>
                  <a:tcPr anchor="ctr" marL="70000" marR="70000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latin typeface="Segoe UI"/>
                        </a:rPr>
                        <a:t>121</a:t>
                      </a:r>
                    </a:p>
                  </a:txBody>
                  <a:tcPr anchor="ctr" marL="70000" marR="70000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latin typeface="Segoe UI"/>
                        </a:rPr>
                        <a:t>96</a:t>
                      </a:r>
                    </a:p>
                  </a:txBody>
                  <a:tcPr anchor="ctr" marL="70000" marR="70000">
                    <a:solidFill>
                      <a:srgbClr val="DCE6F1"/>
                    </a:solidFill>
                  </a:tcPr>
                </a:tc>
              </a:tr>
            </a:tbl>
          </a:graphicData>
        </a:graphic>
      </p:graphicFrame>
      <p:sp>
        <p:nvSpPr>
          <p:cNvPr id="25" name="Estudiantes activos - nota"/>
          <p:cNvSpPr txBox="1"/>
          <p:nvPr/>
        </p:nvSpPr>
        <p:spPr>
          <a:xfrm>
            <a:off x="785362" y="4550000"/>
            <a:ext cx="89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i="1">
                <a:latin typeface="Segoe UI"/>
              </a:rPr>
              <a:t>Estudiantes con matrícula vigente en el año (entre su ingreso y su última matrícula en Cóndor). Fuente: Cóndor y bases de datos MCIC. Un estudiante cuenta una vez por año; el énfasis es el de su plan de ingreso.</a:t>
            </a:r>
          </a:p>
        </p:txBody>
      </p:sp>
    </p:spTree>
    <p:extLst>
      <p:ext uri="{BB962C8B-B14F-4D97-AF65-F5344CB8AC3E}">
        <p14:creationId xmlns:p14="http://schemas.microsoft.com/office/powerpoint/2010/main" val="122094402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Panorámica</PresentationFormat>
  <Slides>13</Slides>
  <Notes>1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4" baseType="lpstr">
      <vt:lpstr>Tema de Office</vt:lpstr>
      <vt:lpstr>LABORATORIOS FACULTAD DE INGENIERÍA 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2</cp:revision>
  <dcterms:created xsi:type="dcterms:W3CDTF">2026-04-12T20:31:03Z</dcterms:created>
  <dcterms:modified xsi:type="dcterms:W3CDTF">2026-10-01T23:18:18Z</dcterms:modified>
</cp:coreProperties>
</file>